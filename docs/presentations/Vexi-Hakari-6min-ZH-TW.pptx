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5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6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11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d1aa96e40941bf" /><Relationship Type="http://schemas.openxmlformats.org/officeDocument/2006/relationships/extended-properties" Target="/docProps/app.xml" Id="Rd0e3749c712f41d2" /><Relationship Type="http://schemas.openxmlformats.org/officeDocument/2006/relationships/officeDocument" Target="/ppt/presentation.xml" Id="R9026e72e6f464e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5236fe7f994a4d"/>
  </p:sldMasterIdLst>
  <p:notesMasterIdLst>
    <p:notesMasterId xmlns:r="http://schemas.openxmlformats.org/officeDocument/2006/relationships" r:id="R752c8c90c5d048a9"/>
  </p:notesMasterIdLst>
  <p:sldIdLst>
    <p:sldId xmlns:r="http://schemas.openxmlformats.org/officeDocument/2006/relationships" id="256" r:id="Reba8f0d8067d4317"/>
    <p:sldId xmlns:r="http://schemas.openxmlformats.org/officeDocument/2006/relationships" id="257" r:id="R649ee1d30a734d3f"/>
    <p:sldId xmlns:r="http://schemas.openxmlformats.org/officeDocument/2006/relationships" id="258" r:id="R9093b52549454d18"/>
    <p:sldId xmlns:r="http://schemas.openxmlformats.org/officeDocument/2006/relationships" id="259" r:id="Rba7b712501d94660"/>
    <p:sldId xmlns:r="http://schemas.openxmlformats.org/officeDocument/2006/relationships" id="260" r:id="Rb8bbc8a71c364bde"/>
    <p:sldId xmlns:r="http://schemas.openxmlformats.org/officeDocument/2006/relationships" id="261" r:id="Rd389eeadd8b84e66"/>
    <p:sldId xmlns:r="http://schemas.openxmlformats.org/officeDocument/2006/relationships" id="262" r:id="R5141e8dc4fdc42f8"/>
    <p:sldId xmlns:r="http://schemas.openxmlformats.org/officeDocument/2006/relationships" id="263" r:id="R3e9c056c9ff3421e"/>
    <p:sldId xmlns:r="http://schemas.openxmlformats.org/officeDocument/2006/relationships" id="264" r:id="R39b99fcda04547bf"/>
    <p:sldId xmlns:r="http://schemas.openxmlformats.org/officeDocument/2006/relationships" id="265" r:id="R614fcfeae4f14f86"/>
    <p:sldId xmlns:r="http://schemas.openxmlformats.org/officeDocument/2006/relationships" id="266" r:id="Rccc64e6e37c64004"/>
    <p:sldId xmlns:r="http://schemas.openxmlformats.org/officeDocument/2006/relationships" id="267" r:id="R6f825f1b15e44ef1"/>
    <p:sldId xmlns:r="http://schemas.openxmlformats.org/officeDocument/2006/relationships" id="268" r:id="R82af52b374534b8d"/>
    <p:sldId xmlns:r="http://schemas.openxmlformats.org/officeDocument/2006/relationships" id="269" r:id="R1961f07ac0e94d5b"/>
    <p:sldId xmlns:r="http://schemas.openxmlformats.org/officeDocument/2006/relationships" id="270" r:id="Red8175d056314b4f"/>
    <p:sldId xmlns:r="http://schemas.openxmlformats.org/officeDocument/2006/relationships" id="271" r:id="R741fc098730c439f"/>
    <p:sldId xmlns:r="http://schemas.openxmlformats.org/officeDocument/2006/relationships" id="272" r:id="R533726ed5f0445c2"/>
    <p:sldId xmlns:r="http://schemas.openxmlformats.org/officeDocument/2006/relationships" id="273" r:id="Rfb7776d6d7a14dc1"/>
    <p:sldId xmlns:r="http://schemas.openxmlformats.org/officeDocument/2006/relationships" id="274" r:id="R841db50fe2534379"/>
    <p:sldId xmlns:r="http://schemas.openxmlformats.org/officeDocument/2006/relationships" id="275" r:id="Ra63ddac47716455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bbb9f8ab0514ebc" /><Relationship Type="http://schemas.openxmlformats.org/officeDocument/2006/relationships/slideMaster" Target="/ppt/slideMasters/slideMaster1.xml" Id="R7d5236fe7f994a4d" /><Relationship Type="http://schemas.openxmlformats.org/officeDocument/2006/relationships/notesMaster" Target="/ppt/notesMasters/notesMaster1.xml" Id="R752c8c90c5d048a9" /><Relationship Type="http://schemas.openxmlformats.org/officeDocument/2006/relationships/presProps" Target="/ppt/presProps.xml" Id="Re83e0c8009734c23" /><Relationship Type="http://schemas.openxmlformats.org/officeDocument/2006/relationships/tableStyles" Target="/ppt/tableStyles.xml" Id="R2d57943dd0244e72" /><Relationship Type="http://schemas.openxmlformats.org/officeDocument/2006/relationships/slide" Target="/ppt/slides/slide1.xml" Id="Reba8f0d8067d4317" /><Relationship Type="http://schemas.openxmlformats.org/officeDocument/2006/relationships/slide" Target="/ppt/slides/slide2.xml" Id="R649ee1d30a734d3f" /><Relationship Type="http://schemas.openxmlformats.org/officeDocument/2006/relationships/slide" Target="/ppt/slides/slide3.xml" Id="R9093b52549454d18" /><Relationship Type="http://schemas.openxmlformats.org/officeDocument/2006/relationships/slide" Target="/ppt/slides/slide4.xml" Id="Rba7b712501d94660" /><Relationship Type="http://schemas.openxmlformats.org/officeDocument/2006/relationships/slide" Target="/ppt/slides/slide5.xml" Id="Rb8bbc8a71c364bde" /><Relationship Type="http://schemas.openxmlformats.org/officeDocument/2006/relationships/slide" Target="/ppt/slides/slide6.xml" Id="Rd389eeadd8b84e66" /><Relationship Type="http://schemas.openxmlformats.org/officeDocument/2006/relationships/slide" Target="/ppt/slides/slide7.xml" Id="R5141e8dc4fdc42f8" /><Relationship Type="http://schemas.openxmlformats.org/officeDocument/2006/relationships/slide" Target="/ppt/slides/slide8.xml" Id="R3e9c056c9ff3421e" /><Relationship Type="http://schemas.openxmlformats.org/officeDocument/2006/relationships/slide" Target="/ppt/slides/slide9.xml" Id="R39b99fcda04547bf" /><Relationship Type="http://schemas.openxmlformats.org/officeDocument/2006/relationships/slide" Target="/ppt/slides/slide10.xml" Id="R614fcfeae4f14f86" /><Relationship Type="http://schemas.openxmlformats.org/officeDocument/2006/relationships/slide" Target="/ppt/slides/slide11.xml" Id="Rccc64e6e37c64004" /><Relationship Type="http://schemas.openxmlformats.org/officeDocument/2006/relationships/slide" Target="/ppt/slides/slide12.xml" Id="R6f825f1b15e44ef1" /><Relationship Type="http://schemas.openxmlformats.org/officeDocument/2006/relationships/slide" Target="/ppt/slides/slide13.xml" Id="R82af52b374534b8d" /><Relationship Type="http://schemas.openxmlformats.org/officeDocument/2006/relationships/slide" Target="/ppt/slides/slide14.xml" Id="R1961f07ac0e94d5b" /><Relationship Type="http://schemas.openxmlformats.org/officeDocument/2006/relationships/slide" Target="/ppt/slides/slide15.xml" Id="Red8175d056314b4f" /><Relationship Type="http://schemas.openxmlformats.org/officeDocument/2006/relationships/slide" Target="/ppt/slides/slide16.xml" Id="R741fc098730c439f" /><Relationship Type="http://schemas.openxmlformats.org/officeDocument/2006/relationships/slide" Target="/ppt/slides/slide17.xml" Id="R533726ed5f0445c2" /><Relationship Type="http://schemas.openxmlformats.org/officeDocument/2006/relationships/slide" Target="/ppt/slides/slide18.xml" Id="Rfb7776d6d7a14dc1" /><Relationship Type="http://schemas.openxmlformats.org/officeDocument/2006/relationships/slide" Target="/ppt/slides/slide19.xml" Id="R841db50fe2534379" /><Relationship Type="http://schemas.openxmlformats.org/officeDocument/2006/relationships/slide" Target="/ppt/slides/slide20.xml" Id="Ra63ddac4771645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b3944172aa44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fcc2dd07674a0c" /><Relationship Type="http://schemas.openxmlformats.org/officeDocument/2006/relationships/notesMaster" Target="/ppt/notesMasters/notesMaster1.xml" Id="Ra70a8ad9409647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eac561fb174c38" /><Relationship Type="http://schemas.openxmlformats.org/officeDocument/2006/relationships/notesMaster" Target="/ppt/notesMasters/notesMaster1.xml" Id="R99ca5ca3398449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528c316a9f4d17" /><Relationship Type="http://schemas.openxmlformats.org/officeDocument/2006/relationships/notesMaster" Target="/ppt/notesMasters/notesMaster1.xml" Id="R17c47ef488024b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5889b1236247f5" /><Relationship Type="http://schemas.openxmlformats.org/officeDocument/2006/relationships/notesMaster" Target="/ppt/notesMasters/notesMaster1.xml" Id="R8ec75f3da37047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c9a1462bdc4f82" /><Relationship Type="http://schemas.openxmlformats.org/officeDocument/2006/relationships/notesMaster" Target="/ppt/notesMasters/notesMaster1.xml" Id="R090a32ef73ba42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c56b0195ff4d10" /><Relationship Type="http://schemas.openxmlformats.org/officeDocument/2006/relationships/notesMaster" Target="/ppt/notesMasters/notesMaster1.xml" Id="Rb24f66afcddc44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6ce90ad00e24549" /><Relationship Type="http://schemas.openxmlformats.org/officeDocument/2006/relationships/notesMaster" Target="/ppt/notesMasters/notesMaster1.xml" Id="R81d546e876d148f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5b855702de489a" /><Relationship Type="http://schemas.openxmlformats.org/officeDocument/2006/relationships/notesMaster" Target="/ppt/notesMasters/notesMaster1.xml" Id="R4c0711f3f3cf45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7bc82eec401430c" /><Relationship Type="http://schemas.openxmlformats.org/officeDocument/2006/relationships/notesMaster" Target="/ppt/notesMasters/notesMaster1.xml" Id="Rc0b31fed251f432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4832f519eae411c" /><Relationship Type="http://schemas.openxmlformats.org/officeDocument/2006/relationships/notesMaster" Target="/ppt/notesMasters/notesMaster1.xml" Id="R100c4b42da124c6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4edfd550fd54097" /><Relationship Type="http://schemas.openxmlformats.org/officeDocument/2006/relationships/notesMaster" Target="/ppt/notesMasters/notesMaster1.xml" Id="R9af83f78dbc5476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ae111b14604e16" /><Relationship Type="http://schemas.openxmlformats.org/officeDocument/2006/relationships/notesMaster" Target="/ppt/notesMasters/notesMaster1.xml" Id="R80575369b76f4ec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95e11f3d5b041c2" /><Relationship Type="http://schemas.openxmlformats.org/officeDocument/2006/relationships/notesMaster" Target="/ppt/notesMasters/notesMaster1.xml" Id="R6ebe5474faaa406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9efe177aea74f8e" /><Relationship Type="http://schemas.openxmlformats.org/officeDocument/2006/relationships/notesMaster" Target="/ppt/notesMasters/notesMaster1.xml" Id="Rd6c531e72f0744f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fa17d8def6243cd" /><Relationship Type="http://schemas.openxmlformats.org/officeDocument/2006/relationships/notesMaster" Target="/ppt/notesMasters/notesMaster1.xml" Id="R19ca009e4b40411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0fb9ed35fdd45dc" /><Relationship Type="http://schemas.openxmlformats.org/officeDocument/2006/relationships/notesMaster" Target="/ppt/notesMasters/notesMaster1.xml" Id="Rb5804e799ccc41f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652c5f7a5bd4b66" /><Relationship Type="http://schemas.openxmlformats.org/officeDocument/2006/relationships/notesMaster" Target="/ppt/notesMasters/notesMaster1.xml" Id="R52a91140df1e4d0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f4170f9afc240d5" /><Relationship Type="http://schemas.openxmlformats.org/officeDocument/2006/relationships/notesMaster" Target="/ppt/notesMasters/notesMaster1.xml" Id="Rfa98aa0952e749b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2ac72f6975f45f3" /><Relationship Type="http://schemas.openxmlformats.org/officeDocument/2006/relationships/notesMaster" Target="/ppt/notesMasters/notesMaster1.xml" Id="R46754e53384049e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8d044cdc8a04201" /><Relationship Type="http://schemas.openxmlformats.org/officeDocument/2006/relationships/notesMaster" Target="/ppt/notesMasters/notesMaster1.xml" Id="Ra9cde770b53140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Vexi Hakari 讓選擇權和現貨共用同一個造市者錢包。Aqua 負責策略帳務與資金移動，Uniswap v4 的價格參考則控制報價。接下來從資金流一路看到拒單，再切到實際 demo。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開始前先開好公開回放。整份規劃為六分鐘。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docs/website.md; website/vexi-logo.svg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0:15–0:40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先用 TSLA 代幣和 USDG 理解選擇權。Covered call 是買方先付五塊權利金，取得用四百買一個 TSLA 的權利。到期三百五十就不履約，四百五十就付四百取得代幣。Put 方向相反，買方有權用四百賣出 TSLA，所以賣方要備妥四百 USDG。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Illustrative contract with a five-USDG premium. This is a teaching example, not the recorded eight-USDG base-premium lifecycle.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User-supplied HAKARI Pitch Deck.html, slides 2–3; aqua/src/book/OptionBook.sol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0:40–1:05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這個整合處理兩個問題。先存抵押品的模式，就算十口只賣出兩口，十個代幣仍然先鎖進合約。另一方面，股票市場休市時，代幣池仍能交易，固定選擇權報價可能跟不上池價。Aqua 處理何時移動抵押品，band 處理新報價何時縮小或停止。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The deposit-first comparison is an illustrative design, not a claim about every options protocol. Price path is schematic and is not market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User-supplied HAKARI Pitch Deck.html, slides 4–6; docs/history.md; docs/band.md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1:05–1:30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資產留在左邊的同一個錢包。Aqua 連接兩種策略：上面是選擇權 writer 與 book，下面是有庫存 guard 的 SwapVM 現貨策略。Hook 記錄 Uniswap 價格，band 再包住公開的固定權利金報價。資金存取、訂單帳務和報價檢查，各有清楚分工。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分開追蹤資金存取的實線，以及粉紅色的價格參考路徑。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docs/website.md; aqua/src/swapvm/ExposureGuard.sol; aqua/src/band/StabilityBandPricer.sol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1:30–1:50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錢包最初有三十個 TSLA 和兩萬 USDG。掛十口 call，承諾十個 TSLA；掛十口履約價四百的 put，承諾四千 USDG。此時 book 還沒有收到代幣，其餘是未承諾庫存。Aqua 的虛擬額度指向同一批資產，不能相加當成更多存款。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先指出承諾與可用區段，再指出 book 為零。Ship 和 post 都沒有移動代幣。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website/evidence/demo.json: lifecycle initial, ship, post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1:50–2:15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Guard 會用實際錢包餘額扣掉 writer 的未成交承諾，再等比例縮小 SwapVM 的兩邊虛擬儲備。有保護的測試中，四百 USDG 的現貨交易後還剩約二十九個 TSLA。另一個沒有 guard 的獨立情境賣掉二十一個，只剩九個，低於十個的承諾，後續 call 成交就會失敗。這個保護只約束有使用 guard 的策略。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比較錢包餘額與十個 TSLA 的承諾。兩個現貨交易的輸入不同，且屬獨立情境，不是交易績效比較。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website/evidence/demo.json: lifecycle spot; unguarded unguarded; aqua/src/swapvm/ExposureGuard.sol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2:15–2:40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買方成交五口 call 和三口 put。Writer 透過 Aqua.pull，從造市者直接拉取五個 TSLA 和一千兩百 USDG 到 book。買方另付六十四點零零六四 USDG 權利金，取得多頭部位。所以 book 共有五個 TSLA 和一千兩百六十四點零零六四 USDG。剩餘未成交承諾則是五個 TSLA 和兩千八百 USDG。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綠色是抵押品，粉紅是權利金。Aqua.pull 是拉取機制，不是中間保管帳戶。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website/evidence/demo.json: lifecycle spot, buy; aqua/test/WebsiteEvidence.t.sol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2:40–3:05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價格帶中心是一小時 tick TWAP。OpenZeppelin 的 oracle 在每秒第一筆 swap 之前記錄，所以同一交易裡推高再拉回，不會被記成那次尖峰。另一組截斷序列每次最多移動兩百五十個 tick，band 會比較兩組平均。但價格如果持續停留，仍然會逐漸成為新中心。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Schematic observation timing. The chart is not an oracle simulation. The time-weighted mean tick converts to a geometric price average. Credit the upstream oracle.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src/HakariOracleHook.sol; test/HakariOracleHook.t.sol; docs/band.md; OpenZeppelin BaseOracleHook / Panoptic oracle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3:05–3:30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這張圖是已記錄的參考池快照。滾動 TWAP 中心約三百七十八點二三，固定往上下各延伸百分之五。偏離百分之二點五時還能報價；到百分之五點一就越過上界，合約拒絕買入。另外也會檢查觀測資料是否可讀、流動性是否足夠，以及原始與截斷價格是否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指出 +5.1% 快照超過上界。這是本機 EVM 裡的合成市場觀測。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website/evidence/demo.json: lifecycle buy, taper, pause, recover; aqua/src/band/StabilityBandPricer.sol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3:30–3:55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這兩條是網站的示意計算曲線，和剛才的分叉記錄分開。中心設四百，基本權利金八塊。左邊的口數上限線性縮小，右邊的額外權利金則呈平方增加。在百分之二點五的位置，每次上限二十五口，報價八點四。到邊緣，上限變成零，就沒有可成交報價。這是每次呼叫的上限，不是累積成交額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對照兩張圖的 2.5% 位置。整數捨入會減少口數、提高報價。到 ±5% 已沒有一整口可報。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website/band.mjs calculateBand; fixed example assumes readable reference, enough liquidity and raw/truncated agreement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3:55–4:15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Band 開啟只是其中一道門。原報價可能已到期；持續百分之六的偏移即使變成新中心，原始錨點仍然拒絕。沒有 guard 的現貨策略也可能把抵押品用掉，此時小額報價甚至還讀得到。真正成交仍要同時通過期限、錨點、剩餘庫存和實際抵押品檢查。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逐列橫向閱讀。讀得到報價不代表能買，book 依序檢查，可能在第一個失敗處停止。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website/evidence/demo.json: lifecycle pause, expired; anchor anchor-refused; unguarded unguarded; website/app.js cases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4:15–4:40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接受的到期價格約三百七十八點二六九，低於四百履約價，所以 put 在價內。買方交付三個 TSLA，收到一千兩百 USDG，call 則在價外。履約期結束後，關單透過 Aqua 退回八個 TSLA，包含五個未用的 call 抵押品，以及三個履約收入。再分開領取六十四點零零六四的權利金，book 代幣餘額歸零。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兩種代幣都來自同一條生命週期。Close 和 claim 是不同操作，剩餘承諾在第 15 步解除。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website/evidence/demo.json: lifecycle settle, exercise, close, premium, release; docs/settlement.md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4:40–5:20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直接看合約回放。第五步，抵押品和權利金進入 book，可以看到兩者的差別。第七步，超出價格帶再買一筆會 revert，買方資金和部位不變。第九步，band 已開啟，但報價到期，必須由造市者更新。第十四步，領完權利金後，book 的代幣餘額變成零。每一步都有前後餘額和 EVM logs 可以展開查核。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先開好回放，依序選 05、07、09、14，每步約十秒；網站無法使用時，以本頁完成講解。 Public demo: https://vexi-v1.github.io/vexi-hakari/ . Local fallback: http://127.0.0.1:8787/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website/evidence/demo.json: lifecycle buy, pause, expired, premium; website/app.js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5:20–6:00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對 Aqua，這是成交才拉抵押品的選擇權 writer，加上共用庫存的 SwapVM guard。對 Uniswap，這是會實際改變口數、拒絕買入的價格消費端。公開測試把兩者串起來。Hook 和 pool 有測試網紀錄，公開 band 整合則以本機分叉展示。 Repo 也記錄固定百分之五政策、獨立報價期限與錨點，以及實驗性結算。後面六頁保留技術細節、歷史動機和開發來源，方便問答。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End the timed presentation here, at 6:00. Slides 15–20 are optional discussion pages. Source history and reproduction commands follow.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README.md; docs/extraction.md; docs/demo.md; FEEDBACK.md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 / 備用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結算是獨立的實驗機制。一個測試拒絕到期當下的窗口，呼叫者稍後重試，下一個五分鐘窗口才被接受。另一個測試六個窗口都拒絕，一小時寬限期過後，可退回抵押品，持有人按口數分配權利金池退款。晚一點的價格或退款，都會改變經濟結果，這不代表公平到期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上下兩列是獨立測試。Revert 不會安排自動重試。退款是同系列的權利金池按口數分配，不保證退回每人原價。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docs/settlement.md; website/evidence/demo.json: delayed and refund scenarios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 / 備用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Hook 是 v4 pool key 的一部分，既有池不能直接補裝，所以需要自己的 hooked pool 與流動性。權限由地址位元決定，因此部署前搜尋 CREATE2 salt。分叉測試把測試網 hook bytecode 放在同一地址，連接真實 PoolManager。Aqua 與 canonical SwapVM router 都未修改，整合的重點是消費端與公開介面。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Explain the three integration seams. The fork creates a new reference pool, not a hook attached to the existing TSLA pool. FEEDBACK.md documents current integration findings; historical feedback is separate.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README.md; FEEDBACK.md; src/HakariOracleHook.sol; aqua/test/StabilityBandFork.t.sol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 / 備用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造市者可以提款或撤銷授權，成交時仍需檢查可用量；guard 也只約束有採用的策略。持續價格偏移會變成新中心，即時 slot0 也能被暫時移動，所以還有報價期限和原始錨點。分次買入可超過單次上限，觀測環容量不足也會停止報價。這些條件均不保證外部公平價格。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Use the table for Q&amp;A. Docking can also block returns until a compatible strategy is shipped and rebound; consult the tests. Observation capacity must cover actual swap-seconds with margin, not a blanket guarantee from one number.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docs/band.md; docs/demo.md; docs/settlement.md; aqua/src/aqua/AquaWriter.sol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 / 備用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Vexi 在活動前已是選擇權交易平台，產品程式仍維持私有。活動期間新增 Aqua 介面、庫存 guard、hook、band 與結算 adapter。公開版用小型 book 和 FixedPremium，讓評審能獨立驗證整合，不包含活動前的私有產品程式。下一步是將公開 band 部署到已有紀錄的測試網 hooked pool。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Times are JST. These are milestones, not all commits. Do not describe the public fixed premium as Vexi’s production pricing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docs/history.md; docs/extraction.md; docs/ai-usage.md; README.md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 / 備用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原始研究回看八月三十日 HIMS 週末案例。封存資料比較週五股票收盤二十八點八四，與之後池價五十四點五；另一次週日晚間測量，推價百分之十再拉回的估算是十二 USDG。這是不同時點，不能混成同步比較。案例說明參考池可能失真，不代表現在的 band 曾經阻止這件事。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Historical appendix only. Stock close is a secondary-source value in the archived research. Do not read the chart as a return, a synchronized spread, or proof of protection. Omit the reference’s unverified aggregate volume and peak.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docs/history.md; archive/hakari-v1/; user-supplied HAKARI Pitch Deck.html, slide 5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 / 備用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整份證據包含連續十五步的完整生命週期，加上四個獨立異常情境，共五個測試。測試輸出 JSON 和呼叫 trace，網站與簡報都能追溯到這些檔案及原始碼指紋。全部在固定區塊的本機分叉、使用合成帳戶執行，沒有主網廣播。公開 repo 裡有重現指令和完整適用範圍。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</a:t>
            </a:r>
          </a:p>
          <a:p xmlns:a="http://schemas.openxmlformats.org/drawingml/2006/main">
            <a:r>
              <a:t>用 repo 連結收尾。這是整合證據，不代表真實市場歷史或可直接正式上線。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Reproduce the website evidence:</a:t>
            </a:r>
          </a:p>
          <a:p xmlns:a="http://schemas.openxmlformats.org/drawingml/2006/main">
            <a:r>
              <a:t>python3 scripts/website-evidence.py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Focused sponsor traces:</a:t>
            </a:r>
          </a:p>
          <a:p xmlns:a="http://schemas.openxmlformats.org/drawingml/2006/main">
            <a:r>
              <a:t>bash scripts/judge-demo.sh 1inch</a:t>
            </a:r>
          </a:p>
          <a:p xmlns:a="http://schemas.openxmlformats.org/drawingml/2006/main">
            <a:r>
              <a:t>bash scripts/judge-demo.sh uniswap</a:t>
            </a:r>
          </a:p>
          <a:p xmlns:a="http://schemas.openxmlformats.org/drawingml/2006/main">
            <a:r>
              <a:t>bash scripts/judge-demo.sh limits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Current integration feedback: FEEDBACK.md. Fixed fork block: 72248228. No wallet key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來源與適用範圍</a:t>
            </a:r>
          </a:p>
          <a:p xmlns:a="http://schemas.openxmlformats.org/drawingml/2006/main">
            <a:r>
              <a:t>docs/website.md; website/evidence/demo.json; scripts/website-evidence.py; scripts/build-website.py. Aqua © Degensoft Ltd 2025. Powered by SwapVM © Degensoft Ltd 2025.</a:t>
            </a:r>
          </a:p>
          <a:p xmlns:a="http://schemas.openxmlformats.org/drawingml/2006/main">
            <a:r>
              <a:t>https://github.com/vexi-v1/vexi-hakari</a:t>
            </a:r>
          </a:p>
          <a:p xmlns:a="http://schemas.openxmlformats.org/drawingml/2006/main">
            <a:r>
              <a:t>Evidence base revision: 4df6d7bf44d70195e3d9012758eeddd3b66e91d5</a:t>
            </a:r>
          </a:p>
          <a:p xmlns:a="http://schemas.openxmlformats.org/drawingml/2006/main">
            <a:r>
              <a:t>Chart values are rounded to at most six decimal places; demo.json retains exact integer strings. Recorded local EVM fork at chain 4663, block 72248228. Synthetic accounts and market history. No mainnet broadcast. Public fixed-percentage band only. Experimental settlement does not establish fair expiry value or production readiness.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756673ee32416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a4cb17738c40f6" /><Relationship Type="http://schemas.openxmlformats.org/officeDocument/2006/relationships/slideLayout" Target="/ppt/slideLayouts/slideLayout1.xml" Id="R92f069b1343d47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f069b1343d47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a4a320b6814a94" /><Relationship Type="http://schemas.openxmlformats.org/officeDocument/2006/relationships/image" Target="/ppt/media/image.png" Id="R7261876c49ff4c35" /><Relationship Type="http://schemas.openxmlformats.org/officeDocument/2006/relationships/notesSlide" Target="/ppt/notesSlides/notesSlide1.xml" Id="Rb2df056e48734f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d95043faab405f" /><Relationship Type="http://schemas.openxmlformats.org/officeDocument/2006/relationships/image" Target="/ppt/media/image2.png" Id="R235bfe73c148424e" /><Relationship Type="http://schemas.openxmlformats.org/officeDocument/2006/relationships/notesSlide" Target="/ppt/notesSlides/notesSlide2.xml" Id="Rd8a649b59c524d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4afc436c654a8a" /><Relationship Type="http://schemas.openxmlformats.org/officeDocument/2006/relationships/image" Target="/ppt/media/image3.png" Id="R2d0477546d3c4145" /><Relationship Type="http://schemas.openxmlformats.org/officeDocument/2006/relationships/chart" Target="/ppt/slides/charts/chart1.xml" Id="R5dd75174cdc04ccf" /><Relationship Type="http://schemas.openxmlformats.org/officeDocument/2006/relationships/chart" Target="/ppt/slides/charts/chart2.xml" Id="R201c0db4b6284ec3" /><Relationship Type="http://schemas.openxmlformats.org/officeDocument/2006/relationships/notesSlide" Target="/ppt/notesSlides/notesSlide3.xml" Id="R9718fbf266fb45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7f0dde27dd4475" /><Relationship Type="http://schemas.openxmlformats.org/officeDocument/2006/relationships/image" Target="/ppt/media/image4.png" Id="R0fdc866b54324b34" /><Relationship Type="http://schemas.openxmlformats.org/officeDocument/2006/relationships/notesSlide" Target="/ppt/notesSlides/notesSlide4.xml" Id="R87b3116d0233460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a90c088964b67" /><Relationship Type="http://schemas.openxmlformats.org/officeDocument/2006/relationships/image" Target="/ppt/media/image5.png" Id="R154fec2b9b424cdf" /><Relationship Type="http://schemas.openxmlformats.org/officeDocument/2006/relationships/chart" Target="/ppt/slides/charts/chart3.xml" Id="Rebbfc9479ed143b9" /><Relationship Type="http://schemas.openxmlformats.org/officeDocument/2006/relationships/chart" Target="/ppt/slides/charts/chart4.xml" Id="R338f78c597c94a56" /><Relationship Type="http://schemas.openxmlformats.org/officeDocument/2006/relationships/notesSlide" Target="/ppt/notesSlides/notesSlide5.xml" Id="R0e6f8e3122ed4d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0817ea9b5d4cf4" /><Relationship Type="http://schemas.openxmlformats.org/officeDocument/2006/relationships/image" Target="/ppt/media/image6.png" Id="R4a4c7b7bc1e14b92" /><Relationship Type="http://schemas.openxmlformats.org/officeDocument/2006/relationships/chart" Target="/ppt/slides/charts/chart5.xml" Id="R3d1c9feff651444a" /><Relationship Type="http://schemas.openxmlformats.org/officeDocument/2006/relationships/notesSlide" Target="/ppt/notesSlides/notesSlide6.xml" Id="Rc2c07b79ef524e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995208a20421f" /><Relationship Type="http://schemas.openxmlformats.org/officeDocument/2006/relationships/image" Target="/ppt/media/image7.png" Id="R1c82445989cd4c1b" /><Relationship Type="http://schemas.openxmlformats.org/officeDocument/2006/relationships/notesSlide" Target="/ppt/notesSlides/notesSlide7.xml" Id="R1830b2302b754ae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70745effb04e36" /><Relationship Type="http://schemas.openxmlformats.org/officeDocument/2006/relationships/image" Target="/ppt/media/image8.png" Id="R01590e3fc5034c54" /><Relationship Type="http://schemas.openxmlformats.org/officeDocument/2006/relationships/notesSlide" Target="/ppt/notesSlides/notesSlide8.xml" Id="Rdeabc75722fb4c8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3dd9a6bd114195" /><Relationship Type="http://schemas.openxmlformats.org/officeDocument/2006/relationships/image" Target="/ppt/media/image9.png" Id="R7bcd44ddad334de8" /><Relationship Type="http://schemas.openxmlformats.org/officeDocument/2006/relationships/chart" Target="/ppt/slides/charts/chart6.xml" Id="R6f14dbcc758a41c5" /><Relationship Type="http://schemas.openxmlformats.org/officeDocument/2006/relationships/notesSlide" Target="/ppt/notesSlides/notesSlide9.xml" Id="R161220ebbadd498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2448496e434cbd" /><Relationship Type="http://schemas.openxmlformats.org/officeDocument/2006/relationships/image" Target="/ppt/media/image10.png" Id="Re57bad4987ca41f7" /><Relationship Type="http://schemas.openxmlformats.org/officeDocument/2006/relationships/chart" Target="/ppt/slides/charts/chart7.xml" Id="Rbce2e4bb371842e9" /><Relationship Type="http://schemas.openxmlformats.org/officeDocument/2006/relationships/chart" Target="/ppt/slides/charts/chart8.xml" Id="R2ef3572f1d754843" /><Relationship Type="http://schemas.openxmlformats.org/officeDocument/2006/relationships/notesSlide" Target="/ppt/notesSlides/notesSlide10.xml" Id="R0b6237b5dfc7464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d4248affaa4ae6" /><Relationship Type="http://schemas.openxmlformats.org/officeDocument/2006/relationships/image" Target="/ppt/media/image11.png" Id="Rd6d81f020afc450f" /><Relationship Type="http://schemas.openxmlformats.org/officeDocument/2006/relationships/notesSlide" Target="/ppt/notesSlides/notesSlide11.xml" Id="Rb68c8eb8d426401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6531bcb744d98" /><Relationship Type="http://schemas.openxmlformats.org/officeDocument/2006/relationships/image" Target="/ppt/media/image12.png" Id="R04c6f4a5459742e9" /><Relationship Type="http://schemas.openxmlformats.org/officeDocument/2006/relationships/chart" Target="/ppt/slides/charts/chart9.xml" Id="R839b951f2adc4c46" /><Relationship Type="http://schemas.openxmlformats.org/officeDocument/2006/relationships/chart" Target="/ppt/slides/charts/chart10.xml" Id="R3cf8391972e54d0d" /><Relationship Type="http://schemas.openxmlformats.org/officeDocument/2006/relationships/notesSlide" Target="/ppt/notesSlides/notesSlide12.xml" Id="R35b88e3dbce64ff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c2ae555ee64812" /><Relationship Type="http://schemas.openxmlformats.org/officeDocument/2006/relationships/image" Target="/ppt/media/image13.png" Id="R057295eb6c1c4e04" /><Relationship Type="http://schemas.openxmlformats.org/officeDocument/2006/relationships/hyperlink" Target="https://vexi-v1.github.io/vexi-hakari/?lang=zh-Hant#replay" TargetMode="External" Id="R38aebfaa8b844730" /><Relationship Type="http://schemas.openxmlformats.org/officeDocument/2006/relationships/notesSlide" Target="/ppt/notesSlides/notesSlide13.xml" Id="R90f08913c2014ab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62444870074429" /><Relationship Type="http://schemas.openxmlformats.org/officeDocument/2006/relationships/image" Target="/ppt/media/image14.png" Id="Rc2c1caf0cdae44f6" /><Relationship Type="http://schemas.openxmlformats.org/officeDocument/2006/relationships/hyperlink" Target="https://github.com/vexi-v1/vexi-hakari" TargetMode="External" Id="R91c5164d7d7a4868" /><Relationship Type="http://schemas.openxmlformats.org/officeDocument/2006/relationships/notesSlide" Target="/ppt/notesSlides/notesSlide14.xml" Id="Rd015f2d0e7684b9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43b031fa5e4462" /><Relationship Type="http://schemas.openxmlformats.org/officeDocument/2006/relationships/image" Target="/ppt/media/image15.png" Id="R4b3e11c41ceb4798" /><Relationship Type="http://schemas.openxmlformats.org/officeDocument/2006/relationships/notesSlide" Target="/ppt/notesSlides/notesSlide15.xml" Id="Re71e16e7beee40a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680c5082844978" /><Relationship Type="http://schemas.openxmlformats.org/officeDocument/2006/relationships/image" Target="/ppt/media/image16.png" Id="Ra35e901abf554bbe" /><Relationship Type="http://schemas.openxmlformats.org/officeDocument/2006/relationships/notesSlide" Target="/ppt/notesSlides/notesSlide16.xml" Id="R0cf3daf4989948c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70aea666341a6" /><Relationship Type="http://schemas.openxmlformats.org/officeDocument/2006/relationships/image" Target="/ppt/media/image17.png" Id="R4f796ef7b11f4156" /><Relationship Type="http://schemas.openxmlformats.org/officeDocument/2006/relationships/notesSlide" Target="/ppt/notesSlides/notesSlide17.xml" Id="R6deb2f156973437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164101e89246cc" /><Relationship Type="http://schemas.openxmlformats.org/officeDocument/2006/relationships/image" Target="/ppt/media/image18.png" Id="Rf8a27311e41245e9" /><Relationship Type="http://schemas.openxmlformats.org/officeDocument/2006/relationships/notesSlide" Target="/ppt/notesSlides/notesSlide18.xml" Id="Re4973eed144e409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c8c63112eb4d2c" /><Relationship Type="http://schemas.openxmlformats.org/officeDocument/2006/relationships/image" Target="/ppt/media/image19.png" Id="R4bc47f1d95d84f70" /><Relationship Type="http://schemas.openxmlformats.org/officeDocument/2006/relationships/chart" Target="/ppt/slides/charts/chart11.xml" Id="R1ab9e68792cc476d" /><Relationship Type="http://schemas.openxmlformats.org/officeDocument/2006/relationships/notesSlide" Target="/ppt/notesSlides/notesSlide19.xml" Id="Rc92b09216f164c4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8aaae498164758" /><Relationship Type="http://schemas.openxmlformats.org/officeDocument/2006/relationships/image" Target="/ppt/media/image20.png" Id="R5db706bffb5e46c9" /><Relationship Type="http://schemas.openxmlformats.org/officeDocument/2006/relationships/hyperlink" Target="https://github.com/vexi-v1/vexi-hakari" TargetMode="External" Id="R60783f3744d04dc5" /><Relationship Type="http://schemas.openxmlformats.org/officeDocument/2006/relationships/notesSlide" Target="/ppt/notesSlides/notesSlide20.xml" Id="R7985568f420b4f3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_rels/chart8.xml.rels><Relationships xmlns="http://schemas.openxmlformats.org/package/2006/relationships"><Relationship Id="rIdChartSnapshot1" Type="http://schemas.openxmlformats.org/officeDocument/2006/relationships/package" Target="../../embeddings/chart-data-snapshot-008.xlsx"/></Relationships>
</file>

<file path=ppt/slides/charts/_rels/chart9.xml.rels><Relationships xmlns="http://schemas.openxmlformats.org/package/2006/relationships"><Relationship Id="rIdChartSnapshot1" Type="http://schemas.openxmlformats.org/officeDocument/2006/relationships/package" Target="../../embeddings/chart-data-snapshot-009.xlsx"/></Relationships>
</file>

<file path=ppt/slides/charts/_rels/chart10.xml.rels><Relationships xmlns="http://schemas.openxmlformats.org/package/2006/relationships"><Relationship Id="rIdChartSnapshot1" Type="http://schemas.openxmlformats.org/officeDocument/2006/relationships/package" Target="../../embeddings/chart-data-snapshot-010.xlsx"/></Relationships>
</file>

<file path=ppt/slides/charts/_rels/chart11.xml.rels><Relationships xmlns="http://schemas.openxmlformats.org/package/2006/relationships"><Relationship Id="rIdChartSnapshot1" Type="http://schemas.openxmlformats.org/officeDocument/2006/relationships/package" Target="../../embeddings/chart-data-snapshot-01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Sold</c:v>
          </c:tx>
          <c:spPr>
            <a:solidFill xmlns:a="http://schemas.openxmlformats.org/drawingml/2006/main">
              <a:srgbClr val="37D67A"/>
            </a:solidFill>
          </c:spPr>
          <c:cat>
            <c:strRef>
              <c:f>'Chart Data'!$A$2:$A$2</c:f>
              <c:strCache>
                <c:ptCount val="1"/>
                <c:pt idx="0">
                  <c:v>存入 10 個代幣</c:v>
                </c:pt>
              </c:strCache>
            </c:strRef>
          </c:cat>
          <c:val>
            <c:numRef>
              <c:f>'Chart Data'!$B$2:$B$2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ser>
          <c:idx val="1"/>
          <c:order val="1"/>
          <c:tx>
            <c:v>Unsold</c:v>
          </c:tx>
          <c:spPr>
            <a:solidFill xmlns:a="http://schemas.openxmlformats.org/drawingml/2006/main">
              <a:srgbClr val="FF007A"/>
            </a:solidFill>
          </c:spPr>
          <c:cat>
            <c:strRef>
              <c:f>'Chart Data'!$C$2:$C$2</c:f>
              <c:strCache>
                <c:ptCount val="1"/>
                <c:pt idx="0">
                  <c:v>存入 10 個代幣</c:v>
                </c:pt>
              </c:strCache>
            </c:strRef>
          </c:cat>
          <c:val>
            <c:numRef>
              <c:f>'Chart Data'!$D$2:$D$2</c:f>
              <c:numCache>
                <c:formatCode>General</c:formatCode>
                <c:ptCount val="1"/>
                <c:pt idx="0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325" b="1">
                  <a:solidFill>
                    <a:srgbClr val="FAFAFA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10"/>
          <c:min val="0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08080A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08080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池價</c:v>
          </c:tx>
          <c:spPr>
            <a:solidFill xmlns:a="http://schemas.openxmlformats.org/drawingml/2006/main">
              <a:srgbClr val="FF007A"/>
            </a:solidFill>
            <a:ln xmlns:a="http://schemas.openxmlformats.org/drawingml/2006/main" w="28575">
              <a:solidFill>
                <a:srgbClr val="FF007A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FF007A"/>
              </a:solidFill>
            </c:spPr>
          </c:marker>
          <c:cat>
            <c:strRef>
              <c:f>'Chart Data'!$A$2:$A$5</c:f>
              <c:strCache>
                <c:ptCount val="4"/>
                <c:pt idx="0">
                  <c:v>稍早</c:v>
                </c:pt>
                <c:pt idx="1">
                  <c:v>2</c:v>
                </c:pt>
                <c:pt idx="2">
                  <c:v>3</c:v>
                </c:pt>
                <c:pt idx="3">
                  <c:v>稍後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100</c:v>
                </c:pt>
                <c:pt idx="1">
                  <c:v>102</c:v>
                </c:pt>
                <c:pt idx="2">
                  <c:v>110</c:v>
                </c:pt>
                <c:pt idx="3">
                  <c:v>125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130"/>
          <c:min val="95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08080A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08080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已承諾</c:v>
          </c:tx>
          <c:spPr>
            <a:solidFill xmlns:a="http://schemas.openxmlformats.org/drawingml/2006/main">
              <a:srgbClr val="FF007A"/>
            </a:solidFill>
          </c:spPr>
          <c:cat>
            <c:strRef>
              <c:f>'Chart Data'!$A$2:$A$2</c:f>
              <c:strCache>
                <c:ptCount val="1"/>
                <c:pt idx="0">
                  <c:v>TSLA</c:v>
                </c:pt>
              </c:strCache>
            </c:strRef>
          </c:cat>
          <c:val>
            <c:numRef>
              <c:f>'Chart Data'!$B$2:$B$2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</c:ser>
        <c:ser>
          <c:idx val="1"/>
          <c:order val="1"/>
          <c:tx>
            <c:v>未承諾</c:v>
          </c:tx>
          <c:spPr>
            <a:solidFill xmlns:a="http://schemas.openxmlformats.org/drawingml/2006/main">
              <a:srgbClr val="37D67A"/>
            </a:solidFill>
          </c:spPr>
          <c:cat>
            <c:strRef>
              <c:f>'Chart Data'!$C$2:$C$2</c:f>
              <c:strCache>
                <c:ptCount val="1"/>
                <c:pt idx="0">
                  <c:v>TSLA</c:v>
                </c:pt>
              </c:strCache>
            </c:strRef>
          </c:cat>
          <c:val>
            <c:numRef>
              <c:f>'Chart Data'!$D$2:$D$2</c:f>
              <c:numCache>
                <c:formatCode>General</c:formatCode>
                <c:ptCount val="1"/>
                <c:pt idx="0">
                  <c:v>20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FAFAFA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08080A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08080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已承諾</c:v>
          </c:tx>
          <c:spPr>
            <a:solidFill xmlns:a="http://schemas.openxmlformats.org/drawingml/2006/main">
              <a:srgbClr val="FF007A"/>
            </a:solidFill>
          </c:spPr>
          <c:cat>
            <c:strRef>
              <c:f>'Chart Data'!$A$2:$A$2</c:f>
              <c:strCache>
                <c:ptCount val="1"/>
                <c:pt idx="0">
                  <c:v>USDG</c:v>
                </c:pt>
              </c:strCache>
            </c:strRef>
          </c:cat>
          <c:val>
            <c:numRef>
              <c:f>'Chart Data'!$B$2:$B$2</c:f>
              <c:numCache>
                <c:formatCode>0,"k"</c:formatCode>
                <c:ptCount val="1"/>
                <c:pt idx="0">
                  <c:v>4000</c:v>
                </c:pt>
              </c:numCache>
            </c:numRef>
          </c:val>
        </c:ser>
        <c:ser>
          <c:idx val="1"/>
          <c:order val="1"/>
          <c:tx>
            <c:v>未承諾</c:v>
          </c:tx>
          <c:spPr>
            <a:solidFill xmlns:a="http://schemas.openxmlformats.org/drawingml/2006/main">
              <a:srgbClr val="37D67A"/>
            </a:solidFill>
          </c:spPr>
          <c:cat>
            <c:strRef>
              <c:f>'Chart Data'!$C$2:$C$2</c:f>
              <c:strCache>
                <c:ptCount val="1"/>
                <c:pt idx="0">
                  <c:v>USDG</c:v>
                </c:pt>
              </c:strCache>
            </c:strRef>
          </c:cat>
          <c:val>
            <c:numRef>
              <c:f>'Chart Data'!$D$2:$D$2</c:f>
              <c:numCache>
                <c:formatCode>0,"k"</c:formatCode>
                <c:ptCount val="1"/>
                <c:pt idx="0">
                  <c:v>16000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FAFAFA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20000"/>
          <c:min val="0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08080A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08080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錢包 TSLA</c:v>
          </c:tx>
          <c:spPr>
            <a:solidFill xmlns:a="http://schemas.openxmlformats.org/drawingml/2006/main">
              <a:srgbClr val="37D67A"/>
            </a:solidFill>
          </c:spPr>
          <c:cat>
            <c:strRef>
              <c:f>'Chart Data'!$A$2:$A$3</c:f>
              <c:strCache>
                <c:ptCount val="2"/>
                <c:pt idx="0">
                  <c:v>有 guard</c:v>
                </c:pt>
                <c:pt idx="1">
                  <c:v>無 guard</c:v>
                </c:pt>
              </c:strCache>
            </c:strRef>
          </c:cat>
          <c:val>
            <c:numRef>
              <c:f>'Chart Data'!$B$2:$B$3</c:f>
              <c:numCache>
                <c:formatCode>0.00</c:formatCode>
                <c:ptCount val="2"/>
                <c:pt idx="0">
                  <c:v>29.047619</c:v>
                </c:pt>
                <c:pt idx="1">
                  <c:v>9</c:v>
                </c:pt>
              </c:numCache>
            </c:numRef>
          </c:val>
        </c:ser>
        <c:ser>
          <c:idx val="1"/>
          <c:order val="1"/>
          <c:tx>
            <c:v>承諾 TSLA</c:v>
          </c:tx>
          <c:spPr>
            <a:solidFill xmlns:a="http://schemas.openxmlformats.org/drawingml/2006/main">
              <a:srgbClr val="FF007A"/>
            </a:solidFill>
          </c:spPr>
          <c:cat>
            <c:strRef>
              <c:f>'Chart Data'!$C$2:$C$3</c:f>
              <c:strCache>
                <c:ptCount val="2"/>
                <c:pt idx="0">
                  <c:v>有 guard</c:v>
                </c:pt>
                <c:pt idx="1">
                  <c:v>無 guard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10</c:v>
                </c:pt>
                <c:pt idx="1">
                  <c:v>10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FAFAFA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35"/>
          <c:min val="0"/>
        </c:scaling>
        <c:delete val="0"/>
        <c:axPos val="l"/>
        <c:majorGridlines>
          <c:spPr>
            <a:ln xmlns:a="http://schemas.openxmlformats.org/drawingml/2006/main" w="6668">
              <a:solidFill>
                <a:srgbClr val="33333D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08080A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A8A8B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08080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即時參考</c:v>
          </c:tx>
          <c:spPr>
            <a:solidFill xmlns:a="http://schemas.openxmlformats.org/drawingml/2006/main">
              <a:srgbClr val="FAFAFA"/>
            </a:solidFill>
            <a:ln xmlns:a="http://schemas.openxmlformats.org/drawingml/2006/main" w="28575">
              <a:solidFill>
                <a:srgbClr val="FAFAFA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FAFAFA"/>
              </a:solidFill>
            </c:spPr>
          </c:marker>
          <c:cat>
            <c:strRef>
              <c:f>'Chart Data'!$A$2:$A$5</c:f>
              <c:strCache>
                <c:ptCount val="4"/>
                <c:pt idx="0">
                  <c:v>起點</c:v>
                </c:pt>
                <c:pt idx="1">
                  <c:v>+2.5%</c:v>
                </c:pt>
                <c:pt idx="2">
                  <c:v>+5.1%</c:v>
                </c:pt>
                <c:pt idx="3">
                  <c:v>回復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378.297368</c:v>
                </c:pt>
                <c:pt idx="1">
                  <c:v>387.687067</c:v>
                </c:pt>
                <c:pt idx="2">
                  <c:v>397.521081</c:v>
                </c:pt>
                <c:pt idx="3">
                  <c:v>378.297368</c:v>
                </c:pt>
              </c:numCache>
            </c:numRef>
          </c:val>
          <c:smooth val="0"/>
        </c:ser>
        <c:ser>
          <c:idx val="1"/>
          <c:order val="1"/>
          <c:tx>
            <c:v>TWAP</c:v>
          </c:tx>
          <c:spPr>
            <a:solidFill xmlns:a="http://schemas.openxmlformats.org/drawingml/2006/main">
              <a:srgbClr val="37D67A"/>
            </a:solidFill>
            <a:ln xmlns:a="http://schemas.openxmlformats.org/drawingml/2006/main" w="28575">
              <a:solidFill>
                <a:srgbClr val="37D67A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37D67A"/>
              </a:solidFill>
            </c:spPr>
          </c:marker>
          <c:cat>
            <c:strRef>
              <c:f>'Chart Data'!$C$2:$C$5</c:f>
              <c:strCache>
                <c:ptCount val="4"/>
                <c:pt idx="0">
                  <c:v>起點</c:v>
                </c:pt>
                <c:pt idx="1">
                  <c:v>+2.5%</c:v>
                </c:pt>
                <c:pt idx="2">
                  <c:v>+5.1%</c:v>
                </c:pt>
                <c:pt idx="3">
                  <c:v>回復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378.231285</c:v>
                </c:pt>
                <c:pt idx="1">
                  <c:v>378.231285</c:v>
                </c:pt>
                <c:pt idx="2">
                  <c:v>378.231285</c:v>
                </c:pt>
                <c:pt idx="3">
                  <c:v>378.231285</c:v>
                </c:pt>
              </c:numCache>
            </c:numRef>
          </c:val>
          <c:smooth val="0"/>
        </c:ser>
        <c:ser>
          <c:idx val="2"/>
          <c:order val="2"/>
          <c:tx>
            <c:v>+5%</c:v>
          </c:tx>
          <c:spPr>
            <a:ln xmlns:a="http://schemas.openxmlformats.org/drawingml/2006/main" w="19050">
              <a:solidFill>
                <a:srgbClr val="FF5470"/>
              </a:solidFill>
            </a:ln>
          </c:spPr>
          <c:marker>
            <c:symbol val="none"/>
          </c:marker>
          <c:cat>
            <c:strRef>
              <c:f>'Chart Data'!$E$2:$E$5</c:f>
              <c:strCache>
                <c:ptCount val="4"/>
                <c:pt idx="0">
                  <c:v>起點</c:v>
                </c:pt>
                <c:pt idx="1">
                  <c:v>+2.5%</c:v>
                </c:pt>
                <c:pt idx="2">
                  <c:v>+5.1%</c:v>
                </c:pt>
                <c:pt idx="3">
                  <c:v>回復</c:v>
                </c:pt>
              </c:strCache>
            </c:strRef>
          </c:cat>
          <c:val>
            <c:numRef>
              <c:f>'Chart Data'!$F$2:$F$5</c:f>
              <c:numCache>
                <c:formatCode>0</c:formatCode>
                <c:ptCount val="4"/>
                <c:pt idx="0">
                  <c:v>397.142849</c:v>
                </c:pt>
                <c:pt idx="1">
                  <c:v>397.142849</c:v>
                </c:pt>
                <c:pt idx="2">
                  <c:v>397.142849</c:v>
                </c:pt>
                <c:pt idx="3">
                  <c:v>397.142849</c:v>
                </c:pt>
              </c:numCache>
            </c:numRef>
          </c:val>
          <c:smooth val="0"/>
        </c:ser>
        <c:ser>
          <c:idx val="3"/>
          <c:order val="3"/>
          <c:tx>
            <c:v>−5%</c:v>
          </c:tx>
          <c:spPr>
            <a:ln xmlns:a="http://schemas.openxmlformats.org/drawingml/2006/main" w="19050">
              <a:solidFill>
                <a:srgbClr val="FF5470"/>
              </a:solidFill>
            </a:ln>
          </c:spPr>
          <c:marker>
            <c:symbol val="none"/>
          </c:marker>
          <c:cat>
            <c:strRef>
              <c:f>'Chart Data'!$G$2:$G$5</c:f>
              <c:strCache>
                <c:ptCount val="4"/>
                <c:pt idx="0">
                  <c:v>起點</c:v>
                </c:pt>
                <c:pt idx="1">
                  <c:v>+2.5%</c:v>
                </c:pt>
                <c:pt idx="2">
                  <c:v>+5.1%</c:v>
                </c:pt>
                <c:pt idx="3">
                  <c:v>回復</c:v>
                </c:pt>
              </c:strCache>
            </c:strRef>
          </c:cat>
          <c:val>
            <c:numRef>
              <c:f>'Chart Data'!$H$2:$H$5</c:f>
              <c:numCache>
                <c:formatCode>0</c:formatCode>
                <c:ptCount val="4"/>
                <c:pt idx="0">
                  <c:v>359.319721</c:v>
                </c:pt>
                <c:pt idx="1">
                  <c:v>359.319721</c:v>
                </c:pt>
                <c:pt idx="2">
                  <c:v>359.319721</c:v>
                </c:pt>
                <c:pt idx="3">
                  <c:v>359.319721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405"/>
          <c:min val="350"/>
        </c:scaling>
        <c:delete val="0"/>
        <c:axPos val="l"/>
        <c:majorGridlines>
          <c:spPr>
            <a:ln xmlns:a="http://schemas.openxmlformats.org/drawingml/2006/main" w="5715">
              <a:solidFill>
                <a:srgbClr val="33333D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08080A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08080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口數上限</c:v>
          </c:tx>
          <c:spPr>
            <a:solidFill xmlns:a="http://schemas.openxmlformats.org/drawingml/2006/main">
              <a:srgbClr val="37D67A"/>
            </a:solidFill>
            <a:ln xmlns:a="http://schemas.openxmlformats.org/drawingml/2006/main" w="28575">
              <a:solidFill>
                <a:srgbClr val="37D67A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37D67A"/>
              </a:solidFill>
            </c:spPr>
          </c:marker>
          <c:cat>
            <c:strRef>
              <c:f>'Chart Data'!$A$2:$A$6</c:f>
              <c:strCache>
                <c:ptCount val="5"/>
                <c:pt idx="0">
                  <c:v>−5%</c:v>
                </c:pt>
                <c:pt idx="1">
                  <c:v>−2.5%</c:v>
                </c:pt>
                <c:pt idx="2">
                  <c:v>0%</c:v>
                </c:pt>
                <c:pt idx="3">
                  <c:v>+2.5%</c:v>
                </c:pt>
                <c:pt idx="4">
                  <c:v>+5%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0</c:v>
                </c:pt>
                <c:pt idx="1">
                  <c:v>25</c:v>
                </c:pt>
                <c:pt idx="2">
                  <c:v>50</c:v>
                </c:pt>
                <c:pt idx="3">
                  <c:v>25</c:v>
                </c:pt>
                <c:pt idx="4">
                  <c:v>0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50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33333D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25"/>
      </c:valAx>
      <c:spPr>
        <a:solidFill xmlns:a="http://schemas.openxmlformats.org/drawingml/2006/main">
          <a:srgbClr val="08080A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08080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報價</c:v>
          </c:tx>
          <c:spPr>
            <a:solidFill xmlns:a="http://schemas.openxmlformats.org/drawingml/2006/main">
              <a:srgbClr val="FF007A"/>
            </a:solidFill>
            <a:ln xmlns:a="http://schemas.openxmlformats.org/drawingml/2006/main" w="28575">
              <a:solidFill>
                <a:srgbClr val="FF007A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FF007A"/>
              </a:solidFill>
            </c:spPr>
          </c:marker>
          <c:cat>
            <c:strRef>
              <c:f>'Chart Data'!$A$2:$A$11</c:f>
              <c:strCache>
                <c:ptCount val="10"/>
                <c:pt idx="0">
                  <c:v>0%</c:v>
                </c:pt>
                <c:pt idx="1">
                  <c:v>0.5%</c:v>
                </c:pt>
                <c:pt idx="2">
                  <c:v>1%</c:v>
                </c:pt>
                <c:pt idx="3">
                  <c:v>1.5%</c:v>
                </c:pt>
                <c:pt idx="4">
                  <c:v>2%</c:v>
                </c:pt>
                <c:pt idx="5">
                  <c:v>2.5%</c:v>
                </c:pt>
                <c:pt idx="6">
                  <c:v>3%</c:v>
                </c:pt>
                <c:pt idx="7">
                  <c:v>3.5%</c:v>
                </c:pt>
                <c:pt idx="8">
                  <c:v>4%</c:v>
                </c:pt>
                <c:pt idx="9">
                  <c:v>4.5%</c:v>
                </c:pt>
              </c:strCache>
            </c:strRef>
          </c:cat>
          <c:val>
            <c:numRef>
              <c:f>'Chart Data'!$B$2:$B$11</c:f>
              <c:numCache>
                <c:formatCode>0.0</c:formatCode>
                <c:ptCount val="10"/>
                <c:pt idx="0">
                  <c:v>8</c:v>
                </c:pt>
                <c:pt idx="1">
                  <c:v>8.016</c:v>
                </c:pt>
                <c:pt idx="2">
                  <c:v>8.064</c:v>
                </c:pt>
                <c:pt idx="3">
                  <c:v>8.144</c:v>
                </c:pt>
                <c:pt idx="4">
                  <c:v>8.256</c:v>
                </c:pt>
                <c:pt idx="5">
                  <c:v>8.4</c:v>
                </c:pt>
                <c:pt idx="6">
                  <c:v>8.576</c:v>
                </c:pt>
                <c:pt idx="7">
                  <c:v>8.784</c:v>
                </c:pt>
                <c:pt idx="8">
                  <c:v>9.024</c:v>
                </c:pt>
                <c:pt idx="9">
                  <c:v>9.296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9.6"/>
          <c:min val="8"/>
        </c:scaling>
        <c:delete val="0"/>
        <c:axPos val="l"/>
        <c:majorGridlines>
          <c:spPr>
            <a:ln xmlns:a="http://schemas.openxmlformats.org/drawingml/2006/main" w="5715">
              <a:solidFill>
                <a:srgbClr val="33333D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0.4"/>
      </c:valAx>
      <c:spPr>
        <a:solidFill xmlns:a="http://schemas.openxmlformats.org/drawingml/2006/main">
          <a:srgbClr val="08080A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08080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9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TSLA</c:v>
          </c:tx>
          <c:spPr>
            <a:solidFill xmlns:a="http://schemas.openxmlformats.org/drawingml/2006/main">
              <a:srgbClr val="37D67A"/>
            </a:solidFill>
          </c:spPr>
          <c:cat>
            <c:strRef>
              <c:f>'Chart Data'!$A$2:$A$5</c:f>
              <c:strCache>
                <c:ptCount val="4"/>
                <c:pt idx="0">
                  <c:v>成交</c:v>
                </c:pt>
                <c:pt idx="1">
                  <c:v>履約</c:v>
                </c:pt>
                <c:pt idx="2">
                  <c:v>關單</c:v>
                </c:pt>
                <c:pt idx="3">
                  <c:v>領權利金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5</c:v>
                </c:pt>
                <c:pt idx="1">
                  <c:v>8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FAFAFA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10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33333D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5"/>
      </c:valAx>
      <c:spPr>
        <a:solidFill xmlns:a="http://schemas.openxmlformats.org/drawingml/2006/main">
          <a:srgbClr val="08080A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08080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10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USDG</c:v>
          </c:tx>
          <c:spPr>
            <a:solidFill xmlns:a="http://schemas.openxmlformats.org/drawingml/2006/main">
              <a:srgbClr val="FF007A"/>
            </a:solidFill>
          </c:spPr>
          <c:cat>
            <c:strRef>
              <c:f>'Chart Data'!$A$2:$A$5</c:f>
              <c:strCache>
                <c:ptCount val="4"/>
                <c:pt idx="0">
                  <c:v>成交</c:v>
                </c:pt>
                <c:pt idx="1">
                  <c:v>履約</c:v>
                </c:pt>
                <c:pt idx="2">
                  <c:v>關單</c:v>
                </c:pt>
                <c:pt idx="3">
                  <c:v>領權利金</c:v>
                </c:pt>
              </c:strCache>
            </c:strRef>
          </c:cat>
          <c:val>
            <c:numRef>
              <c:f>'Chart Data'!$B$2:$B$5</c:f>
              <c:numCache>
                <c:formatCode>0.00</c:formatCode>
                <c:ptCount val="4"/>
                <c:pt idx="0">
                  <c:v>1264.0064</c:v>
                </c:pt>
                <c:pt idx="1">
                  <c:v>64.0064</c:v>
                </c:pt>
                <c:pt idx="2">
                  <c:v>64.0064</c:v>
                </c:pt>
                <c:pt idx="3">
                  <c:v>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FAFAFA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1500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33333D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500"/>
      </c:valAx>
      <c:spPr>
        <a:solidFill xmlns:a="http://schemas.openxmlformats.org/drawingml/2006/main">
          <a:srgbClr val="08080A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08080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1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USDG / USD per token</c:v>
          </c:tx>
          <c:spPr>
            <a:solidFill xmlns:a="http://schemas.openxmlformats.org/drawingml/2006/main">
              <a:srgbClr val="FF007A"/>
            </a:solidFill>
          </c:spPr>
          <c:cat>
            <c:strRef>
              <c:f>'Chart Data'!$A$2:$A$3</c:f>
              <c:strCache>
                <c:ptCount val="2"/>
                <c:pt idx="0">
                  <c:v>股票收盤／USD</c:v>
                </c:pt>
                <c:pt idx="1">
                  <c:v>池價快照／USDG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28.84</c:v>
                </c:pt>
                <c:pt idx="1">
                  <c:v>54.5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>
                  <a:solidFill>
                    <a:srgbClr val="FAFAFA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60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33333D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33333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08080A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08080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61876c49ff4c35"/>
          <a:stretch xmlns:a="http://schemas.openxmlformats.org/drawingml/2006/main"/>
        </p:blipFill>
        <p:spPr>
          <a:xfrm xmlns:a="http://schemas.openxmlformats.org/drawingml/2006/main">
            <a:off x="9201150" y="1628775"/>
            <a:ext cx="2000250" cy="2000250"/>
          </a:xfrm>
          <a:prstGeom xmlns:a="http://schemas.openxmlformats.org/drawingml/2006/main" prst="rect">
            <a:avLst/>
          </a:prstGeom>
        </p:spPr>
      </p:pic>
      <p:sp>
        <p:nvSpPr>
          <p:cNvPr id="2" name="Vexi Hakari">
            <a:extLst xmlns:a="http://schemas.openxmlformats.org/drawingml/2006/main">
              <a:ext uri="{FF2B5EF4-FFF2-40B4-BE49-F238E27FC236}">
                <a16:creationId xmlns:a16="http://schemas.microsoft.com/office/drawing/2014/main" id="{A8F42DAE-AC72-47D9-A12B-280B37A7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84201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64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3" name="選擇權與現貨，共用錢包流動性">
            <a:extLst xmlns:a="http://schemas.openxmlformats.org/drawingml/2006/main">
              <a:ext uri="{FF2B5EF4-FFF2-40B4-BE49-F238E27FC236}">
                <a16:creationId xmlns:a16="http://schemas.microsoft.com/office/drawing/2014/main" id="{2FD22801-9C50-4D4D-8F03-363F4B9E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809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選擇權與現貨，共用錢包流動性</a:t>
            </a:r>
          </a:p>
        </p:txBody>
      </p:sp>
      <p:sp>
        <p:nvSpPr>
          <p:cNvPr id="4" name="Aqua 策略帳務與 Uniswap v4 報價檢查">
            <a:extLst xmlns:a="http://schemas.openxmlformats.org/drawingml/2006/main">
              <a:ext uri="{FF2B5EF4-FFF2-40B4-BE49-F238E27FC236}">
                <a16:creationId xmlns:a16="http://schemas.microsoft.com/office/drawing/2014/main" id="{883C176E-E2AD-4050-93A2-328312CC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81425"/>
            <a:ext cx="9429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Aqua 策略帳務與 Uniswap v4 報價檢查</a:t>
            </a:r>
          </a:p>
        </p:txBody>
      </p:sp>
      <p:sp>
        <p:nvSpPr>
          <p:cNvPr id="5" name="6 分鐘協議 demo">
            <a:extLst xmlns:a="http://schemas.openxmlformats.org/drawingml/2006/main">
              <a:ext uri="{FF2B5EF4-FFF2-40B4-BE49-F238E27FC236}">
                <a16:creationId xmlns:a16="http://schemas.microsoft.com/office/drawing/2014/main" id="{68AFAF8A-BF12-4636-A159-40B6EE5F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91150"/>
            <a:ext cx="828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6 分鐘協議 demo</a:t>
            </a:r>
          </a:p>
        </p:txBody>
      </p:sp>
      <p:sp>
        <p:nvSpPr>
          <p:cNvPr id="6" name="ETHGlobal Tokyo 2026">
            <a:extLst xmlns:a="http://schemas.openxmlformats.org/drawingml/2006/main">
              <a:ext uri="{FF2B5EF4-FFF2-40B4-BE49-F238E27FC236}">
                <a16:creationId xmlns:a16="http://schemas.microsoft.com/office/drawing/2014/main" id="{EB436D32-EDC4-47FE-88B9-BFF64755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72175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ETHGlobal Tokyo 2026</a:t>
            </a:r>
          </a:p>
        </p:txBody>
      </p:sp>
    </p:spTree>
    <p:extLst>
      <p:ext uri="{BB962C8B-B14F-4D97-AF65-F5344CB8AC3E}">
        <p14:creationId xmlns:p14="http://schemas.microsoft.com/office/powerpoint/2010/main" val="8350149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vered call 與 cash-secured put">
            <a:extLst xmlns:a="http://schemas.openxmlformats.org/drawingml/2006/main">
              <a:ext uri="{FF2B5EF4-FFF2-40B4-BE49-F238E27FC236}">
                <a16:creationId xmlns:a16="http://schemas.microsoft.com/office/drawing/2014/main" id="{B7F411F4-8904-4B92-AA72-FDB47283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Covered call 與 cash-secured put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5bfe73c148424e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72A524B2-1844-4E98-B25D-C3726165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2">
            <a:extLst xmlns:a="http://schemas.openxmlformats.org/drawingml/2006/main">
              <a:ext uri="{FF2B5EF4-FFF2-40B4-BE49-F238E27FC236}">
                <a16:creationId xmlns:a16="http://schemas.microsoft.com/office/drawing/2014/main" id="{29A829A0-6249-40BD-B016-BB56535F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5" name="1 TSLA">
            <a:extLst xmlns:a="http://schemas.openxmlformats.org/drawingml/2006/main">
              <a:ext uri="{FF2B5EF4-FFF2-40B4-BE49-F238E27FC236}">
                <a16:creationId xmlns:a16="http://schemas.microsoft.com/office/drawing/2014/main" id="{F24798BB-1F95-49A3-BF3B-1E5BC8D0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33525"/>
            <a:ext cx="3429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52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1 TSLA</a:t>
            </a:r>
          </a:p>
        </p:txBody>
      </p:sp>
      <p:sp>
        <p:nvSpPr>
          <p:cNvPr id="6" name="履約價 400 USDG">
            <a:extLst xmlns:a="http://schemas.openxmlformats.org/drawingml/2006/main">
              <a:ext uri="{FF2B5EF4-FFF2-40B4-BE49-F238E27FC236}">
                <a16:creationId xmlns:a16="http://schemas.microsoft.com/office/drawing/2014/main" id="{1CC4FD22-84DF-4836-888D-E8F8E740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71625"/>
            <a:ext cx="6572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7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履約價 400 USDG</a:t>
            </a:r>
          </a:p>
        </p:txBody>
      </p:sp>
      <p:sp>
        <p:nvSpPr>
          <p:cNvPr id="7" name="Alice／賣方">
            <a:extLst xmlns:a="http://schemas.openxmlformats.org/drawingml/2006/main">
              <a:ext uri="{FF2B5EF4-FFF2-40B4-BE49-F238E27FC236}">
                <a16:creationId xmlns:a16="http://schemas.microsoft.com/office/drawing/2014/main" id="{E3CCB74F-9971-46CD-BC07-0EEC728F8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28384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AFAF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Alice／賣方</a:t>
            </a:r>
          </a:p>
        </p:txBody>
      </p:sp>
      <p:sp>
        <p:nvSpPr>
          <p:cNvPr id="8" name="Bob／買方">
            <a:extLst xmlns:a="http://schemas.openxmlformats.org/drawingml/2006/main">
              <a:ext uri="{FF2B5EF4-FFF2-40B4-BE49-F238E27FC236}">
                <a16:creationId xmlns:a16="http://schemas.microsoft.com/office/drawing/2014/main" id="{9C0C8C02-F606-494A-B53B-7579FBB5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09875"/>
            <a:ext cx="31432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F007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Bob／買方</a:t>
            </a:r>
          </a:p>
        </p:txBody>
      </p:sp>
      <p:cxnSp>
        <p:nvCxnSpPr>
          <p:cNvPr id="24" name=""/>
          <p:cNvCxnSpPr>
            <a:stCxn xmlns:a="http://schemas.openxmlformats.org/drawingml/2006/main" id="8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3505200" y="3224213"/>
            <a:ext cx="48768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FF007A"/>
            </a:solidFill>
            <a:prstDash val="solid"/>
            <a:tailEnd type="triangle" w="med" len="med"/>
          </a:ln>
        </p:spPr>
      </p:cxnSp>
      <p:sp>
        <p:nvSpPr>
          <p:cNvPr id="10" name="今天支付 5 USDG 權利金">
            <a:extLst xmlns:a="http://schemas.openxmlformats.org/drawingml/2006/main">
              <a:ext uri="{FF2B5EF4-FFF2-40B4-BE49-F238E27FC236}">
                <a16:creationId xmlns:a16="http://schemas.microsoft.com/office/drawing/2014/main" id="{296BECF7-6E5E-43C8-9E48-1DB6616CD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90800"/>
            <a:ext cx="409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今天支付 5 USDG 權利金</a:t>
            </a:r>
          </a:p>
        </p:txBody>
      </p:sp>
      <p:sp>
        <p:nvSpPr>
          <p:cNvPr id="11" name="350">
            <a:extLst xmlns:a="http://schemas.openxmlformats.org/drawingml/2006/main">
              <a:ext uri="{FF2B5EF4-FFF2-40B4-BE49-F238E27FC236}">
                <a16:creationId xmlns:a16="http://schemas.microsoft.com/office/drawing/2014/main" id="{B013E115-B077-4F8D-ADD8-3AF4F9BF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17195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5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350</a:t>
            </a:r>
          </a:p>
        </p:txBody>
      </p:sp>
      <p:sp>
        <p:nvSpPr>
          <p:cNvPr id="12" name="不履約">
            <a:extLst xmlns:a="http://schemas.openxmlformats.org/drawingml/2006/main">
              <a:ext uri="{FF2B5EF4-FFF2-40B4-BE49-F238E27FC236}">
                <a16:creationId xmlns:a16="http://schemas.microsoft.com/office/drawing/2014/main" id="{81FC9B1F-28A5-43C7-A5C0-709052D2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857750"/>
            <a:ext cx="4095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不履約</a:t>
            </a:r>
          </a:p>
        </p:txBody>
      </p:sp>
      <p:sp>
        <p:nvSpPr>
          <p:cNvPr id="13" name="450">
            <a:extLst xmlns:a="http://schemas.openxmlformats.org/drawingml/2006/main">
              <a:ext uri="{FF2B5EF4-FFF2-40B4-BE49-F238E27FC236}">
                <a16:creationId xmlns:a16="http://schemas.microsoft.com/office/drawing/2014/main" id="{0E3CF048-0592-4162-A189-CE0E8AEB4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17195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52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450</a:t>
            </a:r>
          </a:p>
        </p:txBody>
      </p:sp>
      <p:sp>
        <p:nvSpPr>
          <p:cNvPr id="14" name="付 400 USDG，取得 1 TSLA">
            <a:extLst xmlns:a="http://schemas.openxmlformats.org/drawingml/2006/main">
              <a:ext uri="{FF2B5EF4-FFF2-40B4-BE49-F238E27FC236}">
                <a16:creationId xmlns:a16="http://schemas.microsoft.com/office/drawing/2014/main" id="{747AE304-40B1-4973-A855-C97CF568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857750"/>
            <a:ext cx="53435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付 400 USDG，取得 1 TSLA</a:t>
            </a:r>
          </a:p>
        </p:txBody>
      </p:sp>
      <p:sp>
        <p:nvSpPr>
          <p:cNvPr id="15" name="Call 賣方準備 TSLA；put 賣方準備履約價 × 口數的 USDG">
            <a:extLst xmlns:a="http://schemas.openxmlformats.org/drawingml/2006/main">
              <a:ext uri="{FF2B5EF4-FFF2-40B4-BE49-F238E27FC236}">
                <a16:creationId xmlns:a16="http://schemas.microsoft.com/office/drawing/2014/main" id="{25002751-5A92-4D7E-8895-829DFC4BD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62625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Call 賣方準備 TSLA；put 賣方準備履約價 × 口數的 USDG</a:t>
            </a:r>
          </a:p>
        </p:txBody>
      </p:sp>
    </p:spTree>
    <p:extLst>
      <p:ext uri="{BB962C8B-B14F-4D97-AF65-F5344CB8AC3E}">
        <p14:creationId xmlns:p14="http://schemas.microsoft.com/office/powerpoint/2010/main" val="1319600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閒置抵押品與過時報價">
            <a:extLst xmlns:a="http://schemas.openxmlformats.org/drawingml/2006/main">
              <a:ext uri="{FF2B5EF4-FFF2-40B4-BE49-F238E27FC236}">
                <a16:creationId xmlns:a16="http://schemas.microsoft.com/office/drawing/2014/main" id="{68E29176-9635-48F7-AA4C-E345C29B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閒置抵押品與過時報價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0477546d3c4145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D67C5415-4F16-4162-A006-4585752E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3">
            <a:extLst xmlns:a="http://schemas.openxmlformats.org/drawingml/2006/main">
              <a:ext uri="{FF2B5EF4-FFF2-40B4-BE49-F238E27FC236}">
                <a16:creationId xmlns:a16="http://schemas.microsoft.com/office/drawing/2014/main" id="{8862DC01-5D3C-4233-9D09-21E2480E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5" name="買方出現前先鎖抵押品">
            <a:extLst xmlns:a="http://schemas.openxmlformats.org/drawingml/2006/main">
              <a:ext uri="{FF2B5EF4-FFF2-40B4-BE49-F238E27FC236}">
                <a16:creationId xmlns:a16="http://schemas.microsoft.com/office/drawing/2014/main" id="{3F7EE5DB-6A73-4999-BA23-9E2E8FCBB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14475"/>
            <a:ext cx="5381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買方出現前先鎖抵押品</a:t>
            </a:r>
          </a:p>
        </p:txBody>
      </p:sp>
      <p:sp>
        <p:nvSpPr>
          <p:cNvPr id="6" name="池價變動，報價仍固定">
            <a:extLst xmlns:a="http://schemas.openxmlformats.org/drawingml/2006/main">
              <a:ext uri="{FF2B5EF4-FFF2-40B4-BE49-F238E27FC236}">
                <a16:creationId xmlns:a16="http://schemas.microsoft.com/office/drawing/2014/main" id="{9FB7456A-D2D7-4E5D-B924-4BEB9E6D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514475"/>
            <a:ext cx="4905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池價變動，報價仍固定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657225" y="2219325"/>
          <a:ext xmlns:a="http://schemas.openxmlformats.org/drawingml/2006/main" cx="4962525" cy="25050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dd75174cdc04ccf"/>
          </a:graphicData>
        </a:graphic>
      </p:graphicFrame>
      <p:sp>
        <p:nvSpPr>
          <p:cNvPr id="8" name="━">
            <a:extLst xmlns:a="http://schemas.openxmlformats.org/drawingml/2006/main">
              <a:ext uri="{FF2B5EF4-FFF2-40B4-BE49-F238E27FC236}">
                <a16:creationId xmlns:a16="http://schemas.microsoft.com/office/drawing/2014/main" id="{82126451-DF30-4B0E-B038-AF71F6D7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529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━</a:t>
            </a:r>
          </a:p>
        </p:txBody>
      </p:sp>
      <p:sp>
        <p:nvSpPr>
          <p:cNvPr id="9" name="已售">
            <a:extLst xmlns:a="http://schemas.openxmlformats.org/drawingml/2006/main">
              <a:ext uri="{FF2B5EF4-FFF2-40B4-BE49-F238E27FC236}">
                <a16:creationId xmlns:a16="http://schemas.microsoft.com/office/drawing/2014/main" id="{0ECA291F-8A1D-4D16-9B82-DAC0BC01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52950"/>
            <a:ext cx="19240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已售</a:t>
            </a:r>
          </a:p>
        </p:txBody>
      </p:sp>
      <p:sp>
        <p:nvSpPr>
          <p:cNvPr id="10" name="━">
            <a:extLst xmlns:a="http://schemas.openxmlformats.org/drawingml/2006/main">
              <a:ext uri="{FF2B5EF4-FFF2-40B4-BE49-F238E27FC236}">
                <a16:creationId xmlns:a16="http://schemas.microsoft.com/office/drawing/2014/main" id="{C7AF49FE-CC07-4583-9AD3-2258C9872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529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━</a:t>
            </a:r>
          </a:p>
        </p:txBody>
      </p:sp>
      <p:sp>
        <p:nvSpPr>
          <p:cNvPr id="11" name="未售">
            <a:extLst xmlns:a="http://schemas.openxmlformats.org/drawingml/2006/main">
              <a:ext uri="{FF2B5EF4-FFF2-40B4-BE49-F238E27FC236}">
                <a16:creationId xmlns:a16="http://schemas.microsoft.com/office/drawing/2014/main" id="{CBC8F0AF-236D-4739-86AE-76ED68F2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552950"/>
            <a:ext cx="19240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未售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6477000" y="2238375"/>
          <a:ext xmlns:a="http://schemas.openxmlformats.org/drawingml/2006/main" cx="4972050" cy="25050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1c0db4b6284ec3"/>
          </a:graphicData>
        </a:graphic>
      </p:graphicFrame>
      <p:sp>
        <p:nvSpPr>
          <p:cNvPr id="13" name="示意：先存入抵押品的模式">
            <a:extLst xmlns:a="http://schemas.openxmlformats.org/drawingml/2006/main">
              <a:ext uri="{FF2B5EF4-FFF2-40B4-BE49-F238E27FC236}">
                <a16:creationId xmlns:a16="http://schemas.microsoft.com/office/drawing/2014/main" id="{A6BA6274-796F-42DE-913D-CEA4A375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81600"/>
            <a:ext cx="523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示意：先存入抵押品的模式</a:t>
            </a:r>
          </a:p>
        </p:txBody>
      </p:sp>
      <p:sp>
        <p:nvSpPr>
          <p:cNvPr id="14" name="示意價格路徑">
            <a:extLst xmlns:a="http://schemas.openxmlformats.org/drawingml/2006/main">
              <a:ext uri="{FF2B5EF4-FFF2-40B4-BE49-F238E27FC236}">
                <a16:creationId xmlns:a16="http://schemas.microsoft.com/office/drawing/2014/main" id="{AA3B6BF9-8055-426F-A4EB-E8F38DB4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181600"/>
            <a:ext cx="4667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示意價格路徑</a:t>
            </a:r>
          </a:p>
        </p:txBody>
      </p:sp>
      <p:sp>
        <p:nvSpPr>
          <p:cNvPr id="15" name="Aqua：成交才移動資金">
            <a:extLst xmlns:a="http://schemas.openxmlformats.org/drawingml/2006/main">
              <a:ext uri="{FF2B5EF4-FFF2-40B4-BE49-F238E27FC236}">
                <a16:creationId xmlns:a16="http://schemas.microsoft.com/office/drawing/2014/main" id="{8A95C7E5-2728-493C-ADBE-161FF910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43575"/>
            <a:ext cx="53435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Aqua：成交才移動資金</a:t>
            </a:r>
          </a:p>
        </p:txBody>
      </p:sp>
      <p:sp>
        <p:nvSpPr>
          <p:cNvPr id="16" name="Band：逐次檢查報價">
            <a:extLst xmlns:a="http://schemas.openxmlformats.org/drawingml/2006/main">
              <a:ext uri="{FF2B5EF4-FFF2-40B4-BE49-F238E27FC236}">
                <a16:creationId xmlns:a16="http://schemas.microsoft.com/office/drawing/2014/main" id="{431C11F3-30EE-4E5B-8D45-83B9676A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5743575"/>
            <a:ext cx="48672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Band：逐次檢查報價</a:t>
            </a:r>
          </a:p>
        </p:txBody>
      </p:sp>
    </p:spTree>
    <p:extLst>
      <p:ext uri="{BB962C8B-B14F-4D97-AF65-F5344CB8AC3E}">
        <p14:creationId xmlns:p14="http://schemas.microsoft.com/office/powerpoint/2010/main" val="5463199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公開整合的完整架構">
            <a:extLst xmlns:a="http://schemas.openxmlformats.org/drawingml/2006/main">
              <a:ext uri="{FF2B5EF4-FFF2-40B4-BE49-F238E27FC236}">
                <a16:creationId xmlns:a16="http://schemas.microsoft.com/office/drawing/2014/main" id="{FBFD7CF4-EBD1-4F74-BC64-F09F44242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公開整合的完整架構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dc866b54324b34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65732F10-E803-46D7-94DD-A786BE8C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4">
            <a:extLst xmlns:a="http://schemas.openxmlformats.org/drawingml/2006/main">
              <a:ext uri="{FF2B5EF4-FFF2-40B4-BE49-F238E27FC236}">
                <a16:creationId xmlns:a16="http://schemas.microsoft.com/office/drawing/2014/main" id="{C1B71E3D-A412-4FE3-93E8-F5FFCD33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5" name="造市者錢包">
            <a:extLst xmlns:a="http://schemas.openxmlformats.org/drawingml/2006/main">
              <a:ext uri="{FF2B5EF4-FFF2-40B4-BE49-F238E27FC236}">
                <a16:creationId xmlns:a16="http://schemas.microsoft.com/office/drawing/2014/main" id="{6C0F4CBD-3383-421C-AAA5-527EA2D3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38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AFAF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造市者錢包</a:t>
            </a:r>
          </a:p>
        </p:txBody>
      </p:sp>
      <p:sp>
        <p:nvSpPr>
          <p:cNvPr id="6" name="Aqua">
            <a:extLst xmlns:a="http://schemas.openxmlformats.org/drawingml/2006/main">
              <a:ext uri="{FF2B5EF4-FFF2-40B4-BE49-F238E27FC236}">
                <a16:creationId xmlns:a16="http://schemas.microsoft.com/office/drawing/2014/main" id="{F91EFADF-3DC3-4B21-BB71-AACC8EAB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33700"/>
            <a:ext cx="18859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37D67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Aqua</a:t>
            </a:r>
          </a:p>
        </p:txBody>
      </p:sp>
      <p:sp>
        <p:nvSpPr>
          <p:cNvPr id="7" name="Writer">
            <a:extLst xmlns:a="http://schemas.openxmlformats.org/drawingml/2006/main">
              <a:ext uri="{FF2B5EF4-FFF2-40B4-BE49-F238E27FC236}">
                <a16:creationId xmlns:a16="http://schemas.microsoft.com/office/drawing/2014/main" id="{49404732-EB1F-4909-AA7C-D6881E93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24100"/>
            <a:ext cx="17621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37D67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Writer</a:t>
            </a:r>
          </a:p>
        </p:txBody>
      </p:sp>
      <p:sp>
        <p:nvSpPr>
          <p:cNvPr id="8" name="Book">
            <a:extLst xmlns:a="http://schemas.openxmlformats.org/drawingml/2006/main">
              <a:ext uri="{FF2B5EF4-FFF2-40B4-BE49-F238E27FC236}">
                <a16:creationId xmlns:a16="http://schemas.microsoft.com/office/drawing/2014/main" id="{B0F45551-F322-4C22-AF55-7547FE02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324100"/>
            <a:ext cx="1714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37D67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Book</a:t>
            </a:r>
          </a:p>
        </p:txBody>
      </p:sp>
      <p:sp>
        <p:nvSpPr>
          <p:cNvPr id="9" name="SwapVM">
            <a:extLst xmlns:a="http://schemas.openxmlformats.org/drawingml/2006/main">
              <a:ext uri="{FF2B5EF4-FFF2-40B4-BE49-F238E27FC236}">
                <a16:creationId xmlns:a16="http://schemas.microsoft.com/office/drawing/2014/main" id="{71F0E054-EFCD-4AF7-931F-C8E86F0C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76750"/>
            <a:ext cx="17621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AFAF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SwapVM</a:t>
            </a:r>
          </a:p>
        </p:txBody>
      </p:sp>
      <p:sp>
        <p:nvSpPr>
          <p:cNvPr id="10" name="Guard">
            <a:extLst xmlns:a="http://schemas.openxmlformats.org/drawingml/2006/main">
              <a:ext uri="{FF2B5EF4-FFF2-40B4-BE49-F238E27FC236}">
                <a16:creationId xmlns:a16="http://schemas.microsoft.com/office/drawing/2014/main" id="{ADC76655-2602-4777-B593-8A73075F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476750"/>
            <a:ext cx="1714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37D67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Guard</a:t>
            </a:r>
          </a:p>
        </p:txBody>
      </p:sp>
      <p:sp>
        <p:nvSpPr>
          <p:cNvPr id="11" name="v4 hook&#10;+ band">
            <a:extLst xmlns:a="http://schemas.openxmlformats.org/drawingml/2006/main">
              <a:ext uri="{FF2B5EF4-FFF2-40B4-BE49-F238E27FC236}">
                <a16:creationId xmlns:a16="http://schemas.microsoft.com/office/drawing/2014/main" id="{E8A7CEFB-09D8-4AD4-8594-D31CEDBB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04925"/>
            <a:ext cx="1714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F007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v4 hook</a:t>
            </a:r>
          </a:p>
          <a:p xmlns:a="http://schemas.openxmlformats.org/drawingml/2006/main">
            <a:pPr algn="ctr">
              <a:defRPr sz="18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+ band</a:t>
            </a:r>
          </a:p>
        </p:txBody>
      </p:sp>
      <p:cxnSp>
        <p:nvCxnSpPr>
          <p:cNvPr id="33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990850" y="3409950"/>
            <a:ext cx="115252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37D67A"/>
            </a:solidFill>
            <a:prstDash val="solid"/>
            <a:tailEnd type="triangle" w="med" len="med"/>
          </a:ln>
        </p:spPr>
      </p:cxnSp>
      <p:cxnSp>
        <p:nvCxnSpPr>
          <p:cNvPr id="34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6029325" y="2714625"/>
            <a:ext cx="1209675" cy="6953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37D67A"/>
            </a:solidFill>
            <a:prstDash val="solid"/>
            <a:tailEnd type="triangle" w="med" len="med"/>
          </a:ln>
        </p:spPr>
      </p:cxnSp>
      <p:cxnSp>
        <p:nvCxnSpPr>
          <p:cNvPr id="35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001125" y="2714625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37D67A"/>
            </a:solidFill>
            <a:prstDash val="solid"/>
            <a:tailEnd type="triangle" w="med" len="med"/>
          </a:ln>
        </p:spPr>
      </p:cxnSp>
      <p:cxnSp>
        <p:nvCxnSpPr>
          <p:cNvPr id="36" name=""/>
          <p:cNvCxnSpPr>
            <a:stCxn xmlns:a="http://schemas.openxmlformats.org/drawingml/2006/main" id="6" idx="2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86350" y="3886200"/>
            <a:ext cx="2152650" cy="981075"/>
          </a:xfrm>
          <a:prstGeom xmlns:a="http://schemas.openxmlformats.org/drawingml/2006/main" prst="bentConnector5">
            <a:avLst>
              <a:gd name="adj1" fmla="val 0"/>
              <a:gd name="adj2" fmla="val 23301"/>
              <a:gd name="adj3" fmla="val 89381"/>
            </a:avLst>
          </a:prstGeom>
          <a:ln xmlns:a="http://schemas.openxmlformats.org/drawingml/2006/main" w="22860">
            <a:solidFill>
              <a:srgbClr val="37D67A"/>
            </a:solidFill>
            <a:prstDash val="solid"/>
            <a:tailEnd type="triangle" w="med" len="med"/>
          </a:ln>
        </p:spPr>
      </p:cxnSp>
      <p:cxnSp>
        <p:nvCxnSpPr>
          <p:cNvPr id="37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9001125" y="4867275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37D67A"/>
            </a:solidFill>
            <a:prstDash val="solid"/>
            <a:tailEnd type="triangle" w="med" len="med"/>
          </a:ln>
        </p:spPr>
      </p:cxnSp>
      <p:cxnSp>
        <p:nvCxnSpPr>
          <p:cNvPr id="38" name=""/>
          <p:cNvCxnSpPr>
            <a:stCxn xmlns:a="http://schemas.openxmlformats.org/drawingml/2006/main" id="11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10763250" y="2085975"/>
            <a:ext cx="0" cy="238125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FF007A"/>
            </a:solidFill>
            <a:prstDash val="solid"/>
            <a:tailEnd type="triangle" w="med" len="med"/>
          </a:ln>
        </p:spPr>
      </p:cxnSp>
      <p:sp>
        <p:nvSpPr>
          <p:cNvPr id="18" name="資金存取">
            <a:extLst xmlns:a="http://schemas.openxmlformats.org/drawingml/2006/main">
              <a:ext uri="{FF2B5EF4-FFF2-40B4-BE49-F238E27FC236}">
                <a16:creationId xmlns:a16="http://schemas.microsoft.com/office/drawing/2014/main" id="{46F848F7-8DB6-4CBE-AC03-9F9CACAF2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400300"/>
            <a:ext cx="2143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資金存取</a:t>
            </a:r>
          </a:p>
        </p:txBody>
      </p:sp>
      <p:sp>
        <p:nvSpPr>
          <p:cNvPr id="19" name="選擇權">
            <a:extLst xmlns:a="http://schemas.openxmlformats.org/drawingml/2006/main">
              <a:ext uri="{FF2B5EF4-FFF2-40B4-BE49-F238E27FC236}">
                <a16:creationId xmlns:a16="http://schemas.microsoft.com/office/drawing/2014/main" id="{298A0B01-FE1A-406C-9B93-ECA390AEF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766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選擇權</a:t>
            </a:r>
          </a:p>
        </p:txBody>
      </p:sp>
      <p:sp>
        <p:nvSpPr>
          <p:cNvPr id="20" name="現貨">
            <a:extLst xmlns:a="http://schemas.openxmlformats.org/drawingml/2006/main">
              <a:ext uri="{FF2B5EF4-FFF2-40B4-BE49-F238E27FC236}">
                <a16:creationId xmlns:a16="http://schemas.microsoft.com/office/drawing/2014/main" id="{5AD78229-CEF9-4F95-A118-F44CDA0D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4102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現貨</a:t>
            </a:r>
          </a:p>
        </p:txBody>
      </p:sp>
      <p:sp>
        <p:nvSpPr>
          <p:cNvPr id="21" name="同一份庫存，共用策略帳務">
            <a:extLst xmlns:a="http://schemas.openxmlformats.org/drawingml/2006/main">
              <a:ext uri="{FF2B5EF4-FFF2-40B4-BE49-F238E27FC236}">
                <a16:creationId xmlns:a16="http://schemas.microsoft.com/office/drawing/2014/main" id="{74B738E0-D7C7-4A6C-B1D6-9F9488D9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53075"/>
            <a:ext cx="628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同一份庫存，共用策略帳務</a:t>
            </a:r>
          </a:p>
        </p:txBody>
      </p:sp>
    </p:spTree>
    <p:extLst>
      <p:ext uri="{BB962C8B-B14F-4D97-AF65-F5344CB8AC3E}">
        <p14:creationId xmlns:p14="http://schemas.microsoft.com/office/powerpoint/2010/main" val="7239580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未成交承諾仍留在造市者錢包">
            <a:extLst xmlns:a="http://schemas.openxmlformats.org/drawingml/2006/main">
              <a:ext uri="{FF2B5EF4-FFF2-40B4-BE49-F238E27FC236}">
                <a16:creationId xmlns:a16="http://schemas.microsoft.com/office/drawing/2014/main" id="{71CC995F-314D-4424-8E15-C9E01B3A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未成交承諾仍留在造市者錢包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4fec2b9b424cdf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428DE62F-A4FE-446E-8A6D-DB34E7C4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5">
            <a:extLst xmlns:a="http://schemas.openxmlformats.org/drawingml/2006/main">
              <a:ext uri="{FF2B5EF4-FFF2-40B4-BE49-F238E27FC236}">
                <a16:creationId xmlns:a16="http://schemas.microsoft.com/office/drawing/2014/main" id="{2DCCCEC6-E46D-4FEF-86D9-67F44F09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5" name="10 口 call">
            <a:extLst xmlns:a="http://schemas.openxmlformats.org/drawingml/2006/main">
              <a:ext uri="{FF2B5EF4-FFF2-40B4-BE49-F238E27FC236}">
                <a16:creationId xmlns:a16="http://schemas.microsoft.com/office/drawing/2014/main" id="{7206976B-79BB-44E3-A3B3-45FCAB12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95425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10 口 call</a:t>
            </a:r>
          </a:p>
        </p:txBody>
      </p:sp>
      <p:sp>
        <p:nvSpPr>
          <p:cNvPr id="6" name="10 口 put，履約價 400">
            <a:extLst xmlns:a="http://schemas.openxmlformats.org/drawingml/2006/main">
              <a:ext uri="{FF2B5EF4-FFF2-40B4-BE49-F238E27FC236}">
                <a16:creationId xmlns:a16="http://schemas.microsoft.com/office/drawing/2014/main" id="{A1BB934C-E1C0-4042-A346-BDB2A523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495425"/>
            <a:ext cx="4333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10 口 put，履約價 400</a:t>
            </a:r>
          </a:p>
        </p:txBody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609600" y="2276475"/>
          <a:ext xmlns:a="http://schemas.openxmlformats.org/drawingml/2006/main" cx="3714750" cy="2647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bbfc9479ed143b9"/>
          </a:graphicData>
        </a:graphic>
      </p:graphicFrame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4743450" y="2276475"/>
          <a:ext xmlns:a="http://schemas.openxmlformats.org/drawingml/2006/main" cx="3714750" cy="2647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8f78c597c94a56"/>
          </a:graphicData>
        </a:graphic>
      </p:graphicFrame>
      <p:sp>
        <p:nvSpPr>
          <p:cNvPr id="9" name="30 TSLA">
            <a:extLst xmlns:a="http://schemas.openxmlformats.org/drawingml/2006/main">
              <a:ext uri="{FF2B5EF4-FFF2-40B4-BE49-F238E27FC236}">
                <a16:creationId xmlns:a16="http://schemas.microsoft.com/office/drawing/2014/main" id="{982063E1-C04B-4C04-B010-B1D3C2B7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9775"/>
            <a:ext cx="3714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30 TSLA</a:t>
            </a:r>
          </a:p>
        </p:txBody>
      </p:sp>
      <p:sp>
        <p:nvSpPr>
          <p:cNvPr id="10" name="20,000 USDG">
            <a:extLst xmlns:a="http://schemas.openxmlformats.org/drawingml/2006/main">
              <a:ext uri="{FF2B5EF4-FFF2-40B4-BE49-F238E27FC236}">
                <a16:creationId xmlns:a16="http://schemas.microsoft.com/office/drawing/2014/main" id="{8D9B6F98-61C0-44EE-8088-E0E16428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09775"/>
            <a:ext cx="38957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20,000 USDG</a:t>
            </a:r>
          </a:p>
        </p:txBody>
      </p:sp>
      <p:sp>
        <p:nvSpPr>
          <p:cNvPr id="11" name="0">
            <a:extLst xmlns:a="http://schemas.openxmlformats.org/drawingml/2006/main">
              <a:ext uri="{FF2B5EF4-FFF2-40B4-BE49-F238E27FC236}">
                <a16:creationId xmlns:a16="http://schemas.microsoft.com/office/drawing/2014/main" id="{8D09AACD-ED91-4804-8C65-7BE63A6ED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428875"/>
            <a:ext cx="19050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0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840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12" name="Book 代幣">
            <a:extLst xmlns:a="http://schemas.openxmlformats.org/drawingml/2006/main">
              <a:ext uri="{FF2B5EF4-FFF2-40B4-BE49-F238E27FC236}">
                <a16:creationId xmlns:a16="http://schemas.microsoft.com/office/drawing/2014/main" id="{8631490F-F388-4C60-B253-926CEA87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4076700"/>
            <a:ext cx="228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Book 代幣</a:t>
            </a:r>
          </a:p>
        </p:txBody>
      </p:sp>
      <p:sp>
        <p:nvSpPr>
          <p:cNvPr id="13" name="━">
            <a:extLst xmlns:a="http://schemas.openxmlformats.org/drawingml/2006/main">
              <a:ext uri="{FF2B5EF4-FFF2-40B4-BE49-F238E27FC236}">
                <a16:creationId xmlns:a16="http://schemas.microsoft.com/office/drawing/2014/main" id="{FD5F5BFA-B8ED-4DB5-A283-5A2F6E8D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00625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━</a:t>
            </a:r>
          </a:p>
        </p:txBody>
      </p:sp>
      <p:sp>
        <p:nvSpPr>
          <p:cNvPr id="14" name="已承諾">
            <a:extLst xmlns:a="http://schemas.openxmlformats.org/drawingml/2006/main">
              <a:ext uri="{FF2B5EF4-FFF2-40B4-BE49-F238E27FC236}">
                <a16:creationId xmlns:a16="http://schemas.microsoft.com/office/drawing/2014/main" id="{EA446A49-EA48-4463-B266-2003E74B9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5000625"/>
            <a:ext cx="26860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已承諾</a:t>
            </a:r>
          </a:p>
        </p:txBody>
      </p:sp>
      <p:sp>
        <p:nvSpPr>
          <p:cNvPr id="15" name="━">
            <a:extLst xmlns:a="http://schemas.openxmlformats.org/drawingml/2006/main">
              <a:ext uri="{FF2B5EF4-FFF2-40B4-BE49-F238E27FC236}">
                <a16:creationId xmlns:a16="http://schemas.microsoft.com/office/drawing/2014/main" id="{D79EFB17-D980-47D8-90FC-19C9B2E5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000625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━</a:t>
            </a:r>
          </a:p>
        </p:txBody>
      </p:sp>
      <p:sp>
        <p:nvSpPr>
          <p:cNvPr id="16" name="未承諾">
            <a:extLst xmlns:a="http://schemas.openxmlformats.org/drawingml/2006/main">
              <a:ext uri="{FF2B5EF4-FFF2-40B4-BE49-F238E27FC236}">
                <a16:creationId xmlns:a16="http://schemas.microsoft.com/office/drawing/2014/main" id="{9D2B707D-287C-41F7-B311-EFE77CEF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000625"/>
            <a:ext cx="26860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未承諾</a:t>
            </a:r>
          </a:p>
        </p:txBody>
      </p:sp>
      <p:sp>
        <p:nvSpPr>
          <p:cNvPr id="17" name="Ship 與 post 不轉移代幣；虛擬額度不是額外資產">
            <a:extLst xmlns:a="http://schemas.openxmlformats.org/drawingml/2006/main">
              <a:ext uri="{FF2B5EF4-FFF2-40B4-BE49-F238E27FC236}">
                <a16:creationId xmlns:a16="http://schemas.microsoft.com/office/drawing/2014/main" id="{B5402851-1B35-4E40-9108-304E20EF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Ship 與 post 不轉移代幣；虛擬額度不是額外資產</a:t>
            </a:r>
          </a:p>
        </p:txBody>
      </p:sp>
    </p:spTree>
    <p:extLst>
      <p:ext uri="{BB962C8B-B14F-4D97-AF65-F5344CB8AC3E}">
        <p14:creationId xmlns:p14="http://schemas.microsoft.com/office/powerpoint/2010/main" val="9125223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現貨 guard 保護未成交承諾">
            <a:extLst xmlns:a="http://schemas.openxmlformats.org/drawingml/2006/main">
              <a:ext uri="{FF2B5EF4-FFF2-40B4-BE49-F238E27FC236}">
                <a16:creationId xmlns:a16="http://schemas.microsoft.com/office/drawing/2014/main" id="{4D0BDAF0-27DB-4D2B-9922-A310374D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現貨 guard 保護未成交承諾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4c7b7bc1e14b92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A3B009C2-7109-42FE-BA4A-719A1A50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6">
            <a:extLst xmlns:a="http://schemas.openxmlformats.org/drawingml/2006/main">
              <a:ext uri="{FF2B5EF4-FFF2-40B4-BE49-F238E27FC236}">
                <a16:creationId xmlns:a16="http://schemas.microsoft.com/office/drawing/2014/main" id="{C47EDCE9-422F-4E96-957C-9052C3FE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  <p:sp>
        <p:nvSpPr>
          <p:cNvPr id="5" name="可用庫存 = 錢包餘額 − 已承諾">
            <a:extLst xmlns:a="http://schemas.openxmlformats.org/drawingml/2006/main">
              <a:ext uri="{FF2B5EF4-FFF2-40B4-BE49-F238E27FC236}">
                <a16:creationId xmlns:a16="http://schemas.microsoft.com/office/drawing/2014/main" id="{B26143F0-81F7-4984-890D-5D885184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192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可用庫存 = 錢包餘額 − 已承諾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28650" y="2381250"/>
          <a:ext xmlns:a="http://schemas.openxmlformats.org/drawingml/2006/main" cx="7353300" cy="3124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1c9feff651444a"/>
          </a:graphicData>
        </a:graphic>
      </p:graphicFrame>
      <p:sp>
        <p:nvSpPr>
          <p:cNvPr id="7" name="29.05 &gt; 10">
            <a:extLst xmlns:a="http://schemas.openxmlformats.org/drawingml/2006/main">
              <a:ext uri="{FF2B5EF4-FFF2-40B4-BE49-F238E27FC236}">
                <a16:creationId xmlns:a16="http://schemas.microsoft.com/office/drawing/2014/main" id="{3411342A-BC54-496B-8A9E-DA051181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362200"/>
            <a:ext cx="2857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29.05 &gt; 10</a:t>
            </a:r>
          </a:p>
        </p:txBody>
      </p:sp>
      <p:sp>
        <p:nvSpPr>
          <p:cNvPr id="8" name="承諾仍有足額支撐">
            <a:extLst xmlns:a="http://schemas.openxmlformats.org/drawingml/2006/main">
              <a:ext uri="{FF2B5EF4-FFF2-40B4-BE49-F238E27FC236}">
                <a16:creationId xmlns:a16="http://schemas.microsoft.com/office/drawing/2014/main" id="{2BBC67A3-3FA2-4FD6-8119-03E5214C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57525"/>
            <a:ext cx="2914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承諾仍有足額支撐</a:t>
            </a:r>
          </a:p>
        </p:txBody>
      </p:sp>
      <p:sp>
        <p:nvSpPr>
          <p:cNvPr id="9" name="9 &lt; 10">
            <a:extLst xmlns:a="http://schemas.openxmlformats.org/drawingml/2006/main">
              <a:ext uri="{FF2B5EF4-FFF2-40B4-BE49-F238E27FC236}">
                <a16:creationId xmlns:a16="http://schemas.microsoft.com/office/drawing/2014/main" id="{919E9788-431D-4697-B892-59D928C2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038600"/>
            <a:ext cx="2857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00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rPr>
              <a:t>9 &lt; 10</a:t>
            </a:r>
          </a:p>
        </p:txBody>
      </p:sp>
      <p:sp>
        <p:nvSpPr>
          <p:cNvPr id="10" name="後續成交拒絕">
            <a:extLst xmlns:a="http://schemas.openxmlformats.org/drawingml/2006/main">
              <a:ext uri="{FF2B5EF4-FFF2-40B4-BE49-F238E27FC236}">
                <a16:creationId xmlns:a16="http://schemas.microsoft.com/office/drawing/2014/main" id="{8DD6A687-9584-4654-AF69-3551582F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667250"/>
            <a:ext cx="2914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後續成交拒絕</a:t>
            </a:r>
          </a:p>
        </p:txBody>
      </p:sp>
      <p:sp>
        <p:nvSpPr>
          <p:cNvPr id="11" name="獨立情境：有 guard 交易 400 USDG；無 guard 賣出 21 TSLA">
            <a:extLst xmlns:a="http://schemas.openxmlformats.org/drawingml/2006/main">
              <a:ext uri="{FF2B5EF4-FFF2-40B4-BE49-F238E27FC236}">
                <a16:creationId xmlns:a16="http://schemas.microsoft.com/office/drawing/2014/main" id="{0081A471-F2EB-4790-8152-E96EA9CD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獨立情境：有 guard 交易 400 USDG；無 guard 賣出 21 TSLA</a:t>
            </a:r>
          </a:p>
        </p:txBody>
      </p:sp>
    </p:spTree>
    <p:extLst>
      <p:ext uri="{BB962C8B-B14F-4D97-AF65-F5344CB8AC3E}">
        <p14:creationId xmlns:p14="http://schemas.microsoft.com/office/powerpoint/2010/main" val="12667539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成交時拉取剛好的抵押品">
            <a:extLst xmlns:a="http://schemas.openxmlformats.org/drawingml/2006/main">
              <a:ext uri="{FF2B5EF4-FFF2-40B4-BE49-F238E27FC236}">
                <a16:creationId xmlns:a16="http://schemas.microsoft.com/office/drawing/2014/main" id="{600704B5-B844-46E3-9547-B18319B3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成交時拉取剛好的抵押品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82445989cd4c1b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ACBFA8E9-CC44-483C-AAD4-58956E15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7">
            <a:extLst xmlns:a="http://schemas.openxmlformats.org/drawingml/2006/main">
              <a:ext uri="{FF2B5EF4-FFF2-40B4-BE49-F238E27FC236}">
                <a16:creationId xmlns:a16="http://schemas.microsoft.com/office/drawing/2014/main" id="{A820835B-FF60-4354-B3C4-7FAE7D22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  <p:sp>
        <p:nvSpPr>
          <p:cNvPr id="5" name="5 口 call + 3 口 put">
            <a:extLst xmlns:a="http://schemas.openxmlformats.org/drawingml/2006/main">
              <a:ext uri="{FF2B5EF4-FFF2-40B4-BE49-F238E27FC236}">
                <a16:creationId xmlns:a16="http://schemas.microsoft.com/office/drawing/2014/main" id="{2C980826-16B1-4354-9BD5-520ABF3C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771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62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5 口 call + 3 口 put</a:t>
            </a:r>
          </a:p>
        </p:txBody>
      </p:sp>
      <p:sp>
        <p:nvSpPr>
          <p:cNvPr id="6" name="造市者">
            <a:extLst xmlns:a="http://schemas.openxmlformats.org/drawingml/2006/main">
              <a:ext uri="{FF2B5EF4-FFF2-40B4-BE49-F238E27FC236}">
                <a16:creationId xmlns:a16="http://schemas.microsoft.com/office/drawing/2014/main" id="{DFFC09AB-E813-49A9-B063-68B19294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81313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AFAF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造市者</a:t>
            </a:r>
          </a:p>
        </p:txBody>
      </p:sp>
      <p:sp>
        <p:nvSpPr>
          <p:cNvPr id="7" name="Aqua.pull">
            <a:extLst xmlns:a="http://schemas.openxmlformats.org/drawingml/2006/main">
              <a:ext uri="{FF2B5EF4-FFF2-40B4-BE49-F238E27FC236}">
                <a16:creationId xmlns:a16="http://schemas.microsoft.com/office/drawing/2014/main" id="{C21ED78C-931D-4384-8185-BC28EF32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81313"/>
            <a:ext cx="2286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37D67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Aqua.pull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E5F396-BDB0-4C6A-86B6-FF562EA4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476500"/>
            <a:ext cx="26670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AFAF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Book">
            <a:extLst xmlns:a="http://schemas.openxmlformats.org/drawingml/2006/main">
              <a:ext uri="{FF2B5EF4-FFF2-40B4-BE49-F238E27FC236}">
                <a16:creationId xmlns:a16="http://schemas.microsoft.com/office/drawing/2014/main" id="{A36182ED-1DCE-4FD3-985D-2AAD8142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2228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Book</a:t>
            </a:r>
          </a:p>
        </p:txBody>
      </p:sp>
      <p:cxnSp>
        <p:nvCxnSpPr>
          <p:cNvPr id="3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00375" y="3357563"/>
            <a:ext cx="145732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37D67A"/>
            </a:solidFill>
            <a:prstDash val="solid"/>
            <a:tailEnd type="triangle" w="med" len="med"/>
          </a:ln>
        </p:spPr>
      </p:cxnSp>
      <p:cxnSp>
        <p:nvCxnSpPr>
          <p:cNvPr id="3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6743700" y="3357563"/>
            <a:ext cx="20859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37D67A"/>
            </a:solidFill>
            <a:prstDash val="solid"/>
            <a:tailEnd type="triangle" w="med" len="med"/>
          </a:ln>
        </p:spPr>
      </p:cxnSp>
      <p:sp>
        <p:nvSpPr>
          <p:cNvPr id="12" name="5 TSLA + 1,200 USDG">
            <a:extLst xmlns:a="http://schemas.openxmlformats.org/drawingml/2006/main">
              <a:ext uri="{FF2B5EF4-FFF2-40B4-BE49-F238E27FC236}">
                <a16:creationId xmlns:a16="http://schemas.microsoft.com/office/drawing/2014/main" id="{41E559B4-AA25-4CD8-969B-DA2FC226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28850"/>
            <a:ext cx="4695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5 TSLA + 1,200 USDG</a:t>
            </a:r>
          </a:p>
        </p:txBody>
      </p:sp>
      <p:sp>
        <p:nvSpPr>
          <p:cNvPr id="13" name="買方">
            <a:extLst xmlns:a="http://schemas.openxmlformats.org/drawingml/2006/main">
              <a:ext uri="{FF2B5EF4-FFF2-40B4-BE49-F238E27FC236}">
                <a16:creationId xmlns:a16="http://schemas.microsoft.com/office/drawing/2014/main" id="{D943BA6E-6AA4-4616-9723-22B5B2AD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524375"/>
            <a:ext cx="2286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F007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買方</a:t>
            </a:r>
          </a:p>
        </p:txBody>
      </p:sp>
      <p:cxnSp>
        <p:nvCxnSpPr>
          <p:cNvPr id="35" name=""/>
          <p:cNvCxnSpPr>
            <a:stCxn xmlns:a="http://schemas.openxmlformats.org/drawingml/2006/main" id="13" idx="3"/>
            <a:endCxn xmlns:a="http://schemas.openxmlformats.org/drawingml/2006/main" id="8" idx="2"/>
          </p:cNvCxnSpPr>
          <p:nvPr/>
        </p:nvCxnSpPr>
        <p:spPr>
          <a:xfrm xmlns:a="http://schemas.openxmlformats.org/drawingml/2006/main" flipV="1">
            <a:off x="6743700" y="4238625"/>
            <a:ext cx="3419475" cy="762000"/>
          </a:xfrm>
          <a:prstGeom xmlns:a="http://schemas.openxmlformats.org/drawingml/2006/main" prst="bentConnector2">
            <a:avLst/>
          </a:prstGeom>
          <a:ln xmlns:a="http://schemas.openxmlformats.org/drawingml/2006/main" w="22860">
            <a:solidFill>
              <a:srgbClr val="FF007A"/>
            </a:solidFill>
            <a:prstDash val="solid"/>
            <a:tailEnd type="triangle" w="med" len="med"/>
          </a:ln>
        </p:spPr>
      </p:cxnSp>
      <p:sp>
        <p:nvSpPr>
          <p:cNvPr id="15" name="64.0064 USDG 權利金">
            <a:extLst xmlns:a="http://schemas.openxmlformats.org/drawingml/2006/main">
              <a:ext uri="{FF2B5EF4-FFF2-40B4-BE49-F238E27FC236}">
                <a16:creationId xmlns:a16="http://schemas.microsoft.com/office/drawing/2014/main" id="{6FE1A226-A170-4F9C-86F4-193D5924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5219700"/>
            <a:ext cx="4286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64.0064 USDG 權利金</a:t>
            </a:r>
          </a:p>
        </p:txBody>
      </p:sp>
      <p:sp>
        <p:nvSpPr>
          <p:cNvPr id="16" name="5 call + 3 put 多頭部位">
            <a:extLst xmlns:a="http://schemas.openxmlformats.org/drawingml/2006/main">
              <a:ext uri="{FF2B5EF4-FFF2-40B4-BE49-F238E27FC236}">
                <a16:creationId xmlns:a16="http://schemas.microsoft.com/office/drawing/2014/main" id="{0D93EE48-193C-484F-8E03-27CBBF6C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572125"/>
            <a:ext cx="4286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5 call + 3 put 多頭部位</a:t>
            </a:r>
          </a:p>
        </p:txBody>
      </p:sp>
      <p:sp>
        <p:nvSpPr>
          <p:cNvPr id="17" name="5 TSLA">
            <a:extLst xmlns:a="http://schemas.openxmlformats.org/drawingml/2006/main">
              <a:ext uri="{FF2B5EF4-FFF2-40B4-BE49-F238E27FC236}">
                <a16:creationId xmlns:a16="http://schemas.microsoft.com/office/drawing/2014/main" id="{880F460E-EDD0-4BDD-B54B-57859FEF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81350"/>
            <a:ext cx="2228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5 TSLA</a:t>
            </a:r>
          </a:p>
        </p:txBody>
      </p:sp>
      <p:sp>
        <p:nvSpPr>
          <p:cNvPr id="18" name="1,264.0064 USDG">
            <a:extLst xmlns:a="http://schemas.openxmlformats.org/drawingml/2006/main">
              <a:ext uri="{FF2B5EF4-FFF2-40B4-BE49-F238E27FC236}">
                <a16:creationId xmlns:a16="http://schemas.microsoft.com/office/drawing/2014/main" id="{ED3C7717-970E-49C3-8845-5C75DD2A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752850"/>
            <a:ext cx="2419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1,264.0064 USDG</a:t>
            </a:r>
          </a:p>
        </p:txBody>
      </p:sp>
      <p:sp>
        <p:nvSpPr>
          <p:cNvPr id="19" name="未成交承諾">
            <a:extLst xmlns:a="http://schemas.openxmlformats.org/drawingml/2006/main">
              <a:ext uri="{FF2B5EF4-FFF2-40B4-BE49-F238E27FC236}">
                <a16:creationId xmlns:a16="http://schemas.microsoft.com/office/drawing/2014/main" id="{F4FE7B61-1AF3-4F08-B4C6-972D9EA2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4342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未成交承諾</a:t>
            </a:r>
          </a:p>
        </p:txBody>
      </p:sp>
      <p:sp>
        <p:nvSpPr>
          <p:cNvPr id="20" name="5 TSLA">
            <a:extLst xmlns:a="http://schemas.openxmlformats.org/drawingml/2006/main">
              <a:ext uri="{FF2B5EF4-FFF2-40B4-BE49-F238E27FC236}">
                <a16:creationId xmlns:a16="http://schemas.microsoft.com/office/drawing/2014/main" id="{196471D4-93D0-49E5-85ED-445C9449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5 TSLA</a:t>
            </a:r>
          </a:p>
        </p:txBody>
      </p:sp>
      <p:sp>
        <p:nvSpPr>
          <p:cNvPr id="21" name="2,800 USDG">
            <a:extLst xmlns:a="http://schemas.openxmlformats.org/drawingml/2006/main">
              <a:ext uri="{FF2B5EF4-FFF2-40B4-BE49-F238E27FC236}">
                <a16:creationId xmlns:a16="http://schemas.microsoft.com/office/drawing/2014/main" id="{FA7074FA-6089-4C2E-B145-9409DF14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2,800 USDG</a:t>
            </a:r>
          </a:p>
        </p:txBody>
      </p:sp>
    </p:spTree>
    <p:extLst>
      <p:ext uri="{BB962C8B-B14F-4D97-AF65-F5344CB8AC3E}">
        <p14:creationId xmlns:p14="http://schemas.microsoft.com/office/powerpoint/2010/main" val="8814956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Hook 如何記錄價格">
            <a:extLst xmlns:a="http://schemas.openxmlformats.org/drawingml/2006/main">
              <a:ext uri="{FF2B5EF4-FFF2-40B4-BE49-F238E27FC236}">
                <a16:creationId xmlns:a16="http://schemas.microsoft.com/office/drawing/2014/main" id="{F54727B9-AC1B-441C-B796-2BF76CF2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Hook 如何記錄價格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590e3fc5034c54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06FF1127-E5E9-4809-86B8-5D92A2BD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8">
            <a:extLst xmlns:a="http://schemas.openxmlformats.org/drawingml/2006/main">
              <a:ext uri="{FF2B5EF4-FFF2-40B4-BE49-F238E27FC236}">
                <a16:creationId xmlns:a16="http://schemas.microsoft.com/office/drawing/2014/main" id="{EB6A9DAC-4BB9-4EEF-A482-8EB90A17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  <p:sp>
        <p:nvSpPr>
          <p:cNvPr id="5" name="每秒第一筆 swap 之前">
            <a:extLst xmlns:a="http://schemas.openxmlformats.org/drawingml/2006/main">
              <a:ext uri="{FF2B5EF4-FFF2-40B4-BE49-F238E27FC236}">
                <a16:creationId xmlns:a16="http://schemas.microsoft.com/office/drawing/2014/main" id="{8E9603BD-D659-4EE4-9E5B-A212BDFA1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438275"/>
            <a:ext cx="771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每秒第一筆 swap 之前</a:t>
            </a:r>
          </a:p>
        </p:txBody>
      </p:sp>
      <p:sp>
        <p:nvSpPr>
          <p:cNvPr id="6" name="記錄">
            <a:extLst xmlns:a="http://schemas.openxmlformats.org/drawingml/2006/main">
              <a:ext uri="{FF2B5EF4-FFF2-40B4-BE49-F238E27FC236}">
                <a16:creationId xmlns:a16="http://schemas.microsoft.com/office/drawing/2014/main" id="{B76FCB36-0922-4CE1-9EA6-2BAACDD2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37D67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記錄</a:t>
            </a:r>
          </a:p>
        </p:txBody>
      </p:sp>
      <p:sp>
        <p:nvSpPr>
          <p:cNvPr id="7" name="推價">
            <a:extLst xmlns:a="http://schemas.openxmlformats.org/drawingml/2006/main">
              <a:ext uri="{FF2B5EF4-FFF2-40B4-BE49-F238E27FC236}">
                <a16:creationId xmlns:a16="http://schemas.microsoft.com/office/drawing/2014/main" id="{3C1EC487-9BC7-4A48-961E-6776233E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8600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F007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推價</a:t>
            </a:r>
          </a:p>
        </p:txBody>
      </p:sp>
      <p:sp>
        <p:nvSpPr>
          <p:cNvPr id="8" name="拉回">
            <a:extLst xmlns:a="http://schemas.openxmlformats.org/drawingml/2006/main">
              <a:ext uri="{FF2B5EF4-FFF2-40B4-BE49-F238E27FC236}">
                <a16:creationId xmlns:a16="http://schemas.microsoft.com/office/drawing/2014/main" id="{2F61BEC5-D661-4F7E-BA9E-8B3A9929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8600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37D67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拉回</a:t>
            </a:r>
          </a:p>
        </p:txBody>
      </p:sp>
      <p:sp>
        <p:nvSpPr>
          <p:cNvPr id="9" name="下秒記錄">
            <a:extLst xmlns:a="http://schemas.openxmlformats.org/drawingml/2006/main">
              <a:ext uri="{FF2B5EF4-FFF2-40B4-BE49-F238E27FC236}">
                <a16:creationId xmlns:a16="http://schemas.microsoft.com/office/drawing/2014/main" id="{51407581-CC73-4BA7-B9B1-9E7F15A6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28600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37D67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下秒記錄</a:t>
            </a:r>
          </a:p>
        </p:txBody>
      </p:sp>
      <p:cxnSp>
        <p:nvCxnSpPr>
          <p:cNvPr id="29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857500" y="2695575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A8A8B2"/>
            </a:solidFill>
            <a:prstDash val="solid"/>
            <a:tailEnd type="triangle" w="med" len="med"/>
          </a:ln>
        </p:spPr>
      </p:cxnSp>
      <p:cxnSp>
        <p:nvCxnSpPr>
          <p:cNvPr id="30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762625" y="2695575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A8A8B2"/>
            </a:solidFill>
            <a:prstDash val="solid"/>
            <a:tailEnd type="triangle" w="med" len="med"/>
          </a:ln>
        </p:spPr>
      </p:cxnSp>
      <p:cxnSp>
        <p:nvCxnSpPr>
          <p:cNvPr id="31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667750" y="2695575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A8A8B2"/>
            </a:solidFill>
            <a:prstDash val="solid"/>
            <a:tailEnd type="triangle" w="med" len="med"/>
          </a:ln>
        </p:spPr>
      </p:cxnSp>
      <p:sp>
        <p:nvSpPr>
          <p:cNvPr id="13" name="同一交易內推價再拉回">
            <a:extLst xmlns:a="http://schemas.openxmlformats.org/drawingml/2006/main">
              <a:ext uri="{FF2B5EF4-FFF2-40B4-BE49-F238E27FC236}">
                <a16:creationId xmlns:a16="http://schemas.microsoft.com/office/drawing/2014/main" id="{C852A4AF-74EE-4F56-B2F0-25D3427E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390900"/>
            <a:ext cx="51720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同一交易內推價再拉回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A3CCFB-C099-4628-BE04-042203F8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0957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333D"/>
            </a:solidFill>
          </a:ln>
        </p:spPr>
      </p:sp>
      <p:sp>
        <p:nvSpPr>
          <p:cNvPr id="15" name="原始 tick TWAP">
            <a:extLst xmlns:a="http://schemas.openxmlformats.org/drawingml/2006/main">
              <a:ext uri="{FF2B5EF4-FFF2-40B4-BE49-F238E27FC236}">
                <a16:creationId xmlns:a16="http://schemas.microsoft.com/office/drawing/2014/main" id="{C6149BC4-FF69-48F6-9872-41D6E1BD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5143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6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原始 tick TWAP</a:t>
            </a:r>
          </a:p>
        </p:txBody>
      </p:sp>
      <p:sp>
        <p:nvSpPr>
          <p:cNvPr id="16" name="截斷 tick TWAP">
            <a:extLst xmlns:a="http://schemas.openxmlformats.org/drawingml/2006/main">
              <a:ext uri="{FF2B5EF4-FFF2-40B4-BE49-F238E27FC236}">
                <a16:creationId xmlns:a16="http://schemas.microsoft.com/office/drawing/2014/main" id="{4B2E3ABA-E011-4313-8A8D-B5DAC44D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381500"/>
            <a:ext cx="5048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6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截斷 tick TWAP</a:t>
            </a:r>
          </a:p>
        </p:txBody>
      </p:sp>
      <p:sp>
        <p:nvSpPr>
          <p:cNvPr id="17" name="1 小時中心">
            <a:extLst xmlns:a="http://schemas.openxmlformats.org/drawingml/2006/main">
              <a:ext uri="{FF2B5EF4-FFF2-40B4-BE49-F238E27FC236}">
                <a16:creationId xmlns:a16="http://schemas.microsoft.com/office/drawing/2014/main" id="{B475E2D6-3F3C-4357-8EE2-BCAFAEA3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00625"/>
            <a:ext cx="5143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1 小時中心</a:t>
            </a:r>
          </a:p>
        </p:txBody>
      </p:sp>
      <p:sp>
        <p:nvSpPr>
          <p:cNvPr id="18" name="每次記錄最多 250 ticks">
            <a:extLst xmlns:a="http://schemas.openxmlformats.org/drawingml/2006/main">
              <a:ext uri="{FF2B5EF4-FFF2-40B4-BE49-F238E27FC236}">
                <a16:creationId xmlns:a16="http://schemas.microsoft.com/office/drawing/2014/main" id="{33FF1229-C205-4CED-9909-6B5FA237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5000625"/>
            <a:ext cx="5048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每次記錄最多 250 ticks</a:t>
            </a:r>
          </a:p>
        </p:txBody>
      </p:sp>
      <p:sp>
        <p:nvSpPr>
          <p:cNvPr id="19" name="OpenZeppelin／Panoptic oracle；持續偏移仍會成為新中心">
            <a:extLst xmlns:a="http://schemas.openxmlformats.org/drawingml/2006/main">
              <a:ext uri="{FF2B5EF4-FFF2-40B4-BE49-F238E27FC236}">
                <a16:creationId xmlns:a16="http://schemas.microsoft.com/office/drawing/2014/main" id="{FACD6741-660B-4D2E-A0B0-6FAAE48B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8167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OpenZeppelin／Panoptic oracle；持續偏移仍會成為新中心</a:t>
            </a:r>
          </a:p>
        </p:txBody>
      </p:sp>
    </p:spTree>
    <p:extLst>
      <p:ext uri="{BB962C8B-B14F-4D97-AF65-F5344CB8AC3E}">
        <p14:creationId xmlns:p14="http://schemas.microsoft.com/office/powerpoint/2010/main" val="14923886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價格參考決定固定百分比價格帶">
            <a:extLst xmlns:a="http://schemas.openxmlformats.org/drawingml/2006/main">
              <a:ext uri="{FF2B5EF4-FFF2-40B4-BE49-F238E27FC236}">
                <a16:creationId xmlns:a16="http://schemas.microsoft.com/office/drawing/2014/main" id="{F8CDBEA9-D171-4B72-8897-FAF0314A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價格參考決定固定百分比價格帶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cd44ddad334de8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046166EB-C691-42D3-A01A-F10E28C2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9">
            <a:extLst xmlns:a="http://schemas.openxmlformats.org/drawingml/2006/main">
              <a:ext uri="{FF2B5EF4-FFF2-40B4-BE49-F238E27FC236}">
                <a16:creationId xmlns:a16="http://schemas.microsoft.com/office/drawing/2014/main" id="{AF3CE6E0-EB0C-46F9-A3D9-6094FF30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52450" y="1981200"/>
          <a:ext xmlns:a="http://schemas.openxmlformats.org/drawingml/2006/main" cx="8029575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f14dbcc758a41c5"/>
          </a:graphicData>
        </a:graphic>
      </p:graphicFrame>
      <p:sp>
        <p:nvSpPr>
          <p:cNvPr id="6" name="USDG">
            <a:extLst xmlns:a="http://schemas.openxmlformats.org/drawingml/2006/main">
              <a:ext uri="{FF2B5EF4-FFF2-40B4-BE49-F238E27FC236}">
                <a16:creationId xmlns:a16="http://schemas.microsoft.com/office/drawing/2014/main" id="{874609D7-317A-4CFC-B032-D8188354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USDG</a:t>
            </a:r>
          </a:p>
        </p:txBody>
      </p:sp>
      <p:sp>
        <p:nvSpPr>
          <p:cNvPr id="7" name="━">
            <a:extLst xmlns:a="http://schemas.openxmlformats.org/drawingml/2006/main">
              <a:ext uri="{FF2B5EF4-FFF2-40B4-BE49-F238E27FC236}">
                <a16:creationId xmlns:a16="http://schemas.microsoft.com/office/drawing/2014/main" id="{ACA791E6-7283-4F9C-8CCB-677F1DAFA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3911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━</a:t>
            </a:r>
          </a:p>
        </p:txBody>
      </p:sp>
      <p:sp>
        <p:nvSpPr>
          <p:cNvPr id="8" name="即時參考">
            <a:extLst xmlns:a="http://schemas.openxmlformats.org/drawingml/2006/main">
              <a:ext uri="{FF2B5EF4-FFF2-40B4-BE49-F238E27FC236}">
                <a16:creationId xmlns:a16="http://schemas.microsoft.com/office/drawing/2014/main" id="{52D6C836-5A54-4D55-AC39-13E97ECB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391150"/>
            <a:ext cx="1876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即時參考</a:t>
            </a:r>
          </a:p>
        </p:txBody>
      </p:sp>
      <p:sp>
        <p:nvSpPr>
          <p:cNvPr id="9" name="━">
            <a:extLst xmlns:a="http://schemas.openxmlformats.org/drawingml/2006/main">
              <a:ext uri="{FF2B5EF4-FFF2-40B4-BE49-F238E27FC236}">
                <a16:creationId xmlns:a16="http://schemas.microsoft.com/office/drawing/2014/main" id="{D912F64E-1F91-4618-9419-D3A06AD78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3911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━</a:t>
            </a:r>
          </a:p>
        </p:txBody>
      </p:sp>
      <p:sp>
        <p:nvSpPr>
          <p:cNvPr id="10" name="TWAP">
            <a:extLst xmlns:a="http://schemas.openxmlformats.org/drawingml/2006/main">
              <a:ext uri="{FF2B5EF4-FFF2-40B4-BE49-F238E27FC236}">
                <a16:creationId xmlns:a16="http://schemas.microsoft.com/office/drawing/2014/main" id="{801A64DC-6020-4AFC-BDA2-8F20FCB8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391150"/>
            <a:ext cx="1876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TWAP</a:t>
            </a:r>
          </a:p>
        </p:txBody>
      </p:sp>
      <p:sp>
        <p:nvSpPr>
          <p:cNvPr id="11" name="━">
            <a:extLst xmlns:a="http://schemas.openxmlformats.org/drawingml/2006/main">
              <a:ext uri="{FF2B5EF4-FFF2-40B4-BE49-F238E27FC236}">
                <a16:creationId xmlns:a16="http://schemas.microsoft.com/office/drawing/2014/main" id="{630953CB-5834-4035-B01B-BE56CCAAB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53911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rPr>
              <a:t>━</a:t>
            </a:r>
          </a:p>
        </p:txBody>
      </p:sp>
      <p:sp>
        <p:nvSpPr>
          <p:cNvPr id="12" name="±5%">
            <a:extLst xmlns:a="http://schemas.openxmlformats.org/drawingml/2006/main">
              <a:ext uri="{FF2B5EF4-FFF2-40B4-BE49-F238E27FC236}">
                <a16:creationId xmlns:a16="http://schemas.microsoft.com/office/drawing/2014/main" id="{1A5E2A6A-A40D-4B18-BE9C-38D00107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391150"/>
            <a:ext cx="1876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±5%</a:t>
            </a:r>
          </a:p>
        </p:txBody>
      </p:sp>
      <p:sp>
        <p:nvSpPr>
          <p:cNvPr id="13" name="+5.1%">
            <a:extLst xmlns:a="http://schemas.openxmlformats.org/drawingml/2006/main">
              <a:ext uri="{FF2B5EF4-FFF2-40B4-BE49-F238E27FC236}">
                <a16:creationId xmlns:a16="http://schemas.microsoft.com/office/drawing/2014/main" id="{10DB8BDB-32B6-457F-81FC-37B0816C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52650"/>
            <a:ext cx="2714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rPr>
              <a:t>+5.1%</a:t>
            </a:r>
          </a:p>
        </p:txBody>
      </p:sp>
      <p:sp>
        <p:nvSpPr>
          <p:cNvPr id="14" name="買入拒絕">
            <a:extLst xmlns:a="http://schemas.openxmlformats.org/drawingml/2006/main">
              <a:ext uri="{FF2B5EF4-FFF2-40B4-BE49-F238E27FC236}">
                <a16:creationId xmlns:a16="http://schemas.microsoft.com/office/drawing/2014/main" id="{E955130A-5243-4B7A-B8D5-AE398392B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62250"/>
            <a:ext cx="2714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rPr>
              <a:t>買入拒絕</a:t>
            </a:r>
          </a:p>
        </p:txBody>
      </p:sp>
      <p:sp>
        <p:nvSpPr>
          <p:cNvPr id="15" name="同時檢查">
            <a:extLst xmlns:a="http://schemas.openxmlformats.org/drawingml/2006/main">
              <a:ext uri="{FF2B5EF4-FFF2-40B4-BE49-F238E27FC236}">
                <a16:creationId xmlns:a16="http://schemas.microsoft.com/office/drawing/2014/main" id="{9F20306E-E86D-48A5-8564-053B9302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838575"/>
            <a:ext cx="2714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同時檢查</a:t>
            </a:r>
          </a:p>
        </p:txBody>
      </p:sp>
      <p:sp>
        <p:nvSpPr>
          <p:cNvPr id="16" name="觀測歷史／流動性">
            <a:extLst xmlns:a="http://schemas.openxmlformats.org/drawingml/2006/main">
              <a:ext uri="{FF2B5EF4-FFF2-40B4-BE49-F238E27FC236}">
                <a16:creationId xmlns:a16="http://schemas.microsoft.com/office/drawing/2014/main" id="{59B0E462-E20E-442E-AF29-79E28644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276725"/>
            <a:ext cx="2714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觀測歷史／流動性</a:t>
            </a:r>
          </a:p>
        </p:txBody>
      </p:sp>
      <p:sp>
        <p:nvSpPr>
          <p:cNvPr id="17" name="原始／截斷價格">
            <a:extLst xmlns:a="http://schemas.openxmlformats.org/drawingml/2006/main">
              <a:ext uri="{FF2B5EF4-FFF2-40B4-BE49-F238E27FC236}">
                <a16:creationId xmlns:a16="http://schemas.microsoft.com/office/drawing/2014/main" id="{C0FB0CE9-6537-448E-8620-2868DDF8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686300"/>
            <a:ext cx="2714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原始／截斷價格</a:t>
            </a:r>
          </a:p>
        </p:txBody>
      </p:sp>
      <p:sp>
        <p:nvSpPr>
          <p:cNvPr id="18" name="本機分叉的已記錄快照；寬度固定，中心滾動">
            <a:extLst xmlns:a="http://schemas.openxmlformats.org/drawingml/2006/main">
              <a:ext uri="{FF2B5EF4-FFF2-40B4-BE49-F238E27FC236}">
                <a16:creationId xmlns:a16="http://schemas.microsoft.com/office/drawing/2014/main" id="{2F2E4F2B-28A3-495A-AA96-DC6ECA86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7912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本機分叉的已記錄快照；寬度固定，中心滾動</a:t>
            </a:r>
          </a:p>
        </p:txBody>
      </p:sp>
    </p:spTree>
    <p:extLst>
      <p:ext uri="{BB962C8B-B14F-4D97-AF65-F5344CB8AC3E}">
        <p14:creationId xmlns:p14="http://schemas.microsoft.com/office/powerpoint/2010/main" val="7243208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可成交量與權利金的反應不同">
            <a:extLst xmlns:a="http://schemas.openxmlformats.org/drawingml/2006/main">
              <a:ext uri="{FF2B5EF4-FFF2-40B4-BE49-F238E27FC236}">
                <a16:creationId xmlns:a16="http://schemas.microsoft.com/office/drawing/2014/main" id="{2D366CFF-3EBE-414A-B6E9-D1455411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可成交量與權利金的反應不同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7bad4987ca41f7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E3A36942-9958-4307-BBC0-55B932E7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10">
            <a:extLst xmlns:a="http://schemas.openxmlformats.org/drawingml/2006/main">
              <a:ext uri="{FF2B5EF4-FFF2-40B4-BE49-F238E27FC236}">
                <a16:creationId xmlns:a16="http://schemas.microsoft.com/office/drawing/2014/main" id="{73B7CA9D-194C-48CE-83B9-8D86B54B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5" name="每次口數上限">
            <a:extLst xmlns:a="http://schemas.openxmlformats.org/drawingml/2006/main">
              <a:ext uri="{FF2B5EF4-FFF2-40B4-BE49-F238E27FC236}">
                <a16:creationId xmlns:a16="http://schemas.microsoft.com/office/drawing/2014/main" id="{D81904AD-E2E9-478E-A261-C5815190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5048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每次口數上限</a:t>
            </a:r>
          </a:p>
        </p:txBody>
      </p:sp>
      <p:sp>
        <p:nvSpPr>
          <p:cNvPr id="6" name="每口權利金／USDG">
            <a:extLst xmlns:a="http://schemas.openxmlformats.org/drawingml/2006/main">
              <a:ext uri="{FF2B5EF4-FFF2-40B4-BE49-F238E27FC236}">
                <a16:creationId xmlns:a16="http://schemas.microsoft.com/office/drawing/2014/main" id="{49843D10-0BE7-4B4B-A3FD-56A7A166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476375"/>
            <a:ext cx="5048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每口權利金／USDG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571500" y="2162175"/>
          <a:ext xmlns:a="http://schemas.openxmlformats.org/drawingml/2006/main" cx="5143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e2e4bb371842e9"/>
          </a:graphicData>
        </a:graphic>
      </p:graphicFrame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410325" y="2162175"/>
          <a:ext xmlns:a="http://schemas.openxmlformats.org/drawingml/2006/main" cx="5143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f3572f1d754843"/>
          </a:graphicData>
        </a:graphic>
      </p:graphicFrame>
      <p:sp>
        <p:nvSpPr>
          <p:cNvPr id="9" name="+2.5%：25 口，8.4 USDG">
            <a:extLst xmlns:a="http://schemas.openxmlformats.org/drawingml/2006/main">
              <a:ext uri="{FF2B5EF4-FFF2-40B4-BE49-F238E27FC236}">
                <a16:creationId xmlns:a16="http://schemas.microsoft.com/office/drawing/2014/main" id="{2789F79D-3AE0-4A56-AF00-02FA9BED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+2.5%：25 口，8.4 USDG</a:t>
            </a:r>
          </a:p>
        </p:txBody>
      </p:sp>
      <p:sp>
        <p:nvSpPr>
          <p:cNvPr id="10" name="示意：中心 400，基本權利金 8。到 ±5%：上限 0，停止報價">
            <a:extLst xmlns:a="http://schemas.openxmlformats.org/drawingml/2006/main">
              <a:ext uri="{FF2B5EF4-FFF2-40B4-BE49-F238E27FC236}">
                <a16:creationId xmlns:a16="http://schemas.microsoft.com/office/drawing/2014/main" id="{56306A9A-E508-4EA6-8B89-9C5EE5B0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5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示意：中心 400，基本權利金 8。到 ±5%：上限 0，停止報價</a:t>
            </a:r>
          </a:p>
        </p:txBody>
      </p:sp>
    </p:spTree>
    <p:extLst>
      <p:ext uri="{BB962C8B-B14F-4D97-AF65-F5344CB8AC3E}">
        <p14:creationId xmlns:p14="http://schemas.microsoft.com/office/powerpoint/2010/main" val="13222853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價格帶開啟，不代表一定能成交">
            <a:extLst xmlns:a="http://schemas.openxmlformats.org/drawingml/2006/main">
              <a:ext uri="{FF2B5EF4-FFF2-40B4-BE49-F238E27FC236}">
                <a16:creationId xmlns:a16="http://schemas.microsoft.com/office/drawing/2014/main" id="{4B022250-6454-4B7A-929D-054AFF65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價格帶開啟，不代表一定能成交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d81f020afc450f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AB647601-5F67-4D34-9A07-0BAD9932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11">
            <a:extLst xmlns:a="http://schemas.openxmlformats.org/drawingml/2006/main">
              <a:ext uri="{FF2B5EF4-FFF2-40B4-BE49-F238E27FC236}">
                <a16:creationId xmlns:a16="http://schemas.microsoft.com/office/drawing/2014/main" id="{F54484F8-ABB4-4935-939E-4B5774143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38175" y="1790700"/>
          <a:ext xmlns:a="http://schemas.openxmlformats.org/drawingml/2006/main" cx="10896600" cy="3371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1581150"/>
                <a:gridCol w="2190750"/>
                <a:gridCol w="3505200"/>
              </a:tblGrid>
              <a:tr h="67437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A8A8B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觸發條件</a:t>
                      </a:r>
                    </a:p>
                  </a:txBody>
                  <a:tcPr marL="91440" marR="91440" marT="45720" marB="45720" anchor="ctr">
                    <a:solidFill>
                      <a:srgbClr val="141418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A8A8B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Band</a:t>
                      </a:r>
                    </a:p>
                  </a:txBody>
                  <a:tcPr marL="91440" marR="91440" marT="45720" marB="45720" anchor="ctr">
                    <a:solidFill>
                      <a:srgbClr val="141418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A8A8B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可讀報價</a:t>
                      </a:r>
                    </a:p>
                  </a:txBody>
                  <a:tcPr marL="91440" marR="91440" marT="45720" marB="45720" anchor="ctr">
                    <a:solidFill>
                      <a:srgbClr val="141418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A8A8B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買入結果</a:t>
                      </a:r>
                    </a:p>
                  </a:txBody>
                  <a:tcPr marL="91440" marR="91440" marT="45720" marB="45720" anchor="ctr">
                    <a:solidFill>
                      <a:srgbClr val="141418"/>
                    </a:solidFill>
                  </a:tcPr>
                </a:tc>
              </a:tr>
              <a:tr h="67437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FAFAF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+5.1% 偏移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FF547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關閉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A8A8B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否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1">
                          <a:solidFill>
                            <a:srgbClr val="FF547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OutsideBand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</a:tr>
              <a:tr h="67437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FAFAF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原報價到期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37D67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開啟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A8A8B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否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1">
                          <a:solidFill>
                            <a:srgbClr val="FF547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QuoteExpired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</a:tr>
              <a:tr h="67437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FAFAF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原錨點偏離 +6%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37D67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開啟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A8A8B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否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1">
                          <a:solidFill>
                            <a:srgbClr val="FF547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QuoteOffAnchor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</a:tr>
              <a:tr h="67437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FAFAF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抵押品不足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37D67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開啟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37D67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是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pPr algn="l"/>
                      <a:r>
                        <a:rPr sz="1950" b="1">
                          <a:solidFill>
                            <a:srgbClr val="FF547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SourceShort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</a:tr>
            </a:tbl>
          </a:graphicData>
        </a:graphic>
      </p:graphicFrame>
      <p:sp>
        <p:nvSpPr>
          <p:cNvPr id="6" name="讀得到報價 ≠ 保證可以成交">
            <a:extLst xmlns:a="http://schemas.openxmlformats.org/drawingml/2006/main">
              <a:ext uri="{FF2B5EF4-FFF2-40B4-BE49-F238E27FC236}">
                <a16:creationId xmlns:a16="http://schemas.microsoft.com/office/drawing/2014/main" id="{6FA90BB4-617B-4B33-9578-B9AD1DFD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19725"/>
            <a:ext cx="10858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讀得到報價 ≠ 保證可以成交</a:t>
            </a:r>
          </a:p>
        </p:txBody>
      </p:sp>
    </p:spTree>
    <p:extLst>
      <p:ext uri="{BB962C8B-B14F-4D97-AF65-F5344CB8AC3E}">
        <p14:creationId xmlns:p14="http://schemas.microsoft.com/office/powerpoint/2010/main" val="4544544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履約、關單與權利金回流">
            <a:extLst xmlns:a="http://schemas.openxmlformats.org/drawingml/2006/main">
              <a:ext uri="{FF2B5EF4-FFF2-40B4-BE49-F238E27FC236}">
                <a16:creationId xmlns:a16="http://schemas.microsoft.com/office/drawing/2014/main" id="{430331BF-6FC8-4CAC-B59A-343ADD2CE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履約、關單與權利金回流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c6f4a5459742e9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591EA6E1-4483-43AD-BB1D-A676644C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12">
            <a:extLst xmlns:a="http://schemas.openxmlformats.org/drawingml/2006/main">
              <a:ext uri="{FF2B5EF4-FFF2-40B4-BE49-F238E27FC236}">
                <a16:creationId xmlns:a16="http://schemas.microsoft.com/office/drawing/2014/main" id="{C2B03045-0499-46AD-A347-61C36DC4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5" name="3 口 put：交付 3 TSLA，收到 1,200 USDG">
            <a:extLst xmlns:a="http://schemas.openxmlformats.org/drawingml/2006/main">
              <a:ext uri="{FF2B5EF4-FFF2-40B4-BE49-F238E27FC236}">
                <a16:creationId xmlns:a16="http://schemas.microsoft.com/office/drawing/2014/main" id="{EA70E05C-4C81-4E42-B155-23F371FE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0991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3 口 put：交付 3 TSLA，收到 1,200 USDG</a:t>
            </a:r>
          </a:p>
        </p:txBody>
      </p:sp>
      <p:sp>
        <p:nvSpPr>
          <p:cNvPr id="6" name="Book 的 TSLA">
            <a:extLst xmlns:a="http://schemas.openxmlformats.org/drawingml/2006/main">
              <a:ext uri="{FF2B5EF4-FFF2-40B4-BE49-F238E27FC236}">
                <a16:creationId xmlns:a16="http://schemas.microsoft.com/office/drawing/2014/main" id="{2EBDAB78-5591-4BF2-A35E-5EAB0CB5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20980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Book 的 TSLA</a:t>
            </a:r>
          </a:p>
        </p:txBody>
      </p:sp>
      <p:sp>
        <p:nvSpPr>
          <p:cNvPr id="7" name="Book 的 USDG">
            <a:extLst xmlns:a="http://schemas.openxmlformats.org/drawingml/2006/main">
              <a:ext uri="{FF2B5EF4-FFF2-40B4-BE49-F238E27FC236}">
                <a16:creationId xmlns:a16="http://schemas.microsoft.com/office/drawing/2014/main" id="{A8A801E8-92EB-4415-B357-517B7B9C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09800"/>
            <a:ext cx="514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Book 的 USDG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571500" y="2752725"/>
          <a:ext xmlns:a="http://schemas.openxmlformats.org/drawingml/2006/main" cx="5219700" cy="2714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39b951f2adc4c46"/>
          </a:graphicData>
        </a:graphic>
      </p:graphicFrame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6457950" y="2752725"/>
          <a:ext xmlns:a="http://schemas.openxmlformats.org/drawingml/2006/main" cx="5219700" cy="2714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f8391972e54d0d"/>
          </a:graphicData>
        </a:graphic>
      </p:graphicFrame>
      <p:sp>
        <p:nvSpPr>
          <p:cNvPr id="10" name="接受價 ≈378.269 &lt; 履約價 400；call 價外，關單與領權利金分開執行">
            <a:extLst xmlns:a="http://schemas.openxmlformats.org/drawingml/2006/main">
              <a:ext uri="{FF2B5EF4-FFF2-40B4-BE49-F238E27FC236}">
                <a16:creationId xmlns:a16="http://schemas.microsoft.com/office/drawing/2014/main" id="{68893429-95C6-44A9-A36C-209D3F09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791200"/>
            <a:ext cx="1085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接受價 ≈378.269 &lt; 履約價 400；call 價外，關單與領權利金分開執行</a:t>
            </a:r>
          </a:p>
        </p:txBody>
      </p:sp>
    </p:spTree>
    <p:extLst>
      <p:ext uri="{BB962C8B-B14F-4D97-AF65-F5344CB8AC3E}">
        <p14:creationId xmlns:p14="http://schemas.microsoft.com/office/powerpoint/2010/main" val="4531913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合約回放的四個檢查點">
            <a:extLst xmlns:a="http://schemas.openxmlformats.org/drawingml/2006/main">
              <a:ext uri="{FF2B5EF4-FFF2-40B4-BE49-F238E27FC236}">
                <a16:creationId xmlns:a16="http://schemas.microsoft.com/office/drawing/2014/main" id="{0AEFB8EF-555A-44AF-A5F5-1CB6FB8A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合約回放的四個檢查點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7295eb6c1c4e04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DE44B289-318F-43DF-ACF3-3BD1A7D5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13">
            <a:extLst xmlns:a="http://schemas.openxmlformats.org/drawingml/2006/main">
              <a:ext uri="{FF2B5EF4-FFF2-40B4-BE49-F238E27FC236}">
                <a16:creationId xmlns:a16="http://schemas.microsoft.com/office/drawing/2014/main" id="{3E334D75-D722-4132-939B-0F81B852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5" name="05">
            <a:extLst xmlns:a="http://schemas.openxmlformats.org/drawingml/2006/main">
              <a:ext uri="{FF2B5EF4-FFF2-40B4-BE49-F238E27FC236}">
                <a16:creationId xmlns:a16="http://schemas.microsoft.com/office/drawing/2014/main" id="{171EF0AA-6333-4EB7-A18A-B45A8D6B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2333625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2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6" name="抵押品進入">
            <a:extLst xmlns:a="http://schemas.openxmlformats.org/drawingml/2006/main">
              <a:ext uri="{FF2B5EF4-FFF2-40B4-BE49-F238E27FC236}">
                <a16:creationId xmlns:a16="http://schemas.microsoft.com/office/drawing/2014/main" id="{55BF4CA0-2BBE-4F3D-9A96-6DD5E396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242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抵押品進入</a:t>
            </a:r>
          </a:p>
        </p:txBody>
      </p:sp>
      <p:sp>
        <p:nvSpPr>
          <p:cNvPr id="7" name="5 TSLA">
            <a:extLst xmlns:a="http://schemas.openxmlformats.org/drawingml/2006/main">
              <a:ext uri="{FF2B5EF4-FFF2-40B4-BE49-F238E27FC236}">
                <a16:creationId xmlns:a16="http://schemas.microsoft.com/office/drawing/2014/main" id="{DFA8AB1F-B446-44C4-8932-6EF975F6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5 TSLA</a:t>
            </a:r>
          </a:p>
        </p:txBody>
      </p:sp>
      <p:sp>
        <p:nvSpPr>
          <p:cNvPr id="8" name="07">
            <a:extLst xmlns:a="http://schemas.openxmlformats.org/drawingml/2006/main">
              <a:ext uri="{FF2B5EF4-FFF2-40B4-BE49-F238E27FC236}">
                <a16:creationId xmlns:a16="http://schemas.microsoft.com/office/drawing/2014/main" id="{B81461AD-644F-4EBB-BC5A-792146E0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1962150"/>
            <a:ext cx="2333625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0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200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9" name="越界拒單">
            <a:extLst xmlns:a="http://schemas.openxmlformats.org/drawingml/2006/main">
              <a:ext uri="{FF2B5EF4-FFF2-40B4-BE49-F238E27FC236}">
                <a16:creationId xmlns:a16="http://schemas.microsoft.com/office/drawing/2014/main" id="{1D10D74B-FB55-41F3-A000-206DF364E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486150"/>
            <a:ext cx="242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越界拒單</a:t>
            </a:r>
          </a:p>
        </p:txBody>
      </p:sp>
      <p:sp>
        <p:nvSpPr>
          <p:cNvPr id="10" name="資金不變">
            <a:extLst xmlns:a="http://schemas.openxmlformats.org/drawingml/2006/main">
              <a:ext uri="{FF2B5EF4-FFF2-40B4-BE49-F238E27FC236}">
                <a16:creationId xmlns:a16="http://schemas.microsoft.com/office/drawing/2014/main" id="{70832483-10D1-4E70-A049-F9AAD337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086225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資金不變</a:t>
            </a:r>
          </a:p>
        </p:txBody>
      </p:sp>
      <p:sp>
        <p:nvSpPr>
          <p:cNvPr id="11" name="09">
            <a:extLst xmlns:a="http://schemas.openxmlformats.org/drawingml/2006/main">
              <a:ext uri="{FF2B5EF4-FFF2-40B4-BE49-F238E27FC236}">
                <a16:creationId xmlns:a16="http://schemas.microsoft.com/office/drawing/2014/main" id="{36DB2FC8-8AA0-47A7-A4DC-B630E040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62150"/>
            <a:ext cx="2333625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0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200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12" name="到期拒單">
            <a:extLst xmlns:a="http://schemas.openxmlformats.org/drawingml/2006/main">
              <a:ext uri="{FF2B5EF4-FFF2-40B4-BE49-F238E27FC236}">
                <a16:creationId xmlns:a16="http://schemas.microsoft.com/office/drawing/2014/main" id="{326C6517-F30D-4B48-9E51-2FED922D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86150"/>
            <a:ext cx="242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到期拒單</a:t>
            </a:r>
          </a:p>
        </p:txBody>
      </p:sp>
      <p:sp>
        <p:nvSpPr>
          <p:cNvPr id="13" name="造市者更新">
            <a:extLst xmlns:a="http://schemas.openxmlformats.org/drawingml/2006/main">
              <a:ext uri="{FF2B5EF4-FFF2-40B4-BE49-F238E27FC236}">
                <a16:creationId xmlns:a16="http://schemas.microsoft.com/office/drawing/2014/main" id="{87B267FE-4442-4C1E-A954-E97D3B02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86225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造市者更新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FEB67AE1-AA10-4D4A-8BA3-2D0D4A0D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962150"/>
            <a:ext cx="2333625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2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15" name="權利金回流">
            <a:extLst xmlns:a="http://schemas.openxmlformats.org/drawingml/2006/main">
              <a:ext uri="{FF2B5EF4-FFF2-40B4-BE49-F238E27FC236}">
                <a16:creationId xmlns:a16="http://schemas.microsoft.com/office/drawing/2014/main" id="{EE7A0B0A-D29A-4077-81B6-D04A4244F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486150"/>
            <a:ext cx="242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權利金回流</a:t>
            </a:r>
          </a:p>
        </p:txBody>
      </p:sp>
      <p:sp>
        <p:nvSpPr>
          <p:cNvPr id="16" name="Book = 0">
            <a:extLst xmlns:a="http://schemas.openxmlformats.org/drawingml/2006/main">
              <a:ext uri="{FF2B5EF4-FFF2-40B4-BE49-F238E27FC236}">
                <a16:creationId xmlns:a16="http://schemas.microsoft.com/office/drawing/2014/main" id="{6D96A1E6-42D7-4B92-8D32-FF269CE6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086225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Book = 0</a:t>
            </a:r>
          </a:p>
        </p:txBody>
      </p:sp>
      <p:sp>
        <p:nvSpPr>
          <p:cNvPr id="17" name="開啟合約流程回放">
            <a:extLst xmlns:a="http://schemas.openxmlformats.org/drawingml/2006/main">
              <a:ext uri="{FF2B5EF4-FFF2-40B4-BE49-F238E27FC236}">
                <a16:creationId xmlns:a16="http://schemas.microsoft.com/office/drawing/2014/main" id="{E3A70266-7F55-439A-9DC2-C7BAC971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054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0" u="sng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  <a:hlinkClick xmlns:r="http://schemas.openxmlformats.org/officeDocument/2006/relationships" r:id="R38aebfaa8b844730"/>
              </a:rPr>
              <a:t>開啟合約流程回放</a:t>
            </a:r>
          </a:p>
        </p:txBody>
      </p:sp>
      <p:sp>
        <p:nvSpPr>
          <p:cNvPr id="18" name="15 步都沿用相同帳戶、錢包與訂單">
            <a:extLst xmlns:a="http://schemas.openxmlformats.org/drawingml/2006/main">
              <a:ext uri="{FF2B5EF4-FFF2-40B4-BE49-F238E27FC236}">
                <a16:creationId xmlns:a16="http://schemas.microsoft.com/office/drawing/2014/main" id="{C91200DF-5755-45C4-9D99-0750417A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753100"/>
            <a:ext cx="1083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15 步都沿用相同帳戶、錢包與訂單</a:t>
            </a:r>
          </a:p>
        </p:txBody>
      </p:sp>
    </p:spTree>
    <p:extLst>
      <p:ext uri="{BB962C8B-B14F-4D97-AF65-F5344CB8AC3E}">
        <p14:creationId xmlns:p14="http://schemas.microsoft.com/office/powerpoint/2010/main" val="142762461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Vexi Hakari 的公開貢獻">
            <a:extLst xmlns:a="http://schemas.openxmlformats.org/drawingml/2006/main">
              <a:ext uri="{FF2B5EF4-FFF2-40B4-BE49-F238E27FC236}">
                <a16:creationId xmlns:a16="http://schemas.microsoft.com/office/drawing/2014/main" id="{E18ECE2D-7B58-4452-AE78-A26AE4FC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Vexi Hakari 的公開貢獻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c1caf0cdae44f6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F50C45F2-19C6-4F7A-99EF-9FCBC02C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14">
            <a:extLst xmlns:a="http://schemas.openxmlformats.org/drawingml/2006/main">
              <a:ext uri="{FF2B5EF4-FFF2-40B4-BE49-F238E27FC236}">
                <a16:creationId xmlns:a16="http://schemas.microsoft.com/office/drawing/2014/main" id="{B4742573-B0D8-4670-BE90-197B83EA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5" name="1inch Aqua + SwapVM">
            <a:extLst xmlns:a="http://schemas.openxmlformats.org/drawingml/2006/main">
              <a:ext uri="{FF2B5EF4-FFF2-40B4-BE49-F238E27FC236}">
                <a16:creationId xmlns:a16="http://schemas.microsoft.com/office/drawing/2014/main" id="{9F270507-28E9-4290-889D-9607D7B62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685925"/>
            <a:ext cx="1038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1inch Aqua + SwapVM</a:t>
            </a:r>
          </a:p>
        </p:txBody>
      </p:sp>
      <p:sp>
        <p:nvSpPr>
          <p:cNvPr id="6" name="成交才拉抵押品，共用庫存有 guard">
            <a:extLst xmlns:a="http://schemas.openxmlformats.org/drawingml/2006/main">
              <a:ext uri="{FF2B5EF4-FFF2-40B4-BE49-F238E27FC236}">
                <a16:creationId xmlns:a16="http://schemas.microsoft.com/office/drawing/2014/main" id="{E23FAF43-0D9D-492E-A092-7128812E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成交才拉抵押品，共用庫存有 guard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C15369-5FC3-4C6B-BF35-362C4ADB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80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333D"/>
            </a:solidFill>
          </a:ln>
        </p:spPr>
      </p:sp>
      <p:sp>
        <p:nvSpPr>
          <p:cNvPr id="8" name="Uniswap v4">
            <a:extLst xmlns:a="http://schemas.openxmlformats.org/drawingml/2006/main">
              <a:ext uri="{FF2B5EF4-FFF2-40B4-BE49-F238E27FC236}">
                <a16:creationId xmlns:a16="http://schemas.microsoft.com/office/drawing/2014/main" id="{2A53AB54-C149-4A00-A5E4-1BAB87AC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629025"/>
            <a:ext cx="1038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Uniswap v4</a:t>
            </a:r>
          </a:p>
        </p:txBody>
      </p:sp>
      <p:sp>
        <p:nvSpPr>
          <p:cNvPr id="9" name="Hook 觀測會改變實際選擇權成交">
            <a:extLst xmlns:a="http://schemas.openxmlformats.org/drawingml/2006/main">
              <a:ext uri="{FF2B5EF4-FFF2-40B4-BE49-F238E27FC236}">
                <a16:creationId xmlns:a16="http://schemas.microsoft.com/office/drawing/2014/main" id="{FBE8904D-8380-42EE-A7C8-F9021DA6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Hook 觀測會改變實際選擇權成交</a:t>
            </a:r>
          </a:p>
        </p:txBody>
      </p:sp>
      <p:sp>
        <p:nvSpPr>
          <p:cNvPr id="10" name="github.com/vexi-v1/vexi-hakari">
            <a:extLst xmlns:a="http://schemas.openxmlformats.org/drawingml/2006/main">
              <a:ext uri="{FF2B5EF4-FFF2-40B4-BE49-F238E27FC236}">
                <a16:creationId xmlns:a16="http://schemas.microsoft.com/office/drawing/2014/main" id="{A8DF9AB3-90C8-4114-B924-46ED239C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3877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0" u="sng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  <a:hlinkClick xmlns:r="http://schemas.openxmlformats.org/officeDocument/2006/relationships" r:id="R91c5164d7d7a4868"/>
              </a:rPr>
              <a:t>github.com/vexi-v1/vexi-hakari</a:t>
            </a:r>
          </a:p>
        </p:txBody>
      </p:sp>
      <p:sp>
        <p:nvSpPr>
          <p:cNvPr id="11" name="公開分叉證據；hook 與 pool 有測試網紀錄">
            <a:extLst xmlns:a="http://schemas.openxmlformats.org/drawingml/2006/main">
              <a:ext uri="{FF2B5EF4-FFF2-40B4-BE49-F238E27FC236}">
                <a16:creationId xmlns:a16="http://schemas.microsoft.com/office/drawing/2014/main" id="{36F41434-DED3-461B-AA94-3D1DB30B8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953125"/>
            <a:ext cx="10829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公開分叉證據；hook 與 pool 有測試網紀錄</a:t>
            </a:r>
          </a:p>
        </p:txBody>
      </p:sp>
    </p:spTree>
    <p:extLst>
      <p:ext uri="{BB962C8B-B14F-4D97-AF65-F5344CB8AC3E}">
        <p14:creationId xmlns:p14="http://schemas.microsoft.com/office/powerpoint/2010/main" val="146180561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兩條實驗性的結算分支">
            <a:extLst xmlns:a="http://schemas.openxmlformats.org/drawingml/2006/main">
              <a:ext uri="{FF2B5EF4-FFF2-40B4-BE49-F238E27FC236}">
                <a16:creationId xmlns:a16="http://schemas.microsoft.com/office/drawing/2014/main" id="{72DC751B-69FC-4517-87D4-CA62CFCC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兩條實驗性的結算分支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3e11c41ceb4798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B5462CB5-34E3-4F89-AE3E-C380CAA6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A1">
            <a:extLst xmlns:a="http://schemas.openxmlformats.org/drawingml/2006/main">
              <a:ext uri="{FF2B5EF4-FFF2-40B4-BE49-F238E27FC236}">
                <a16:creationId xmlns:a16="http://schemas.microsoft.com/office/drawing/2014/main" id="{FF6503D0-B99A-4488-ABF4-71AEBC52F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A1</a:t>
            </a:r>
          </a:p>
        </p:txBody>
      </p:sp>
      <p:sp>
        <p:nvSpPr>
          <p:cNvPr id="5" name="延後接受">
            <a:extLst xmlns:a="http://schemas.openxmlformats.org/drawingml/2006/main">
              <a:ext uri="{FF2B5EF4-FFF2-40B4-BE49-F238E27FC236}">
                <a16:creationId xmlns:a16="http://schemas.microsoft.com/office/drawing/2014/main" id="{6CDF8FA4-76F3-468B-B0DA-6334BAFF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04975"/>
            <a:ext cx="2714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延後接受</a:t>
            </a:r>
          </a:p>
        </p:txBody>
      </p:sp>
      <p:sp>
        <p:nvSpPr>
          <p:cNvPr id="6" name="窗口 0&#10;拒絕">
            <a:extLst xmlns:a="http://schemas.openxmlformats.org/drawingml/2006/main">
              <a:ext uri="{FF2B5EF4-FFF2-40B4-BE49-F238E27FC236}">
                <a16:creationId xmlns:a16="http://schemas.microsoft.com/office/drawing/2014/main" id="{9790CAFE-6F23-4350-8DE7-BCA1C0F8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600200"/>
            <a:ext cx="22383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F5470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rPr>
              <a:t>窗口 0</a:t>
            </a:r>
          </a:p>
          <a:p xmlns:a="http://schemas.openxmlformats.org/drawingml/2006/main">
            <a:pPr algn="ctr">
              <a:defRPr sz="2100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rPr>
              <a:t>拒絕</a:t>
            </a:r>
          </a:p>
        </p:txBody>
      </p:sp>
      <p:sp>
        <p:nvSpPr>
          <p:cNvPr id="7" name="窗口 1&#10;接受">
            <a:extLst xmlns:a="http://schemas.openxmlformats.org/drawingml/2006/main">
              <a:ext uri="{FF2B5EF4-FFF2-40B4-BE49-F238E27FC236}">
                <a16:creationId xmlns:a16="http://schemas.microsoft.com/office/drawing/2014/main" id="{79E1FD8F-C43C-4F73-8D1C-769522FE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00200"/>
            <a:ext cx="22383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37D67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窗口 1</a:t>
            </a:r>
          </a:p>
          <a:p xmlns:a="http://schemas.openxmlformats.org/drawingml/2006/main">
            <a:pPr algn="ctr">
              <a:defRPr sz="2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接受</a:t>
            </a:r>
          </a:p>
        </p:txBody>
      </p:sp>
      <p:cxnSp>
        <p:nvCxnSpPr>
          <p:cNvPr id="33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19775" y="2124075"/>
            <a:ext cx="122872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A8A8B2"/>
            </a:solidFill>
            <a:prstDash val="solid"/>
            <a:tailEnd type="triangle" w="med" len="med"/>
          </a:ln>
        </p:spPr>
      </p:cxnSp>
      <p:sp>
        <p:nvSpPr>
          <p:cNvPr id="9" name="呼叫者於 5 分鐘後重試">
            <a:extLst xmlns:a="http://schemas.openxmlformats.org/drawingml/2006/main">
              <a:ext uri="{FF2B5EF4-FFF2-40B4-BE49-F238E27FC236}">
                <a16:creationId xmlns:a16="http://schemas.microsoft.com/office/drawing/2014/main" id="{652BF295-2F76-4D62-B7F3-E8C7B774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90825"/>
            <a:ext cx="752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呼叫者於 5 分鐘後重試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D8D203-F9EE-4BCE-87C3-E6D21B8C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86150"/>
            <a:ext cx="109251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333D"/>
            </a:solidFill>
          </a:ln>
        </p:spPr>
      </p:sp>
      <p:sp>
        <p:nvSpPr>
          <p:cNvPr id="11" name="持續跳空">
            <a:extLst xmlns:a="http://schemas.openxmlformats.org/drawingml/2006/main">
              <a:ext uri="{FF2B5EF4-FFF2-40B4-BE49-F238E27FC236}">
                <a16:creationId xmlns:a16="http://schemas.microsoft.com/office/drawing/2014/main" id="{3A342034-A05A-45F2-97D7-35B92A4D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持續跳空</a:t>
            </a:r>
          </a:p>
        </p:txBody>
      </p:sp>
      <p:sp>
        <p:nvSpPr>
          <p:cNvPr id="12" name="0">
            <a:extLst xmlns:a="http://schemas.openxmlformats.org/drawingml/2006/main">
              <a:ext uri="{FF2B5EF4-FFF2-40B4-BE49-F238E27FC236}">
                <a16:creationId xmlns:a16="http://schemas.microsoft.com/office/drawing/2014/main" id="{1A8BB245-36E0-4C14-87C4-B48DF82F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743325"/>
            <a:ext cx="10096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F5470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13" name="1">
            <a:extLst xmlns:a="http://schemas.openxmlformats.org/drawingml/2006/main">
              <a:ext uri="{FF2B5EF4-FFF2-40B4-BE49-F238E27FC236}">
                <a16:creationId xmlns:a16="http://schemas.microsoft.com/office/drawing/2014/main" id="{1A00594A-7F46-457E-B7C9-DFAD9E5D6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743325"/>
            <a:ext cx="10096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F5470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4" name="2">
            <a:extLst xmlns:a="http://schemas.openxmlformats.org/drawingml/2006/main">
              <a:ext uri="{FF2B5EF4-FFF2-40B4-BE49-F238E27FC236}">
                <a16:creationId xmlns:a16="http://schemas.microsoft.com/office/drawing/2014/main" id="{AC47380C-AE6B-4412-B98B-787EE17D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43325"/>
            <a:ext cx="10096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F5470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5" name="3">
            <a:extLst xmlns:a="http://schemas.openxmlformats.org/drawingml/2006/main">
              <a:ext uri="{FF2B5EF4-FFF2-40B4-BE49-F238E27FC236}">
                <a16:creationId xmlns:a16="http://schemas.microsoft.com/office/drawing/2014/main" id="{9BAEFE5B-8AC9-482A-B3C6-6EFBA2A5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743325"/>
            <a:ext cx="10096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F5470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6" name="4">
            <a:extLst xmlns:a="http://schemas.openxmlformats.org/drawingml/2006/main">
              <a:ext uri="{FF2B5EF4-FFF2-40B4-BE49-F238E27FC236}">
                <a16:creationId xmlns:a16="http://schemas.microsoft.com/office/drawing/2014/main" id="{15B7EAEA-6CD8-4DE2-ACF8-D78BF0EB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743325"/>
            <a:ext cx="10096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F5470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7" name="5">
            <a:extLst xmlns:a="http://schemas.openxmlformats.org/drawingml/2006/main">
              <a:ext uri="{FF2B5EF4-FFF2-40B4-BE49-F238E27FC236}">
                <a16:creationId xmlns:a16="http://schemas.microsoft.com/office/drawing/2014/main" id="{2577C6B8-3315-4A42-B439-2B9848E6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743325"/>
            <a:ext cx="10096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F5470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552950" y="40576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FF5470"/>
            </a:solidFill>
            <a:prstDash val="solid"/>
            <a:tailEnd type="triangle" w="med" len="med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05500" y="40576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FF5470"/>
            </a:solidFill>
            <a:prstDash val="solid"/>
            <a:tailEnd type="triangle" w="med" len="med"/>
          </a:ln>
        </p:spPr>
      </p:cxnSp>
      <p:cxnSp>
        <p:nvCxnSpPr>
          <p:cNvPr id="45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7258050" y="40576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FF5470"/>
            </a:solidFill>
            <a:prstDash val="solid"/>
            <a:tailEnd type="triangle" w="med" len="med"/>
          </a:ln>
        </p:spPr>
      </p:cxnSp>
      <p:cxnSp>
        <p:nvCxnSpPr>
          <p:cNvPr id="46" name=""/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610600" y="40576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FF5470"/>
            </a:solidFill>
            <a:prstDash val="solid"/>
            <a:tailEnd type="triangle" w="med" len="med"/>
          </a:ln>
        </p:spPr>
      </p:cxnSp>
      <p:cxnSp>
        <p:nvCxnSpPr>
          <p:cNvPr id="47" name=""/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9963150" y="40576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FF5470"/>
            </a:solidFill>
            <a:prstDash val="solid"/>
            <a:tailEnd type="triangle" w="med" len="med"/>
          </a:ln>
        </p:spPr>
      </p:cxnSp>
      <p:sp>
        <p:nvSpPr>
          <p:cNvPr id="23" name="6 個候選窗口全部拒絕">
            <a:extLst xmlns:a="http://schemas.openxmlformats.org/drawingml/2006/main">
              <a:ext uri="{FF2B5EF4-FFF2-40B4-BE49-F238E27FC236}">
                <a16:creationId xmlns:a16="http://schemas.microsoft.com/office/drawing/2014/main" id="{B9820B09-674C-414B-8B8E-CDB50DEA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543425"/>
            <a:ext cx="809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FF5470"/>
                </a:solidFill>
                <a:latin typeface="Arial Unicode MS"/>
                <a:ea typeface="Arial Unicode MS"/>
                <a:cs typeface="Arial Unicode MS"/>
              </a:rPr>
              <a:t>6 個候選窗口全部拒絕</a:t>
            </a:r>
          </a:p>
        </p:txBody>
      </p:sp>
      <p:sp>
        <p:nvSpPr>
          <p:cNvPr id="24" name="1 小時寬限後：退回抵押品 + 權利金池退款">
            <a:extLst xmlns:a="http://schemas.openxmlformats.org/drawingml/2006/main">
              <a:ext uri="{FF2B5EF4-FFF2-40B4-BE49-F238E27FC236}">
                <a16:creationId xmlns:a16="http://schemas.microsoft.com/office/drawing/2014/main" id="{1C524E20-FB36-484A-A05D-FBF06AA8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2959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1 小時寬限後：退回抵押品 + 權利金池退款</a:t>
            </a:r>
          </a:p>
        </p:txBody>
      </p:sp>
      <p:sp>
        <p:nvSpPr>
          <p:cNvPr id="25" name="較晚價格或退款會改變經濟結果，均不代表公平到期價">
            <a:extLst xmlns:a="http://schemas.openxmlformats.org/drawingml/2006/main">
              <a:ext uri="{FF2B5EF4-FFF2-40B4-BE49-F238E27FC236}">
                <a16:creationId xmlns:a16="http://schemas.microsoft.com/office/drawing/2014/main" id="{5DB9D96B-039C-4C22-8E8F-ED2D62F9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19775"/>
            <a:ext cx="1076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較晚價格或退款會改變經濟結果，均不代表公平到期價</a:t>
            </a:r>
          </a:p>
        </p:txBody>
      </p:sp>
    </p:spTree>
    <p:extLst>
      <p:ext uri="{BB962C8B-B14F-4D97-AF65-F5344CB8AC3E}">
        <p14:creationId xmlns:p14="http://schemas.microsoft.com/office/powerpoint/2010/main" val="19577615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v4 整合的具體做法">
            <a:extLst xmlns:a="http://schemas.openxmlformats.org/drawingml/2006/main">
              <a:ext uri="{FF2B5EF4-FFF2-40B4-BE49-F238E27FC236}">
                <a16:creationId xmlns:a16="http://schemas.microsoft.com/office/drawing/2014/main" id="{7B6BC6B3-A48A-49AA-AADA-E5249FD5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v4 整合的具體做法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5e901abf554bbe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54736D9C-A8AD-425A-98D2-9E51E54B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A2">
            <a:extLst xmlns:a="http://schemas.openxmlformats.org/drawingml/2006/main">
              <a:ext uri="{FF2B5EF4-FFF2-40B4-BE49-F238E27FC236}">
                <a16:creationId xmlns:a16="http://schemas.microsoft.com/office/drawing/2014/main" id="{6A522F74-94C6-43EB-A70D-DF4BFD3A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A2</a:t>
            </a:r>
          </a:p>
        </p:txBody>
      </p:sp>
      <p:sp>
        <p:nvSpPr>
          <p:cNvPr id="5" name="Pool key">
            <a:extLst xmlns:a="http://schemas.openxmlformats.org/drawingml/2006/main">
              <a:ext uri="{FF2B5EF4-FFF2-40B4-BE49-F238E27FC236}">
                <a16:creationId xmlns:a16="http://schemas.microsoft.com/office/drawing/2014/main" id="{910017AF-D05A-409B-94E5-274FAFE53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71625"/>
            <a:ext cx="31527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Pool key</a:t>
            </a:r>
          </a:p>
        </p:txBody>
      </p:sp>
      <p:sp>
        <p:nvSpPr>
          <p:cNvPr id="6" name="Hook 是池的身分">
            <a:extLst xmlns:a="http://schemas.openxmlformats.org/drawingml/2006/main">
              <a:ext uri="{FF2B5EF4-FFF2-40B4-BE49-F238E27FC236}">
                <a16:creationId xmlns:a16="http://schemas.microsoft.com/office/drawing/2014/main" id="{EAC09D31-A5B4-4BDF-8B8E-002DE79C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1571625"/>
            <a:ext cx="7477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Hook 是池的身分</a:t>
            </a:r>
          </a:p>
        </p:txBody>
      </p:sp>
      <p:sp>
        <p:nvSpPr>
          <p:cNvPr id="7" name="需要自己的 hooked pool 與流動性">
            <a:extLst xmlns:a="http://schemas.openxmlformats.org/drawingml/2006/main">
              <a:ext uri="{FF2B5EF4-FFF2-40B4-BE49-F238E27FC236}">
                <a16:creationId xmlns:a16="http://schemas.microsoft.com/office/drawing/2014/main" id="{637EA2BF-6ED4-4CAE-8430-A9105512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095500"/>
            <a:ext cx="7477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需要自己的 hooked pool 與流動性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2CCE6A-5140-461B-9CF4-70E454F7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051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333D"/>
            </a:solidFill>
          </a:ln>
        </p:spPr>
      </p:sp>
      <p:sp>
        <p:nvSpPr>
          <p:cNvPr id="9" name="Address bits">
            <a:extLst xmlns:a="http://schemas.openxmlformats.org/drawingml/2006/main">
              <a:ext uri="{FF2B5EF4-FFF2-40B4-BE49-F238E27FC236}">
                <a16:creationId xmlns:a16="http://schemas.microsoft.com/office/drawing/2014/main" id="{A57DBEB0-EAD6-44DD-8B76-1892CDCD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952750"/>
            <a:ext cx="31527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Address bits</a:t>
            </a:r>
          </a:p>
        </p:txBody>
      </p:sp>
      <p:sp>
        <p:nvSpPr>
          <p:cNvPr id="10" name="CREATE2 salt 搜尋">
            <a:extLst xmlns:a="http://schemas.openxmlformats.org/drawingml/2006/main">
              <a:ext uri="{FF2B5EF4-FFF2-40B4-BE49-F238E27FC236}">
                <a16:creationId xmlns:a16="http://schemas.microsoft.com/office/drawing/2014/main" id="{C22E388C-1BD6-4C40-9538-B060FF86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52750"/>
            <a:ext cx="7477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CREATE2 salt 搜尋</a:t>
            </a:r>
          </a:p>
        </p:txBody>
      </p:sp>
      <p:sp>
        <p:nvSpPr>
          <p:cNvPr id="11" name="地址位元對應 hook 權限">
            <a:extLst xmlns:a="http://schemas.openxmlformats.org/drawingml/2006/main">
              <a:ext uri="{FF2B5EF4-FFF2-40B4-BE49-F238E27FC236}">
                <a16:creationId xmlns:a16="http://schemas.microsoft.com/office/drawing/2014/main" id="{20E1E686-D7DC-4153-B134-D3DD0911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476625"/>
            <a:ext cx="7477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地址位元對應 hook 權限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9D9FB1-9DD1-4CFB-8994-F605F6F2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86225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333D"/>
            </a:solidFill>
          </a:ln>
        </p:spPr>
      </p:sp>
      <p:sp>
        <p:nvSpPr>
          <p:cNvPr id="13" name="State + observe">
            <a:extLst xmlns:a="http://schemas.openxmlformats.org/drawingml/2006/main">
              <a:ext uri="{FF2B5EF4-FFF2-40B4-BE49-F238E27FC236}">
                <a16:creationId xmlns:a16="http://schemas.microsoft.com/office/drawing/2014/main" id="{FADE28B9-DB62-4B01-9647-32723B27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333875"/>
            <a:ext cx="31527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State + observe</a:t>
            </a:r>
          </a:p>
        </p:txBody>
      </p:sp>
      <p:sp>
        <p:nvSpPr>
          <p:cNvPr id="14" name="即時價與雙 TWAP">
            <a:extLst xmlns:a="http://schemas.openxmlformats.org/drawingml/2006/main">
              <a:ext uri="{FF2B5EF4-FFF2-40B4-BE49-F238E27FC236}">
                <a16:creationId xmlns:a16="http://schemas.microsoft.com/office/drawing/2014/main" id="{CEC1A07B-D1E8-466F-BDE1-FC51E0AD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333875"/>
            <a:ext cx="7477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即時價與雙 TWAP</a:t>
            </a:r>
          </a:p>
        </p:txBody>
      </p:sp>
      <p:sp>
        <p:nvSpPr>
          <p:cNvPr id="15" name="StateLibrary 讀取 PoolManager 狀態">
            <a:extLst xmlns:a="http://schemas.openxmlformats.org/drawingml/2006/main">
              <a:ext uri="{FF2B5EF4-FFF2-40B4-BE49-F238E27FC236}">
                <a16:creationId xmlns:a16="http://schemas.microsoft.com/office/drawing/2014/main" id="{64F91306-E71B-4794-8BE4-166C9F38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857750"/>
            <a:ext cx="7477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StateLibrary 讀取 PoolManager 狀態</a:t>
            </a:r>
          </a:p>
        </p:txBody>
      </p:sp>
      <p:sp>
        <p:nvSpPr>
          <p:cNvPr id="16" name="真實 PoolManager 上的新池；canonical Aqua 與 SwapVM 均未修改">
            <a:extLst xmlns:a="http://schemas.openxmlformats.org/drawingml/2006/main">
              <a:ext uri="{FF2B5EF4-FFF2-40B4-BE49-F238E27FC236}">
                <a16:creationId xmlns:a16="http://schemas.microsoft.com/office/drawing/2014/main" id="{024A9B0A-7EA7-49CA-8849-DEA14AC4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800725"/>
            <a:ext cx="108680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真實 PoolManager 上的新池；canonical Aqua 與 SwapVM 均未修改</a:t>
            </a:r>
          </a:p>
        </p:txBody>
      </p:sp>
    </p:spTree>
    <p:extLst>
      <p:ext uri="{BB962C8B-B14F-4D97-AF65-F5344CB8AC3E}">
        <p14:creationId xmlns:p14="http://schemas.microsoft.com/office/powerpoint/2010/main" val="120458951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常見問題與適用限制">
            <a:extLst xmlns:a="http://schemas.openxmlformats.org/drawingml/2006/main">
              <a:ext uri="{FF2B5EF4-FFF2-40B4-BE49-F238E27FC236}">
                <a16:creationId xmlns:a16="http://schemas.microsoft.com/office/drawing/2014/main" id="{1DBF66A3-5271-45B7-A6E3-9F743BEE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常見問題與適用限制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796ef7b11f4156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96BF866A-4493-49B5-BE93-7FF8F1B8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A3">
            <a:extLst xmlns:a="http://schemas.openxmlformats.org/drawingml/2006/main">
              <a:ext uri="{FF2B5EF4-FFF2-40B4-BE49-F238E27FC236}">
                <a16:creationId xmlns:a16="http://schemas.microsoft.com/office/drawing/2014/main" id="{AAD30A4F-FC4A-4230-8499-A10CD89D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A3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57225" y="1552575"/>
          <a:ext xmlns:a="http://schemas.openxmlformats.org/drawingml/2006/main" cx="10887075" cy="419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43300"/>
                <a:gridCol w="7343775"/>
              </a:tblGrid>
              <a:tr h="6985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A8A8B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問題</a:t>
                      </a:r>
                    </a:p>
                  </a:txBody>
                  <a:tcPr marL="91440" marR="91440" marT="45720" marB="45720" anchor="ctr">
                    <a:solidFill>
                      <a:srgbClr val="141418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A8A8B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公開版的行為</a:t>
                      </a:r>
                    </a:p>
                  </a:txBody>
                  <a:tcPr marL="91440" marR="91440" marT="45720" marB="45720" anchor="ctr">
                    <a:solidFill>
                      <a:srgbClr val="141418"/>
                    </a:solidFill>
                  </a:tcPr>
                </a:tc>
              </a:tr>
              <a:tr h="6985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FAFAF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提款或撤銷授權？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7D67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成交時檢查可用量，可能拒絕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</a:tr>
              <a:tr h="6985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FAFAF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持續推價？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7D67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滾動中心會跟隨；另查期限與錨點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</a:tr>
              <a:tr h="6985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FAFAF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分次買入？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7D67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口數上限是每次呼叫，沒有累積額度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</a:tr>
              <a:tr h="6985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FAFAF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觀測環容量不足？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7D67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缺少歷史就停止報價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</a:tr>
              <a:tr h="6985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FAFAF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保證股票公平價？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7D67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沒有；固定 5% 是可配置政策</a:t>
                      </a:r>
                    </a:p>
                  </a:txBody>
                  <a:tcPr marL="91440" marR="91440" marT="45720" marB="45720" anchor="ctr">
                    <a:solidFill>
                      <a:srgbClr val="08080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347479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Vexi 與本次 hackathon 的範圍">
            <a:extLst xmlns:a="http://schemas.openxmlformats.org/drawingml/2006/main">
              <a:ext uri="{FF2B5EF4-FFF2-40B4-BE49-F238E27FC236}">
                <a16:creationId xmlns:a16="http://schemas.microsoft.com/office/drawing/2014/main" id="{E2829A48-9654-47D7-A7C9-75EF31A0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Vexi 與本次 hackathon 的範圍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a27311e41245e9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A1B1CCE5-A410-49ED-AA38-C645AE08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A4">
            <a:extLst xmlns:a="http://schemas.openxmlformats.org/drawingml/2006/main">
              <a:ext uri="{FF2B5EF4-FFF2-40B4-BE49-F238E27FC236}">
                <a16:creationId xmlns:a16="http://schemas.microsoft.com/office/drawing/2014/main" id="{0153EFA9-C13B-467F-B0DE-3839C485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A4</a:t>
            </a:r>
          </a:p>
        </p:txBody>
      </p:sp>
      <p:sp>
        <p:nvSpPr>
          <p:cNvPr id="5" name="活動前">
            <a:extLst xmlns:a="http://schemas.openxmlformats.org/drawingml/2006/main">
              <a:ext uri="{FF2B5EF4-FFF2-40B4-BE49-F238E27FC236}">
                <a16:creationId xmlns:a16="http://schemas.microsoft.com/office/drawing/2014/main" id="{9DF0A46D-CF34-4B2B-811A-52CC6057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33525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活動前</a:t>
            </a:r>
          </a:p>
        </p:txBody>
      </p:sp>
      <p:sp>
        <p:nvSpPr>
          <p:cNvPr id="6" name="Vexi 選擇權平台／私有產品程式">
            <a:extLst xmlns:a="http://schemas.openxmlformats.org/drawingml/2006/main">
              <a:ext uri="{FF2B5EF4-FFF2-40B4-BE49-F238E27FC236}">
                <a16:creationId xmlns:a16="http://schemas.microsoft.com/office/drawing/2014/main" id="{EF490E07-BE22-4D92-859F-8DE1A5C5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1533525"/>
            <a:ext cx="7524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Vexi 選擇權平台／私有產品程式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342339-C7D5-4958-AB4A-74F20C56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333D"/>
            </a:solidFill>
          </a:ln>
        </p:spPr>
      </p:sp>
      <p:sp>
        <p:nvSpPr>
          <p:cNvPr id="8" name="09/25 22:26">
            <a:extLst xmlns:a="http://schemas.openxmlformats.org/drawingml/2006/main">
              <a:ext uri="{FF2B5EF4-FFF2-40B4-BE49-F238E27FC236}">
                <a16:creationId xmlns:a16="http://schemas.microsoft.com/office/drawing/2014/main" id="{673B0977-EE66-40FA-A636-BE49DA40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27241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09/25 22:26</a:t>
            </a:r>
          </a:p>
        </p:txBody>
      </p:sp>
      <p:sp>
        <p:nvSpPr>
          <p:cNvPr id="9" name="AquaWriter + book">
            <a:extLst xmlns:a="http://schemas.openxmlformats.org/drawingml/2006/main">
              <a:ext uri="{FF2B5EF4-FFF2-40B4-BE49-F238E27FC236}">
                <a16:creationId xmlns:a16="http://schemas.microsoft.com/office/drawing/2014/main" id="{A5B6C835-5647-46C8-B6B3-E17FB2DE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48075"/>
            <a:ext cx="26765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AquaWriter + book</a:t>
            </a:r>
          </a:p>
        </p:txBody>
      </p:sp>
      <p:sp>
        <p:nvSpPr>
          <p:cNvPr id="10" name="09/25 23:39">
            <a:extLst xmlns:a="http://schemas.openxmlformats.org/drawingml/2006/main">
              <a:ext uri="{FF2B5EF4-FFF2-40B4-BE49-F238E27FC236}">
                <a16:creationId xmlns:a16="http://schemas.microsoft.com/office/drawing/2014/main" id="{44A99CFB-BBE4-453B-B613-17DCC767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933700"/>
            <a:ext cx="27241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09/25 23:39</a:t>
            </a:r>
          </a:p>
        </p:txBody>
      </p:sp>
      <p:sp>
        <p:nvSpPr>
          <p:cNvPr id="11" name="Hook 部署">
            <a:extLst xmlns:a="http://schemas.openxmlformats.org/drawingml/2006/main">
              <a:ext uri="{FF2B5EF4-FFF2-40B4-BE49-F238E27FC236}">
                <a16:creationId xmlns:a16="http://schemas.microsoft.com/office/drawing/2014/main" id="{7EAF0D36-8C81-431C-81DD-1237B178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648075"/>
            <a:ext cx="26765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Hook 部署</a:t>
            </a:r>
          </a:p>
        </p:txBody>
      </p:sp>
      <p:sp>
        <p:nvSpPr>
          <p:cNvPr id="12" name="09/27 01:53">
            <a:extLst xmlns:a="http://schemas.openxmlformats.org/drawingml/2006/main">
              <a:ext uri="{FF2B5EF4-FFF2-40B4-BE49-F238E27FC236}">
                <a16:creationId xmlns:a16="http://schemas.microsoft.com/office/drawing/2014/main" id="{7EDA2770-8679-4019-9993-30D3AFFD2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33700"/>
            <a:ext cx="27241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09/27 01:53</a:t>
            </a:r>
          </a:p>
        </p:txBody>
      </p:sp>
      <p:sp>
        <p:nvSpPr>
          <p:cNvPr id="13" name="Hooked pool">
            <a:extLst xmlns:a="http://schemas.openxmlformats.org/drawingml/2006/main">
              <a:ext uri="{FF2B5EF4-FFF2-40B4-BE49-F238E27FC236}">
                <a16:creationId xmlns:a16="http://schemas.microsoft.com/office/drawing/2014/main" id="{308EF233-7DC1-4BE2-9960-A7512CFE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48075"/>
            <a:ext cx="26765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Hooked pool</a:t>
            </a:r>
          </a:p>
        </p:txBody>
      </p:sp>
      <p:sp>
        <p:nvSpPr>
          <p:cNvPr id="14" name="09/27 02:32">
            <a:extLst xmlns:a="http://schemas.openxmlformats.org/drawingml/2006/main">
              <a:ext uri="{FF2B5EF4-FFF2-40B4-BE49-F238E27FC236}">
                <a16:creationId xmlns:a16="http://schemas.microsoft.com/office/drawing/2014/main" id="{77655A53-A5FF-48AD-9211-FF9FAF7B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933700"/>
            <a:ext cx="27241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FF007A"/>
                </a:solidFill>
                <a:latin typeface="Arial Unicode MS"/>
                <a:ea typeface="Arial Unicode MS"/>
                <a:cs typeface="Arial Unicode MS"/>
              </a:rPr>
              <a:t>09/27 02:32</a:t>
            </a:r>
          </a:p>
        </p:txBody>
      </p:sp>
      <p:sp>
        <p:nvSpPr>
          <p:cNvPr id="15" name="Band + 結算">
            <a:extLst xmlns:a="http://schemas.openxmlformats.org/drawingml/2006/main">
              <a:ext uri="{FF2B5EF4-FFF2-40B4-BE49-F238E27FC236}">
                <a16:creationId xmlns:a16="http://schemas.microsoft.com/office/drawing/2014/main" id="{F7D9E813-874B-4211-ADBD-9C1CD2EC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648075"/>
            <a:ext cx="26765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Band + 結算</a:t>
            </a:r>
          </a:p>
        </p:txBody>
      </p:sp>
      <p:sp>
        <p:nvSpPr>
          <p:cNvPr id="16" name="公開抽出：小型 book + FixedPremium">
            <a:extLst xmlns:a="http://schemas.openxmlformats.org/drawingml/2006/main">
              <a:ext uri="{FF2B5EF4-FFF2-40B4-BE49-F238E27FC236}">
                <a16:creationId xmlns:a16="http://schemas.microsoft.com/office/drawing/2014/main" id="{9A156900-A74E-44D9-9638-19E508A2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05375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62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公開抽出：小型 book + FixedPremium</a:t>
            </a:r>
          </a:p>
        </p:txBody>
      </p:sp>
      <p:sp>
        <p:nvSpPr>
          <p:cNvPr id="17" name="活動期間新增，時間為 JST；私有產品定價不在公開範圍">
            <a:extLst xmlns:a="http://schemas.openxmlformats.org/drawingml/2006/main">
              <a:ext uri="{FF2B5EF4-FFF2-40B4-BE49-F238E27FC236}">
                <a16:creationId xmlns:a16="http://schemas.microsoft.com/office/drawing/2014/main" id="{F8D490A4-FF09-4241-85D3-37711811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74357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活動期間新增，時間為 JST；私有產品定價不在公開範圍</a:t>
            </a:r>
          </a:p>
        </p:txBody>
      </p:sp>
    </p:spTree>
    <p:extLst>
      <p:ext uri="{BB962C8B-B14F-4D97-AF65-F5344CB8AC3E}">
        <p14:creationId xmlns:p14="http://schemas.microsoft.com/office/powerpoint/2010/main" val="3385523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歷史動機：HIMS 案例">
            <a:extLst xmlns:a="http://schemas.openxmlformats.org/drawingml/2006/main">
              <a:ext uri="{FF2B5EF4-FFF2-40B4-BE49-F238E27FC236}">
                <a16:creationId xmlns:a16="http://schemas.microsoft.com/office/drawing/2014/main" id="{9CF7455A-6D1A-4CBF-9753-97E89804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歷史動機：HIMS 案例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47f1d95d84f70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6F1A9CC5-A403-4524-8B15-2BE10F9A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A5">
            <a:extLst xmlns:a="http://schemas.openxmlformats.org/drawingml/2006/main">
              <a:ext uri="{FF2B5EF4-FFF2-40B4-BE49-F238E27FC236}">
                <a16:creationId xmlns:a16="http://schemas.microsoft.com/office/drawing/2014/main" id="{BFEEB171-E0C9-48DB-BB59-C1EFB3E6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A5</a:t>
            </a:r>
          </a:p>
        </p:txBody>
      </p:sp>
      <p:sp>
        <p:nvSpPr>
          <p:cNvPr id="5" name="2026-08-30 週末研究">
            <a:extLst xmlns:a="http://schemas.openxmlformats.org/drawingml/2006/main">
              <a:ext uri="{FF2B5EF4-FFF2-40B4-BE49-F238E27FC236}">
                <a16:creationId xmlns:a16="http://schemas.microsoft.com/office/drawing/2014/main" id="{32E41EF4-CCF8-49A3-BA86-68D9E85E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1922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2026-08-30 週末研究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19125" y="2209800"/>
          <a:ext xmlns:a="http://schemas.openxmlformats.org/drawingml/2006/main" cx="69627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ab9e68792cc476d"/>
          </a:graphicData>
        </a:graphic>
      </p:graphicFrame>
      <p:sp>
        <p:nvSpPr>
          <p:cNvPr id="7" name="12 USDG">
            <a:extLst xmlns:a="http://schemas.openxmlformats.org/drawingml/2006/main">
              <a:ext uri="{FF2B5EF4-FFF2-40B4-BE49-F238E27FC236}">
                <a16:creationId xmlns:a16="http://schemas.microsoft.com/office/drawing/2014/main" id="{F2C8D38B-4759-43AD-BAB5-4E54AE71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14600"/>
            <a:ext cx="3257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9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12 USDG</a:t>
            </a:r>
          </a:p>
        </p:txBody>
      </p:sp>
      <p:sp>
        <p:nvSpPr>
          <p:cNvPr id="8" name="估算來回費用">
            <a:extLst xmlns:a="http://schemas.openxmlformats.org/drawingml/2006/main">
              <a:ext uri="{FF2B5EF4-FFF2-40B4-BE49-F238E27FC236}">
                <a16:creationId xmlns:a16="http://schemas.microsoft.com/office/drawing/2014/main" id="{F0655497-A214-4B1E-A0BB-166C7380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505200"/>
            <a:ext cx="3286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估算來回費用</a:t>
            </a:r>
          </a:p>
        </p:txBody>
      </p:sp>
      <p:sp>
        <p:nvSpPr>
          <p:cNvPr id="9" name="推價 10%，另一時點">
            <a:extLst xmlns:a="http://schemas.openxmlformats.org/drawingml/2006/main">
              <a:ext uri="{FF2B5EF4-FFF2-40B4-BE49-F238E27FC236}">
                <a16:creationId xmlns:a16="http://schemas.microsoft.com/office/drawing/2014/main" id="{A8F55F33-7CC2-4258-B0B5-B2B952A8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067175"/>
            <a:ext cx="3286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推價 10%，另一時點</a:t>
            </a:r>
          </a:p>
        </p:txBody>
      </p:sp>
      <p:sp>
        <p:nvSpPr>
          <p:cNvPr id="10" name="不同時點；這是歷史動機，並非 band 曾阻止事件的證據">
            <a:extLst xmlns:a="http://schemas.openxmlformats.org/drawingml/2006/main">
              <a:ext uri="{FF2B5EF4-FFF2-40B4-BE49-F238E27FC236}">
                <a16:creationId xmlns:a16="http://schemas.microsoft.com/office/drawing/2014/main" id="{5B31A450-D046-4DF2-A135-405870F4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7531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不同時點；這是歷史動機，並非 band 曾阻止事件的證據</a:t>
            </a:r>
          </a:p>
        </p:txBody>
      </p:sp>
    </p:spTree>
    <p:extLst>
      <p:ext uri="{BB962C8B-B14F-4D97-AF65-F5344CB8AC3E}">
        <p14:creationId xmlns:p14="http://schemas.microsoft.com/office/powerpoint/2010/main" val="11265303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8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可以重現的合約證據">
            <a:extLst xmlns:a="http://schemas.openxmlformats.org/drawingml/2006/main">
              <a:ext uri="{FF2B5EF4-FFF2-40B4-BE49-F238E27FC236}">
                <a16:creationId xmlns:a16="http://schemas.microsoft.com/office/drawing/2014/main" id="{0C197313-6072-4D25-9822-912899E1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11001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可以重現的合約證據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b706bffb5e46c9"/>
          <a:stretch xmlns:a="http://schemas.openxmlformats.org/drawingml/2006/main"/>
        </p:blipFill>
        <p:spPr>
          <a:xfrm xmlns:a="http://schemas.openxmlformats.org/drawingml/2006/main">
            <a:off x="609600" y="623887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" name="Vexi Hakari">
            <a:extLst xmlns:a="http://schemas.openxmlformats.org/drawingml/2006/main">
              <a:ext uri="{FF2B5EF4-FFF2-40B4-BE49-F238E27FC236}">
                <a16:creationId xmlns:a16="http://schemas.microsoft.com/office/drawing/2014/main" id="{34E3B403-4B27-4EC4-A1F1-52A94083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531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Vexi Hakari</a:t>
            </a:r>
          </a:p>
        </p:txBody>
      </p:sp>
      <p:sp>
        <p:nvSpPr>
          <p:cNvPr id="4" name="A6">
            <a:extLst xmlns:a="http://schemas.openxmlformats.org/drawingml/2006/main">
              <a:ext uri="{FF2B5EF4-FFF2-40B4-BE49-F238E27FC236}">
                <a16:creationId xmlns:a16="http://schemas.microsoft.com/office/drawing/2014/main" id="{EA70F8BC-9446-4277-AD67-88B49722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153150"/>
            <a:ext cx="61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A6</a:t>
            </a:r>
          </a:p>
        </p:txBody>
      </p:sp>
      <p:sp>
        <p:nvSpPr>
          <p:cNvPr id="5" name="1 + 4 = 5">
            <a:extLst xmlns:a="http://schemas.openxmlformats.org/drawingml/2006/main">
              <a:ext uri="{FF2B5EF4-FFF2-40B4-BE49-F238E27FC236}">
                <a16:creationId xmlns:a16="http://schemas.microsoft.com/office/drawing/2014/main" id="{D8B33D0F-0D14-45E7-903C-4B789230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438275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5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1 + 4 = 5</a:t>
            </a:r>
          </a:p>
        </p:txBody>
      </p:sp>
      <p:sp>
        <p:nvSpPr>
          <p:cNvPr id="6" name="1 條 15 步生命週期 + 4 個獨立情境 = 5 個測試">
            <a:extLst xmlns:a="http://schemas.openxmlformats.org/drawingml/2006/main">
              <a:ext uri="{FF2B5EF4-FFF2-40B4-BE49-F238E27FC236}">
                <a16:creationId xmlns:a16="http://schemas.microsoft.com/office/drawing/2014/main" id="{BDF7A9B4-BFDF-46FC-B6B6-8519B569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A8A8B2"/>
                </a:solidFill>
                <a:latin typeface="Arial Unicode MS"/>
                <a:ea typeface="Arial Unicode MS"/>
                <a:cs typeface="Arial Unicode MS"/>
              </a:rPr>
              <a:t>1 條 15 步生命週期 + 4 個獨立情境 = 5 個測試</a:t>
            </a:r>
          </a:p>
        </p:txBody>
      </p:sp>
      <p:sp>
        <p:nvSpPr>
          <p:cNvPr id="7" name="原始碼">
            <a:extLst xmlns:a="http://schemas.openxmlformats.org/drawingml/2006/main">
              <a:ext uri="{FF2B5EF4-FFF2-40B4-BE49-F238E27FC236}">
                <a16:creationId xmlns:a16="http://schemas.microsoft.com/office/drawing/2014/main" id="{0D1011EB-0277-41DE-91B4-C498AEF7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14725"/>
            <a:ext cx="2114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AFAF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原始碼</a:t>
            </a:r>
          </a:p>
        </p:txBody>
      </p:sp>
      <p:sp>
        <p:nvSpPr>
          <p:cNvPr id="8" name="Foundry">
            <a:extLst xmlns:a="http://schemas.openxmlformats.org/drawingml/2006/main">
              <a:ext uri="{FF2B5EF4-FFF2-40B4-BE49-F238E27FC236}">
                <a16:creationId xmlns:a16="http://schemas.microsoft.com/office/drawing/2014/main" id="{5EC7C230-CECE-4435-9062-46DA1827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514725"/>
            <a:ext cx="2114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37D67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Foundry</a:t>
            </a:r>
          </a:p>
        </p:txBody>
      </p:sp>
      <p:sp>
        <p:nvSpPr>
          <p:cNvPr id="9" name="JSON + trace">
            <a:extLst xmlns:a="http://schemas.openxmlformats.org/drawingml/2006/main">
              <a:ext uri="{FF2B5EF4-FFF2-40B4-BE49-F238E27FC236}">
                <a16:creationId xmlns:a16="http://schemas.microsoft.com/office/drawing/2014/main" id="{7DA8E19D-481E-4EAC-92FF-EA750A04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14725"/>
            <a:ext cx="2114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AFAF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JSON + trace</a:t>
            </a:r>
          </a:p>
        </p:txBody>
      </p:sp>
      <p:sp>
        <p:nvSpPr>
          <p:cNvPr id="10" name="網站">
            <a:extLst xmlns:a="http://schemas.openxmlformats.org/drawingml/2006/main">
              <a:ext uri="{FF2B5EF4-FFF2-40B4-BE49-F238E27FC236}">
                <a16:creationId xmlns:a16="http://schemas.microsoft.com/office/drawing/2014/main" id="{1F4DE2E3-9B7C-486F-B168-73A1CAD2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14725"/>
            <a:ext cx="2114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A"/>
          </a:solidFill>
          <a:ln xmlns:a="http://schemas.openxmlformats.org/drawingml/2006/main" w="14288">
            <a:solidFill>
              <a:srgbClr val="FAFAFA"/>
            </a:solidFill>
          </a:ln>
        </p:spPr>
        <p:txBody>
          <a:bodyPr xmlns:a="http://schemas.openxmlformats.org/drawingml/2006/main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網站</a:t>
            </a:r>
          </a:p>
        </p:txBody>
      </p:sp>
      <p:cxnSp>
        <p:nvCxnSpPr>
          <p:cNvPr id="2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781300" y="3876675"/>
            <a:ext cx="7905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A8A8B2"/>
            </a:solidFill>
            <a:prstDash val="solid"/>
            <a:tailEnd type="triangle" w="med" len="med"/>
          </a:ln>
        </p:spPr>
      </p:cxnSp>
      <p:cxnSp>
        <p:nvCxnSpPr>
          <p:cNvPr id="28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686425" y="3876675"/>
            <a:ext cx="7905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A8A8B2"/>
            </a:solidFill>
            <a:prstDash val="solid"/>
            <a:tailEnd type="triangle" w="med" len="med"/>
          </a:ln>
        </p:spPr>
      </p:cxnSp>
      <p:cxnSp>
        <p:nvCxnSpPr>
          <p:cNvPr id="29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591550" y="3876675"/>
            <a:ext cx="7905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A8A8B2"/>
            </a:solidFill>
            <a:prstDash val="solid"/>
            <a:tailEnd type="triangle" w="med" len="med"/>
          </a:ln>
        </p:spPr>
      </p:cxnSp>
      <p:sp>
        <p:nvSpPr>
          <p:cNvPr id="14" name="4663 分叉 @ 72,248,228">
            <a:extLst xmlns:a="http://schemas.openxmlformats.org/drawingml/2006/main">
              <a:ext uri="{FF2B5EF4-FFF2-40B4-BE49-F238E27FC236}">
                <a16:creationId xmlns:a16="http://schemas.microsoft.com/office/drawing/2014/main" id="{A39610C1-24AC-4B2A-B0EB-933F350A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790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FAFAFA"/>
                </a:solidFill>
                <a:latin typeface="Arial Unicode MS"/>
                <a:ea typeface="Arial Unicode MS"/>
                <a:cs typeface="Arial Unicode MS"/>
              </a:rPr>
              <a:t>4663 分叉 @ 72,248,228</a:t>
            </a:r>
          </a:p>
        </p:txBody>
      </p:sp>
      <p:sp>
        <p:nvSpPr>
          <p:cNvPr id="15" name="0 筆主網廣播">
            <a:extLst xmlns:a="http://schemas.openxmlformats.org/drawingml/2006/main">
              <a:ext uri="{FF2B5EF4-FFF2-40B4-BE49-F238E27FC236}">
                <a16:creationId xmlns:a16="http://schemas.microsoft.com/office/drawing/2014/main" id="{4AE69CCA-829F-4534-B6E8-FF45ECA3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648200"/>
            <a:ext cx="3076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rPr>
              <a:t>0 筆主網廣播</a:t>
            </a:r>
          </a:p>
        </p:txBody>
      </p:sp>
      <p:sp>
        <p:nvSpPr>
          <p:cNvPr id="16" name="github.com/vexi-v1/vexi-hakari">
            <a:extLst xmlns:a="http://schemas.openxmlformats.org/drawingml/2006/main">
              <a:ext uri="{FF2B5EF4-FFF2-40B4-BE49-F238E27FC236}">
                <a16:creationId xmlns:a16="http://schemas.microsoft.com/office/drawing/2014/main" id="{2D308AA2-6169-4784-8459-5FF1B526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0" u="sng">
                <a:solidFill>
                  <a:srgbClr val="37D67A"/>
                </a:solidFill>
                <a:latin typeface="Arial Unicode MS"/>
                <a:ea typeface="Arial Unicode MS"/>
                <a:cs typeface="Arial Unicode MS"/>
                <a:hlinkClick xmlns:r="http://schemas.openxmlformats.org/officeDocument/2006/relationships" r:id="R60783f3744d04dc5"/>
              </a:rPr>
              <a:t>github.com/vexi-v1/vexi-hakari</a:t>
            </a:r>
          </a:p>
        </p:txBody>
      </p:sp>
    </p:spTree>
    <p:extLst>
      <p:ext uri="{BB962C8B-B14F-4D97-AF65-F5344CB8AC3E}">
        <p14:creationId xmlns:p14="http://schemas.microsoft.com/office/powerpoint/2010/main" val="19144733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2026-09-26T20:50:56.1100000Z</dcterms:created>
  <dcterms:modified xsi:type="dcterms:W3CDTF">2026-09-26T20:50:56.1100000Z</dcterms:modified>
</coreProperties>
</file>