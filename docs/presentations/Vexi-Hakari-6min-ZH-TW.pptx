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848c90b3534acc" /><Relationship Type="http://schemas.openxmlformats.org/officeDocument/2006/relationships/extended-properties" Target="/docProps/app.xml" Id="Rdf6faa2597f64aff" /><Relationship Type="http://schemas.openxmlformats.org/officeDocument/2006/relationships/officeDocument" Target="/ppt/presentation.xml" Id="R977296156687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35aa117c54e98"/>
  </p:sldMasterIdLst>
  <p:notesMasterIdLst>
    <p:notesMasterId xmlns:r="http://schemas.openxmlformats.org/officeDocument/2006/relationships" r:id="R7aed5177097042a1"/>
  </p:notesMasterIdLst>
  <p:sldIdLst>
    <p:sldId xmlns:r="http://schemas.openxmlformats.org/officeDocument/2006/relationships" id="256" r:id="Rb7bc84027e254909"/>
    <p:sldId xmlns:r="http://schemas.openxmlformats.org/officeDocument/2006/relationships" id="257" r:id="Rc7992ad6e6a541bb"/>
    <p:sldId xmlns:r="http://schemas.openxmlformats.org/officeDocument/2006/relationships" id="258" r:id="R162f9d7aa8c840af"/>
    <p:sldId xmlns:r="http://schemas.openxmlformats.org/officeDocument/2006/relationships" id="259" r:id="Rdfa7a0120d7f4d7d"/>
    <p:sldId xmlns:r="http://schemas.openxmlformats.org/officeDocument/2006/relationships" id="260" r:id="R0205396cf1054b2b"/>
    <p:sldId xmlns:r="http://schemas.openxmlformats.org/officeDocument/2006/relationships" id="261" r:id="R79f24387780e48dc"/>
    <p:sldId xmlns:r="http://schemas.openxmlformats.org/officeDocument/2006/relationships" id="262" r:id="Rb3fb21312fc444b3"/>
    <p:sldId xmlns:r="http://schemas.openxmlformats.org/officeDocument/2006/relationships" id="263" r:id="R9abbce4c33704385"/>
    <p:sldId xmlns:r="http://schemas.openxmlformats.org/officeDocument/2006/relationships" id="264" r:id="Rccd25f0e47174be0"/>
    <p:sldId xmlns:r="http://schemas.openxmlformats.org/officeDocument/2006/relationships" id="265" r:id="R248a73986ca94b68"/>
    <p:sldId xmlns:r="http://schemas.openxmlformats.org/officeDocument/2006/relationships" id="266" r:id="R44f3499d48904e67"/>
    <p:sldId xmlns:r="http://schemas.openxmlformats.org/officeDocument/2006/relationships" id="267" r:id="R6c8ec006956d40f2"/>
    <p:sldId xmlns:r="http://schemas.openxmlformats.org/officeDocument/2006/relationships" id="268" r:id="R20294b46bfcb4ab1"/>
    <p:sldId xmlns:r="http://schemas.openxmlformats.org/officeDocument/2006/relationships" id="269" r:id="R306025e3b5404aef"/>
    <p:sldId xmlns:r="http://schemas.openxmlformats.org/officeDocument/2006/relationships" id="270" r:id="R6d3bc29f983a486d"/>
    <p:sldId xmlns:r="http://schemas.openxmlformats.org/officeDocument/2006/relationships" id="271" r:id="R44868e276021429c"/>
    <p:sldId xmlns:r="http://schemas.openxmlformats.org/officeDocument/2006/relationships" id="272" r:id="R45a2483b02cd4847"/>
    <p:sldId xmlns:r="http://schemas.openxmlformats.org/officeDocument/2006/relationships" id="273" r:id="R0ff652eb1d5049cc"/>
    <p:sldId xmlns:r="http://schemas.openxmlformats.org/officeDocument/2006/relationships" id="274" r:id="Rc787b26880df4c9c"/>
    <p:sldId xmlns:r="http://schemas.openxmlformats.org/officeDocument/2006/relationships" id="275" r:id="Ra3551596296e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f98a215989461b" /><Relationship Type="http://schemas.openxmlformats.org/officeDocument/2006/relationships/slideMaster" Target="/ppt/slideMasters/slideMaster1.xml" Id="R07735aa117c54e98" /><Relationship Type="http://schemas.openxmlformats.org/officeDocument/2006/relationships/notesMaster" Target="/ppt/notesMasters/notesMaster1.xml" Id="R7aed5177097042a1" /><Relationship Type="http://schemas.openxmlformats.org/officeDocument/2006/relationships/presProps" Target="/ppt/presProps.xml" Id="R8396c9a8d6d24727" /><Relationship Type="http://schemas.openxmlformats.org/officeDocument/2006/relationships/tableStyles" Target="/ppt/tableStyles.xml" Id="Rf93f29c0d88745dc" /><Relationship Type="http://schemas.openxmlformats.org/officeDocument/2006/relationships/slide" Target="/ppt/slides/slide1.xml" Id="Rb7bc84027e254909" /><Relationship Type="http://schemas.openxmlformats.org/officeDocument/2006/relationships/slide" Target="/ppt/slides/slide2.xml" Id="Rc7992ad6e6a541bb" /><Relationship Type="http://schemas.openxmlformats.org/officeDocument/2006/relationships/slide" Target="/ppt/slides/slide3.xml" Id="R162f9d7aa8c840af" /><Relationship Type="http://schemas.openxmlformats.org/officeDocument/2006/relationships/slide" Target="/ppt/slides/slide4.xml" Id="Rdfa7a0120d7f4d7d" /><Relationship Type="http://schemas.openxmlformats.org/officeDocument/2006/relationships/slide" Target="/ppt/slides/slide5.xml" Id="R0205396cf1054b2b" /><Relationship Type="http://schemas.openxmlformats.org/officeDocument/2006/relationships/slide" Target="/ppt/slides/slide6.xml" Id="R79f24387780e48dc" /><Relationship Type="http://schemas.openxmlformats.org/officeDocument/2006/relationships/slide" Target="/ppt/slides/slide7.xml" Id="Rb3fb21312fc444b3" /><Relationship Type="http://schemas.openxmlformats.org/officeDocument/2006/relationships/slide" Target="/ppt/slides/slide8.xml" Id="R9abbce4c33704385" /><Relationship Type="http://schemas.openxmlformats.org/officeDocument/2006/relationships/slide" Target="/ppt/slides/slide9.xml" Id="Rccd25f0e47174be0" /><Relationship Type="http://schemas.openxmlformats.org/officeDocument/2006/relationships/slide" Target="/ppt/slides/slide10.xml" Id="R248a73986ca94b68" /><Relationship Type="http://schemas.openxmlformats.org/officeDocument/2006/relationships/slide" Target="/ppt/slides/slide11.xml" Id="R44f3499d48904e67" /><Relationship Type="http://schemas.openxmlformats.org/officeDocument/2006/relationships/slide" Target="/ppt/slides/slide12.xml" Id="R6c8ec006956d40f2" /><Relationship Type="http://schemas.openxmlformats.org/officeDocument/2006/relationships/slide" Target="/ppt/slides/slide13.xml" Id="R20294b46bfcb4ab1" /><Relationship Type="http://schemas.openxmlformats.org/officeDocument/2006/relationships/slide" Target="/ppt/slides/slide14.xml" Id="R306025e3b5404aef" /><Relationship Type="http://schemas.openxmlformats.org/officeDocument/2006/relationships/slide" Target="/ppt/slides/slide15.xml" Id="R6d3bc29f983a486d" /><Relationship Type="http://schemas.openxmlformats.org/officeDocument/2006/relationships/slide" Target="/ppt/slides/slide16.xml" Id="R44868e276021429c" /><Relationship Type="http://schemas.openxmlformats.org/officeDocument/2006/relationships/slide" Target="/ppt/slides/slide17.xml" Id="R45a2483b02cd4847" /><Relationship Type="http://schemas.openxmlformats.org/officeDocument/2006/relationships/slide" Target="/ppt/slides/slide18.xml" Id="R0ff652eb1d5049cc" /><Relationship Type="http://schemas.openxmlformats.org/officeDocument/2006/relationships/slide" Target="/ppt/slides/slide19.xml" Id="Rc787b26880df4c9c" /><Relationship Type="http://schemas.openxmlformats.org/officeDocument/2006/relationships/slide" Target="/ppt/slides/slide20.xml" Id="Ra3551596296e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d9ec7edbe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05fe6ac074d56" /><Relationship Type="http://schemas.openxmlformats.org/officeDocument/2006/relationships/notesMaster" Target="/ppt/notesMasters/notesMaster1.xml" Id="R672f6f8b9bbb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126b641de94651" /><Relationship Type="http://schemas.openxmlformats.org/officeDocument/2006/relationships/notesMaster" Target="/ppt/notesMasters/notesMaster1.xml" Id="R70ab41fdb07645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9b3f366084186" /><Relationship Type="http://schemas.openxmlformats.org/officeDocument/2006/relationships/notesMaster" Target="/ppt/notesMasters/notesMaster1.xml" Id="Rfd2c14bf81aa41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ed9ea944e4d4c" /><Relationship Type="http://schemas.openxmlformats.org/officeDocument/2006/relationships/notesMaster" Target="/ppt/notesMasters/notesMaster1.xml" Id="R9216d3420a734e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aa5909e724f11" /><Relationship Type="http://schemas.openxmlformats.org/officeDocument/2006/relationships/notesMaster" Target="/ppt/notesMasters/notesMaster1.xml" Id="Ra517465051e24a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99ae9f0044928" /><Relationship Type="http://schemas.openxmlformats.org/officeDocument/2006/relationships/notesMaster" Target="/ppt/notesMasters/notesMaster1.xml" Id="R4e282c8696804d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87101862b144d1" /><Relationship Type="http://schemas.openxmlformats.org/officeDocument/2006/relationships/notesMaster" Target="/ppt/notesMasters/notesMaster1.xml" Id="Ra1b87effb9184d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8b249127c940e4" /><Relationship Type="http://schemas.openxmlformats.org/officeDocument/2006/relationships/notesMaster" Target="/ppt/notesMasters/notesMaster1.xml" Id="R4fb605224f45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f4b0f1c29437a" /><Relationship Type="http://schemas.openxmlformats.org/officeDocument/2006/relationships/notesMaster" Target="/ppt/notesMasters/notesMaster1.xml" Id="R087977697ef744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8f0c5cc7b24f86" /><Relationship Type="http://schemas.openxmlformats.org/officeDocument/2006/relationships/notesMaster" Target="/ppt/notesMasters/notesMaster1.xml" Id="Re9470e5bca0742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da644f84bb46a8" /><Relationship Type="http://schemas.openxmlformats.org/officeDocument/2006/relationships/notesMaster" Target="/ppt/notesMasters/notesMaster1.xml" Id="R6c245546bddd4e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8fb7bb6e344a19" /><Relationship Type="http://schemas.openxmlformats.org/officeDocument/2006/relationships/notesMaster" Target="/ppt/notesMasters/notesMaster1.xml" Id="Ra67697ab1d004f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66adfaa9db465a" /><Relationship Type="http://schemas.openxmlformats.org/officeDocument/2006/relationships/notesMaster" Target="/ppt/notesMasters/notesMaster1.xml" Id="R1fee1ea56cba48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9835b049944975" /><Relationship Type="http://schemas.openxmlformats.org/officeDocument/2006/relationships/notesMaster" Target="/ppt/notesMasters/notesMaster1.xml" Id="R60edf216a9df48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f00dacb9ec4a1d" /><Relationship Type="http://schemas.openxmlformats.org/officeDocument/2006/relationships/notesMaster" Target="/ppt/notesMasters/notesMaster1.xml" Id="R9491f93622334a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040639a24b4b95" /><Relationship Type="http://schemas.openxmlformats.org/officeDocument/2006/relationships/notesMaster" Target="/ppt/notesMasters/notesMaster1.xml" Id="Rae748206aa7a45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d5faf2363f4c22" /><Relationship Type="http://schemas.openxmlformats.org/officeDocument/2006/relationships/notesMaster" Target="/ppt/notesMasters/notesMaster1.xml" Id="Rf4a73926bce748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d056a889bd41e6" /><Relationship Type="http://schemas.openxmlformats.org/officeDocument/2006/relationships/notesMaster" Target="/ppt/notesMasters/notesMaster1.xml" Id="R99d38d4e140143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1cf5aee73a4771" /><Relationship Type="http://schemas.openxmlformats.org/officeDocument/2006/relationships/notesMaster" Target="/ppt/notesMasters/notesMaster1.xml" Id="Rf637d4c484ed4b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c2bab4a9d540fd" /><Relationship Type="http://schemas.openxmlformats.org/officeDocument/2006/relationships/notesMaster" Target="/ppt/notesMasters/notesMaster1.xml" Id="Rc42ebfe745534b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Vexi Hakari 讓選擇權和現貨共用同一個造市者錢包。Aqua 負責策略帳務與資金移動，Uniswap v4 的價格參考則控制報價。接下來從資金流一路看到拒單，再切到實際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開始前先開好公開回放。整份規劃為六分鐘。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docs/website.md; website/vexi-logo.svg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先用 AAPL 代幣和 USDG 的假設價格理解選擇權。Covered call 是買方先付五塊權利金，取得用四百買一個 AAPL 的權利。到期三百五十就不履約，四百五十就付四百取得代幣。Put 方向相反，買方有權用四百賣出 AAPL，所以賣方要備妥四百 USDG。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Illustrative contract with a five-USDG premium. This is a teaching example, not the recorded eight-USDG base-premium lifecycle.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User-supplied HAKARI Pitch Deck.html, slides 2–3; aqua/src/book/OptionBook.sol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這個整合處理兩個問題。先存抵押品的模式，就算十口只賣出兩口，十個代幣仍然先鎖進合約。另一方面，股票市場休市時，代幣池仍能交易，固定選擇權報價可能跟不上池價。Aqua 處理何時移動抵押品，band 處理新報價何時縮小或停止。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The deposit-first comparison is an illustrative design, not a claim about every options protocol. Price path is schematic and is not market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User-supplied HAKARI Pitch Deck.html, slides 4–6; docs/history.md; docs/band.md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資產留在左邊的同一個錢包。Aqua 連接兩種策略：上面是選擇權 writer 與 book，下面是有庫存 guard 的 SwapVM 現貨策略。Hook 記錄 Uniswap 價格，band 再包住公開的固定權利金報價。資金存取、訂單帳務和報價檢查，各有清楚分工。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分開追蹤資金存取的實線，以及粉紅色的價格參考路徑。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docs/website.md; aqua/src/swapvm/ExposureGuard.sol; aqua/src/band/StabilityBandPricer.sol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錢包最初有三十個 AAPL 和兩萬 USDG。掛十口 call，承諾十個 AAPL；掛十口履約價四百的 put，承諾四千 USDG。此時 book 還沒有收到代幣，其餘是未承諾庫存。Aqua 的虛擬額度指向同一批資產，不能相加當成更多存款。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先指出承諾與可用區段，再指出 book 為零。Ship 和 post 都沒有移動代幣。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initial, ship, post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Guard 會用實際錢包餘額扣掉 writer 的未成交承諾，再等比例縮小 SwapVM 的兩邊虛擬儲備。有保護的範例中，四百 USDG 的現貨交易後還剩約二十九個 AAPL。另一個沒有 guard 的獨立情境賣掉二十一個，只剩九個，低於十個的承諾，後續 call 成交就會失敗。這個保護只約束有使用 guard 的策略。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比較錢包餘額與十個 AAPL 的承諾。兩個現貨交易的輸入不同，且屬獨立情境，不是交易績效比較。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spot; unguarded unguarded; aqua/src/swapvm/ExposureGuard.sol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買方成交五口 call 和三口 put。Writer 透過 Aqua.pull，從造市者直接拉取五個 AAPL 和一千兩百 USDG 到 book。買方另付六十四點零零六四 USDG 權利金，取得多頭部位。所以 book 共有五個 AAPL 和一千兩百六十四點零零六四 USDG。剩餘未成交承諾則是五個 AAPL 和兩千八百 USDG。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綠色是抵押品，粉紅是權利金。Aqua.pull 是拉取機制，不是中間保管帳戶。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spot, buy; aqua/test/WebsiteEvidence.t.sol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價格帶中心是一小時 tick TWAP。OpenZeppelin 的 oracle 在每秒第一筆 swap 之前記錄，所以同一交易裡推高再拉回，不會被記成那次尖峰。另一組截斷序列每次最多移動兩百五十個 tick，band 會比較兩組平均。但價格如果持續停留，仍然會逐漸成為新中心。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Schematic observation timing. The chart is not an oracle simulation. The time-weighted mean tick converts to a geometric price average. Credit the upstream oracle.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src/HakariOracleHook.sol; test/HakariOracleHook.t.sol; docs/band.md; OpenZeppelin BaseOracleHook / Panoptic oracle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3:05–3:30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這張 AAPL 示意圖沿用已記錄的 TSLA 參考價格路徑。滾動 TWAP 中心約三百七十八點二三，固定往上下各延伸百分之五。偏離百分之二點五時還能報價；到百分之五點一就越過上界，合約拒絕買入。另外也會檢查觀測資料是否可讀、流動性是否足夠，以及原始與截斷價格是否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指出 +5.1% 快照超過上界。這是本機 EVM 裡的合成市場觀測。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buy, taper, pause, recover; aqua/src/band/StabilityBandPricer.sol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3:30–3:55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兩條是網站的示意計算曲線，和剛才的分叉記錄分開。中心設四百，基本權利金八塊。左邊的口數上限線性縮小，右邊的額外權利金則呈平方增加。在百分之二點五的位置，每次上限二十五口，報價八點四。到邊緣，上限變成零，就沒有可成交報價。這是每次呼叫的上限，不是累積成交額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對照兩張圖的 2.5% 位置。整數捨入會減少口數、提高報價。到 ±5% 已沒有一整口可報。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website/band.mjs calculateBand; fixed example assumes readable reference, enough liquidity and raw/truncated agreement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3:55–4:15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Band 開啟只是其中一道門。原報價可能已到期；持續百分之六的偏移即使變成新中心，原始錨點仍然拒絕。沒有 guard 的現貨策略也可能把抵押品用掉，此時小額報價甚至還讀得到。真正成交仍要同時通過期限、錨點、剩餘庫存和實際抵押品檢查。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逐列橫向閱讀。讀得到報價不代表能買，book 依序檢查，可能在第一個失敗處停止。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pause, expired; anchor anchor-refused; unguarded unguarded; website/app.js cases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4:15–4:40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範例接受的到期價格約三百七十八點二六九，低於四百履約價，所以 put 在價內。買方交付三個 AAPL，收到一千兩百 USDG，call 則在價外。履約期結束後，關單透過 Aqua 退回八個 AAPL，包含五個未用的 call 抵押品，以及三個履約收入。再分開領取六十四點零零六四的權利金，book 代幣餘額歸零。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兩種代幣都來自同一條生命週期。Close 和 claim 是不同操作，剩餘承諾在第 15 步解除。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settle, exercise, close, premium, release; docs/settlement.md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4:40–5:20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AAPL 範例對應這份 TSLA/USDG 合約回放。第五步，抵押品和權利金進入 book，可以看到兩者的差別。第七步，超出價格帶再買一筆會 revert，買方資金和部位不變。第九步，band 已開啟，但報價到期，必須由造市者更新。第十四步，領完權利金後，book 的代幣餘額變成零。每一步都有前後餘額和 EVM logs 可以展開查核。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先開好回放，依序選 05、07、09、14，每步約十秒；網站無法使用時，以本頁完成講解。 Public demo: https://vexi-v1.github.io/vexi-hakari/ . Local fallback: http://127.0.0.1:8787/ . 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website/evidence/demo.json: lifecycle buy, pause, expired, premium; website/app.js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5:20–6:00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對 Aqua，這是成交才拉抵押品的選擇權 writer，加上共用庫存的 SwapVM guard。對 Uniswap，這是會實際改變口數、拒絕買入的價格消費端。公開測試把兩者串起來。Hook 和 pool 有測試網紀錄，公開 band 整合則以本機分叉展示。 Repo 也記錄固定百分之五政策、獨立報價期限與錨點，以及實驗性結算。後面六頁保留技術細節、歷史動機和開發來源，方便問答。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End the timed presentation here, at 6:00. Slides 15–20 are optional discussion pages. Source history and reproduction commands follow.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README.md; docs/extraction.md; docs/demo.md; FEEDBACK.md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結算是獨立的實驗機制。一個測試拒絕到期當下的窗口，呼叫者稍後重試，下一個五分鐘窗口才被接受。另一個測試六個窗口都拒絕，一小時寬限期過後，可退回抵押品，持有人按口數分配權利金池退款。晚一點的價格或退款，都會改變經濟結果，這不代表公平到期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上下兩列是獨立測試。Revert 不會安排自動重試。退款是同系列的權利金池按口數分配，不保證退回每人原價。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docs/settlement.md; website/evidence/demo.json: delayed and refund scenarios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Hook 是 v4 pool key 的一部分，既有池不能直接補裝，所以需要自己的 hooked pool 與流動性。權限由地址位元決定，因此部署前搜尋 CREATE2 salt。分叉測試把測試網 hook bytecode 放在同一地址，連接真實 PoolManager。Aqua 與 canonical SwapVM router 都未修改，整合的重點是消費端與公開介面。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Explain the three integration seams. The fork creates a new reference pool, not a hook attached to the existing unhooked pool. FEEDBACK.md documents current integration findings; historical feedback is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README.md; FEEDBACK.md; src/HakariOracleHook.sol; aqua/test/StabilityBandFork.t.sol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造市者可以提款或撤銷授權，成交時仍需檢查可用量；guard 也只約束有採用的策略。持續價格偏移會變成新中心，即時 slot0 也能被暫時移動，所以還有報價期限和原始錨點。分次買入可超過單次上限，觀測環容量不足也會停止報價。這些條件均不保證外部公平價格。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Use the table for Q&amp;A. Docking can also block returns until a compatible strategy is shipped and rebound; consult the tests. Observation capacity must cover actual swap-seconds with margin, not a blanket guarantee from one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docs/band.md; docs/demo.md; docs/settlement.md; aqua/src/aqua/AquaWriter.sol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Vexi 在活動前已是選擇權交易平台，產品程式仍維持私有。活動期間新增 Aqua 介面、庫存 guard、hook、band 與結算 adapter。公開版用小型 book 和 FixedPremium，讓評審能獨立驗證整合，不包含活動前的私有產品程式。下一步是將公開 band 部署到已有紀錄的測試網 hooked pool。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Times are JST. These are milestones, not all commits. Do not describe the public fixed premium as Vexi’s production pricing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docs/history.md; docs/extraction.md; docs/ai-usage.md; README.md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原始研究回看八月三十日 HIMS 週末案例。封存資料比較週五股票收盤二十八點八四，與之後池價五十四點五；另一次週日晚間測量，推價百分之十再拉回的估算是十二 USDG。這是不同時點，不能混成同步比較。案例說明參考池可能失真，不代表現在的 band 曾經阻止這件事。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Historical appendix only. Stock close is a secondary-source value in the archived research. Do not read the chart as a return, a synchronized spread, or proof of protection. Omit the reference’s unverified aggregate volume and peak.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docs/history.md; archive/hakari-v1/; user-supplied HAKARI Pitch Deck.html, slide 5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/ 備用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整份證據包含連續十五步的完整生命週期，加上四個獨立異常情境，共五個測試。測試輸出 JSON 和呼叫 trace，網站與簡報都能追溯到這些檔案及原始碼指紋。全部在固定區塊的本機分叉、使用合成帳戶執行，沒有主網廣播。公開 repo 裡有重現指令和完整適用範圍。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操作提示</a:t>
            </a:r>
          </a:p>
          <a:p xmlns:a="http://schemas.openxmlformats.org/drawingml/2006/main">
            <a:r>
              <a:t>用 repo 連結收尾。這是整合證據，不代表真實市場歷史或可直接正式上線。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Reproduce the website evidence:</a:t>
            </a:r>
          </a:p>
          <a:p xmlns:a="http://schemas.openxmlformats.org/drawingml/2006/main">
            <a:r>
              <a:t>python3 scripts/website-evidence.py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Focused sponsor traces:</a:t>
            </a:r>
          </a:p>
          <a:p xmlns:a="http://schemas.openxmlformats.org/drawingml/2006/main">
            <a:r>
              <a:t>bash scripts/judge-demo.sh 1inch</a:t>
            </a:r>
          </a:p>
          <a:p xmlns:a="http://schemas.openxmlformats.org/drawingml/2006/main">
            <a:r>
              <a:t>bash scripts/judge-demo.sh uniswap</a:t>
            </a:r>
          </a:p>
          <a:p xmlns:a="http://schemas.openxmlformats.org/drawingml/2006/main">
            <a:r>
              <a:t>bash scripts/judge-demo.sh limits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integration feedback: FEEDBACK.md. Fixed fork block: 72248228. No wallet key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來源與適用範圍</a:t>
            </a:r>
          </a:p>
          <a:p xmlns:a="http://schemas.openxmlformats.org/drawingml/2006/main">
            <a:r>
              <a:t>docs/website.md; website/evidence/demo.json; scripts/website-evidence.py; scripts/build-website.py. Aqua © Degensoft Ltd 2025. Powered by SwapVM © Degensoft Ltd 2025.</a:t>
            </a:r>
          </a:p>
          <a:p xmlns:a="http://schemas.openxmlformats.org/drawingml/2006/main">
            <a:r>
              <a:t>AAPL 是本簡報的代幣示意範例。數量與價格路徑改編自 TSLA/USDG 本機分叉測試，並非 AAPL 執行紀錄或股票即時價格。連結的網站回放保留原始 TSLA 標籤；HIMS 歷史資料也維持原本資產名稱。</a:t>
            </a:r>
          </a:p>
          <a:p xmlns:a="http://schemas.openxmlformats.org/drawingml/2006/main">
            <a:r>
              <a:t>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>Chart values are rounded to at most six decimal places; demo.json retains exact integer strings. Recorded local EVM fork at chain 4663, block 72248228. Synthetic accounts and market history. No mainnet broadcast. Public fixed-percentage band only. Experimental settlement does not establish fair expiry value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dd8061a0d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71034f9444fbe" /><Relationship Type="http://schemas.openxmlformats.org/officeDocument/2006/relationships/slideLayout" Target="/ppt/slideLayouts/slideLayout1.xml" Id="R6e38f3fd052c44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8f3fd052c44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3ca410c9f4c1a" /><Relationship Type="http://schemas.openxmlformats.org/officeDocument/2006/relationships/image" Target="/ppt/media/image.png" Id="R4cfe307d6f56499a" /><Relationship Type="http://schemas.openxmlformats.org/officeDocument/2006/relationships/notesSlide" Target="/ppt/notesSlides/notesSlide1.xml" Id="R1158fa50d42047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d4ab2f98543c0" /><Relationship Type="http://schemas.openxmlformats.org/officeDocument/2006/relationships/image" Target="/ppt/media/image2.png" Id="R6f7c15eaf7c34a05" /><Relationship Type="http://schemas.openxmlformats.org/officeDocument/2006/relationships/notesSlide" Target="/ppt/notesSlides/notesSlide2.xml" Id="R87ccd1dac218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dc1ada0bf4a2d" /><Relationship Type="http://schemas.openxmlformats.org/officeDocument/2006/relationships/image" Target="/ppt/media/image3.png" Id="Rc261772d6e2848c9" /><Relationship Type="http://schemas.openxmlformats.org/officeDocument/2006/relationships/chart" Target="/ppt/slides/charts/chart1.xml" Id="Rf75f815bc55842fe" /><Relationship Type="http://schemas.openxmlformats.org/officeDocument/2006/relationships/chart" Target="/ppt/slides/charts/chart2.xml" Id="R6a6f9925e2bd43bc" /><Relationship Type="http://schemas.openxmlformats.org/officeDocument/2006/relationships/notesSlide" Target="/ppt/notesSlides/notesSlide3.xml" Id="R66352e92f0bb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eced774fc4600" /><Relationship Type="http://schemas.openxmlformats.org/officeDocument/2006/relationships/image" Target="/ppt/media/image4.png" Id="Re3d4c20e89e547d5" /><Relationship Type="http://schemas.openxmlformats.org/officeDocument/2006/relationships/notesSlide" Target="/ppt/notesSlides/notesSlide4.xml" Id="Re740ed64d59b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8f19256d24648" /><Relationship Type="http://schemas.openxmlformats.org/officeDocument/2006/relationships/image" Target="/ppt/media/image5.png" Id="R32e78edbf1284624" /><Relationship Type="http://schemas.openxmlformats.org/officeDocument/2006/relationships/chart" Target="/ppt/slides/charts/chart3.xml" Id="R5b67b9e356ab4d10" /><Relationship Type="http://schemas.openxmlformats.org/officeDocument/2006/relationships/chart" Target="/ppt/slides/charts/chart4.xml" Id="R1664708b3f8348cf" /><Relationship Type="http://schemas.openxmlformats.org/officeDocument/2006/relationships/notesSlide" Target="/ppt/notesSlides/notesSlide5.xml" Id="R84a6af7f587d48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3c531729849ce" /><Relationship Type="http://schemas.openxmlformats.org/officeDocument/2006/relationships/image" Target="/ppt/media/image6.png" Id="R7c1810952f464d01" /><Relationship Type="http://schemas.openxmlformats.org/officeDocument/2006/relationships/chart" Target="/ppt/slides/charts/chart5.xml" Id="Rc8f738361d4e4323" /><Relationship Type="http://schemas.openxmlformats.org/officeDocument/2006/relationships/notesSlide" Target="/ppt/notesSlides/notesSlide6.xml" Id="R098c5c18ce324d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1644a350c4cf7" /><Relationship Type="http://schemas.openxmlformats.org/officeDocument/2006/relationships/image" Target="/ppt/media/image7.png" Id="R30b9e92ac9e54b4a" /><Relationship Type="http://schemas.openxmlformats.org/officeDocument/2006/relationships/notesSlide" Target="/ppt/notesSlides/notesSlide7.xml" Id="R152fa78bd044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487fe73974281" /><Relationship Type="http://schemas.openxmlformats.org/officeDocument/2006/relationships/image" Target="/ppt/media/image8.png" Id="Rbb036ffdc922407b" /><Relationship Type="http://schemas.openxmlformats.org/officeDocument/2006/relationships/notesSlide" Target="/ppt/notesSlides/notesSlide8.xml" Id="Rfecaea68da0142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7a68d0ff04c6a" /><Relationship Type="http://schemas.openxmlformats.org/officeDocument/2006/relationships/image" Target="/ppt/media/image9.png" Id="R6e3c2a7e5fcb4b9c" /><Relationship Type="http://schemas.openxmlformats.org/officeDocument/2006/relationships/chart" Target="/ppt/slides/charts/chart6.xml" Id="R4b66de31059049e8" /><Relationship Type="http://schemas.openxmlformats.org/officeDocument/2006/relationships/notesSlide" Target="/ppt/notesSlides/notesSlide9.xml" Id="R3e5b7ca49d36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740e646fb4877" /><Relationship Type="http://schemas.openxmlformats.org/officeDocument/2006/relationships/image" Target="/ppt/media/image10.png" Id="R0776593a90844b67" /><Relationship Type="http://schemas.openxmlformats.org/officeDocument/2006/relationships/chart" Target="/ppt/slides/charts/chart7.xml" Id="Rab671bba1e5f462e" /><Relationship Type="http://schemas.openxmlformats.org/officeDocument/2006/relationships/chart" Target="/ppt/slides/charts/chart8.xml" Id="Rb12b6c79c96f479a" /><Relationship Type="http://schemas.openxmlformats.org/officeDocument/2006/relationships/notesSlide" Target="/ppt/notesSlides/notesSlide10.xml" Id="R24c3fd4325cd40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50c965bf44d1d" /><Relationship Type="http://schemas.openxmlformats.org/officeDocument/2006/relationships/image" Target="/ppt/media/image11.png" Id="Rb11ac85c2cf043e4" /><Relationship Type="http://schemas.openxmlformats.org/officeDocument/2006/relationships/notesSlide" Target="/ppt/notesSlides/notesSlide11.xml" Id="R70e30a6cfac3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2de8df3ac4a59" /><Relationship Type="http://schemas.openxmlformats.org/officeDocument/2006/relationships/image" Target="/ppt/media/image12.png" Id="R9e9b8d3164b24e48" /><Relationship Type="http://schemas.openxmlformats.org/officeDocument/2006/relationships/chart" Target="/ppt/slides/charts/chart9.xml" Id="Rf24dc71a954346d7" /><Relationship Type="http://schemas.openxmlformats.org/officeDocument/2006/relationships/chart" Target="/ppt/slides/charts/chart10.xml" Id="R4b97eb2ffa3e480a" /><Relationship Type="http://schemas.openxmlformats.org/officeDocument/2006/relationships/notesSlide" Target="/ppt/notesSlides/notesSlide12.xml" Id="R1f8a4e5def2e47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02dae54c14219" /><Relationship Type="http://schemas.openxmlformats.org/officeDocument/2006/relationships/image" Target="/ppt/media/image13.png" Id="R07974e62bbcb407b" /><Relationship Type="http://schemas.openxmlformats.org/officeDocument/2006/relationships/hyperlink" Target="https://vexi-v1.github.io/vexi-hakari/?lang=zh-Hant#replay" TargetMode="External" Id="R4ab278b22f5c46f5" /><Relationship Type="http://schemas.openxmlformats.org/officeDocument/2006/relationships/notesSlide" Target="/ppt/notesSlides/notesSlide13.xml" Id="Rc12ec3e9c0814f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0bf19a17a47cc" /><Relationship Type="http://schemas.openxmlformats.org/officeDocument/2006/relationships/image" Target="/ppt/media/image14.png" Id="R7228321d4e574d5d" /><Relationship Type="http://schemas.openxmlformats.org/officeDocument/2006/relationships/hyperlink" Target="https://github.com/vexi-v1/vexi-hakari" TargetMode="External" Id="Rb94b01ae9b304287" /><Relationship Type="http://schemas.openxmlformats.org/officeDocument/2006/relationships/notesSlide" Target="/ppt/notesSlides/notesSlide14.xml" Id="R90f8624b02094e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c1f61b51d4e75" /><Relationship Type="http://schemas.openxmlformats.org/officeDocument/2006/relationships/image" Target="/ppt/media/image15.png" Id="Rffc9c0641b2449ec" /><Relationship Type="http://schemas.openxmlformats.org/officeDocument/2006/relationships/notesSlide" Target="/ppt/notesSlides/notesSlide15.xml" Id="R0257fe5ccc9e4f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9be6728941cc" /><Relationship Type="http://schemas.openxmlformats.org/officeDocument/2006/relationships/image" Target="/ppt/media/image16.png" Id="R25835ab46b1d4543" /><Relationship Type="http://schemas.openxmlformats.org/officeDocument/2006/relationships/notesSlide" Target="/ppt/notesSlides/notesSlide16.xml" Id="Ra274f1780c8848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8ff696c54b99" /><Relationship Type="http://schemas.openxmlformats.org/officeDocument/2006/relationships/image" Target="/ppt/media/image17.png" Id="R4dde317993d2488d" /><Relationship Type="http://schemas.openxmlformats.org/officeDocument/2006/relationships/notesSlide" Target="/ppt/notesSlides/notesSlide17.xml" Id="R6f8be520901943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2627b21644f1e" /><Relationship Type="http://schemas.openxmlformats.org/officeDocument/2006/relationships/image" Target="/ppt/media/image18.png" Id="Rda0115b71b0842a6" /><Relationship Type="http://schemas.openxmlformats.org/officeDocument/2006/relationships/notesSlide" Target="/ppt/notesSlides/notesSlide18.xml" Id="Rdd49acc267a64d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a76c909024d03" /><Relationship Type="http://schemas.openxmlformats.org/officeDocument/2006/relationships/image" Target="/ppt/media/image19.png" Id="R03944e2290924eb3" /><Relationship Type="http://schemas.openxmlformats.org/officeDocument/2006/relationships/chart" Target="/ppt/slides/charts/chart11.xml" Id="R6880c07d2c984df2" /><Relationship Type="http://schemas.openxmlformats.org/officeDocument/2006/relationships/notesSlide" Target="/ppt/notesSlides/notesSlide19.xml" Id="R5a7e4502af4d42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9ffa6ab6f415e" /><Relationship Type="http://schemas.openxmlformats.org/officeDocument/2006/relationships/image" Target="/ppt/media/image20.png" Id="R1caface1725e409e" /><Relationship Type="http://schemas.openxmlformats.org/officeDocument/2006/relationships/hyperlink" Target="https://github.com/vexi-v1/vexi-hakari" TargetMode="External" Id="R089c8d5d07664c55" /><Relationship Type="http://schemas.openxmlformats.org/officeDocument/2006/relationships/notesSlide" Target="/ppt/notesSlides/notesSlide20.xml" Id="R1cf82910eda14a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Sold</c:v>
          </c:tx>
          <c:spPr>
            <a:solidFill xmlns:a="http://schemas.openxmlformats.org/drawingml/2006/main">
              <a:srgbClr val="37D67A"/>
            </a:solidFill>
          </c:spPr>
          <c:cat>
            <c:strRef>
              <c:f>'Chart Data'!$A$2:$A$2</c:f>
              <c:strCache>
                <c:ptCount val="1"/>
                <c:pt idx="0">
                  <c:v>存入 10 個代幣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1"/>
          <c:order val="1"/>
          <c:tx>
            <c:v>Unsold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Data'!$C$2:$C$2</c:f>
              <c:strCache>
                <c:ptCount val="1"/>
                <c:pt idx="0">
                  <c:v>存入 10 個代幣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 b="1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池價</c:v>
          </c:tx>
          <c:spPr>
            <a:solidFill xmlns:a="http://schemas.openxmlformats.org/drawingml/2006/main">
              <a:srgbClr val="FF007A"/>
            </a:solidFill>
            <a:ln xmlns:a="http://schemas.openxmlformats.org/drawingml/2006/main" w="28575">
              <a:solidFill>
                <a:srgbClr val="FF007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FF007A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稍早</c:v>
                </c:pt>
                <c:pt idx="1">
                  <c:v>2</c:v>
                </c:pt>
                <c:pt idx="2">
                  <c:v>3</c:v>
                </c:pt>
                <c:pt idx="3">
                  <c:v>稍後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</c:v>
                </c:pt>
                <c:pt idx="1">
                  <c:v>102</c:v>
                </c:pt>
                <c:pt idx="2">
                  <c:v>110</c:v>
                </c:pt>
                <c:pt idx="3">
                  <c:v>125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0"/>
          <c:min val="95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已承諾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Data'!$A$2:$A$2</c:f>
              <c:strCache>
                <c:ptCount val="1"/>
                <c:pt idx="0">
                  <c:v>AAPL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v>未承諾</c:v>
          </c:tx>
          <c:spPr>
            <a:solidFill xmlns:a="http://schemas.openxmlformats.org/drawingml/2006/main">
              <a:srgbClr val="37D67A"/>
            </a:solidFill>
          </c:spPr>
          <c:cat>
            <c:strRef>
              <c:f>'Chart Data'!$C$2:$C$2</c:f>
              <c:strCache>
                <c:ptCount val="1"/>
                <c:pt idx="0">
                  <c:v>AAPL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已承諾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Data'!$A$2:$A$2</c:f>
              <c:strCache>
                <c:ptCount val="1"/>
                <c:pt idx="0">
                  <c:v>USDG</c:v>
                </c:pt>
              </c:strCache>
            </c:strRef>
          </c:cat>
          <c:val>
            <c:numRef>
              <c:f>'Chart Data'!$B$2:$B$2</c:f>
              <c:numCache>
                <c:formatCode>0,"k"</c:formatCode>
                <c:ptCount val="1"/>
                <c:pt idx="0">
                  <c:v>4000</c:v>
                </c:pt>
              </c:numCache>
            </c:numRef>
          </c:val>
        </c:ser>
        <c:ser>
          <c:idx val="1"/>
          <c:order val="1"/>
          <c:tx>
            <c:v>未承諾</c:v>
          </c:tx>
          <c:spPr>
            <a:solidFill xmlns:a="http://schemas.openxmlformats.org/drawingml/2006/main">
              <a:srgbClr val="37D67A"/>
            </a:solidFill>
          </c:spPr>
          <c:cat>
            <c:strRef>
              <c:f>'Chart Data'!$C$2:$C$2</c:f>
              <c:strCache>
                <c:ptCount val="1"/>
                <c:pt idx="0">
                  <c:v>USDG</c:v>
                </c:pt>
              </c:strCache>
            </c:strRef>
          </c:cat>
          <c:val>
            <c:numRef>
              <c:f>'Chart Data'!$D$2:$D$2</c:f>
              <c:numCache>
                <c:formatCode>0,"k"</c:formatCode>
                <c:ptCount val="1"/>
                <c:pt idx="0">
                  <c:v>16000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00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錢包 AAPL</c:v>
          </c:tx>
          <c:spPr>
            <a:solidFill xmlns:a="http://schemas.openxmlformats.org/drawingml/2006/main">
              <a:srgbClr val="37D67A"/>
            </a:solidFill>
          </c:spPr>
          <c:cat>
            <c:strRef>
              <c:f>'Chart Data'!$A$2:$A$3</c:f>
              <c:strCache>
                <c:ptCount val="2"/>
                <c:pt idx="0">
                  <c:v>有 guard</c:v>
                </c:pt>
                <c:pt idx="1">
                  <c:v>無 guard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29.047619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v>承諾 AAPL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Data'!$C$2:$C$3</c:f>
              <c:strCache>
                <c:ptCount val="2"/>
                <c:pt idx="0">
                  <c:v>有 guard</c:v>
                </c:pt>
                <c:pt idx="1">
                  <c:v>無 guard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33333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A8A8B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即時參考</c:v>
          </c:tx>
          <c:spPr>
            <a:solidFill xmlns:a="http://schemas.openxmlformats.org/drawingml/2006/main">
              <a:srgbClr val="FAFAFA"/>
            </a:solidFill>
            <a:ln xmlns:a="http://schemas.openxmlformats.org/drawingml/2006/main" w="28575">
              <a:solidFill>
                <a:srgbClr val="FAFAF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FAFAFA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起點</c:v>
                </c:pt>
                <c:pt idx="1">
                  <c:v>+2.5%</c:v>
                </c:pt>
                <c:pt idx="2">
                  <c:v>+5.1%</c:v>
                </c:pt>
                <c:pt idx="3">
                  <c:v>回復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378.297368</c:v>
                </c:pt>
                <c:pt idx="1">
                  <c:v>387.687067</c:v>
                </c:pt>
                <c:pt idx="2">
                  <c:v>397.521081</c:v>
                </c:pt>
                <c:pt idx="3">
                  <c:v>378.297368</c:v>
                </c:pt>
              </c:numCache>
            </c:numRef>
          </c:val>
          <c:smooth val="0"/>
        </c:ser>
        <c:ser>
          <c:idx val="1"/>
          <c:order val="1"/>
          <c:tx>
            <c:v>TWAP</c:v>
          </c:tx>
          <c:spPr>
            <a:solidFill xmlns:a="http://schemas.openxmlformats.org/drawingml/2006/main">
              <a:srgbClr val="37D67A"/>
            </a:solidFill>
            <a:ln xmlns:a="http://schemas.openxmlformats.org/drawingml/2006/main" w="28575">
              <a:solidFill>
                <a:srgbClr val="37D67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37D67A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起點</c:v>
                </c:pt>
                <c:pt idx="1">
                  <c:v>+2.5%</c:v>
                </c:pt>
                <c:pt idx="2">
                  <c:v>+5.1%</c:v>
                </c:pt>
                <c:pt idx="3">
                  <c:v>回復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378.231285</c:v>
                </c:pt>
                <c:pt idx="1">
                  <c:v>378.231285</c:v>
                </c:pt>
                <c:pt idx="2">
                  <c:v>378.231285</c:v>
                </c:pt>
                <c:pt idx="3">
                  <c:v>378.231285</c:v>
                </c:pt>
              </c:numCache>
            </c:numRef>
          </c:val>
          <c:smooth val="0"/>
        </c:ser>
        <c:ser>
          <c:idx val="2"/>
          <c:order val="2"/>
          <c:tx>
            <c:v>+5%</c:v>
          </c:tx>
          <c:spPr>
            <a:ln xmlns:a="http://schemas.openxmlformats.org/drawingml/2006/main" w="19050">
              <a:solidFill>
                <a:srgbClr val="FF5470"/>
              </a:solidFill>
            </a:ln>
          </c:spPr>
          <c:marker>
            <c:symbol val="none"/>
          </c:marker>
          <c:cat>
            <c:strRef>
              <c:f>'Chart Data'!$E$2:$E$5</c:f>
              <c:strCache>
                <c:ptCount val="4"/>
                <c:pt idx="0">
                  <c:v>起點</c:v>
                </c:pt>
                <c:pt idx="1">
                  <c:v>+2.5%</c:v>
                </c:pt>
                <c:pt idx="2">
                  <c:v>+5.1%</c:v>
                </c:pt>
                <c:pt idx="3">
                  <c:v>回復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397.142849</c:v>
                </c:pt>
                <c:pt idx="1">
                  <c:v>397.142849</c:v>
                </c:pt>
                <c:pt idx="2">
                  <c:v>397.142849</c:v>
                </c:pt>
                <c:pt idx="3">
                  <c:v>397.142849</c:v>
                </c:pt>
              </c:numCache>
            </c:numRef>
          </c:val>
          <c:smooth val="0"/>
        </c:ser>
        <c:ser>
          <c:idx val="3"/>
          <c:order val="3"/>
          <c:tx>
            <c:v>−5%</c:v>
          </c:tx>
          <c:spPr>
            <a:ln xmlns:a="http://schemas.openxmlformats.org/drawingml/2006/main" w="19050">
              <a:solidFill>
                <a:srgbClr val="FF5470"/>
              </a:solidFill>
            </a:ln>
          </c:spPr>
          <c:marker>
            <c:symbol val="none"/>
          </c:marker>
          <c:cat>
            <c:strRef>
              <c:f>'Chart Data'!$G$2:$G$5</c:f>
              <c:strCache>
                <c:ptCount val="4"/>
                <c:pt idx="0">
                  <c:v>起點</c:v>
                </c:pt>
                <c:pt idx="1">
                  <c:v>+2.5%</c:v>
                </c:pt>
                <c:pt idx="2">
                  <c:v>+5.1%</c:v>
                </c:pt>
                <c:pt idx="3">
                  <c:v>回復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359.319721</c:v>
                </c:pt>
                <c:pt idx="1">
                  <c:v>359.319721</c:v>
                </c:pt>
                <c:pt idx="2">
                  <c:v>359.319721</c:v>
                </c:pt>
                <c:pt idx="3">
                  <c:v>359.319721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5"/>
          <c:min val="3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口數上限</c:v>
          </c:tx>
          <c:spPr>
            <a:solidFill xmlns:a="http://schemas.openxmlformats.org/drawingml/2006/main">
              <a:srgbClr val="37D67A"/>
            </a:solidFill>
            <a:ln xmlns:a="http://schemas.openxmlformats.org/drawingml/2006/main" w="28575">
              <a:solidFill>
                <a:srgbClr val="37D67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37D67A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−5%</c:v>
                </c:pt>
                <c:pt idx="1">
                  <c:v>−2.5%</c:v>
                </c:pt>
                <c:pt idx="2">
                  <c:v>0%</c:v>
                </c:pt>
                <c:pt idx="3">
                  <c:v>+2.5%</c:v>
                </c:pt>
                <c:pt idx="4">
                  <c:v>+5%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25</c:v>
                </c:pt>
                <c:pt idx="4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報價</c:v>
          </c:tx>
          <c:spPr>
            <a:solidFill xmlns:a="http://schemas.openxmlformats.org/drawingml/2006/main">
              <a:srgbClr val="FF007A"/>
            </a:solidFill>
            <a:ln xmlns:a="http://schemas.openxmlformats.org/drawingml/2006/main" w="28575">
              <a:solidFill>
                <a:srgbClr val="FF007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FF007A"/>
              </a:solidFill>
            </c:spPr>
          </c:marker>
          <c:cat>
            <c:strRef>
              <c:f>'Chart Data'!$A$2:$A$11</c:f>
              <c:strCache>
                <c:ptCount val="10"/>
                <c:pt idx="0">
                  <c:v>0%</c:v>
                </c:pt>
                <c:pt idx="1">
                  <c:v>0.5%</c:v>
                </c:pt>
                <c:pt idx="2">
                  <c:v>1%</c:v>
                </c:pt>
                <c:pt idx="3">
                  <c:v>1.5%</c:v>
                </c:pt>
                <c:pt idx="4">
                  <c:v>2%</c:v>
                </c:pt>
                <c:pt idx="5">
                  <c:v>2.5%</c:v>
                </c:pt>
                <c:pt idx="6">
                  <c:v>3%</c:v>
                </c:pt>
                <c:pt idx="7">
                  <c:v>3.5%</c:v>
                </c:pt>
                <c:pt idx="8">
                  <c:v>4%</c:v>
                </c:pt>
                <c:pt idx="9">
                  <c:v>4.5%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8</c:v>
                </c:pt>
                <c:pt idx="1">
                  <c:v>8.016</c:v>
                </c:pt>
                <c:pt idx="2">
                  <c:v>8.064</c:v>
                </c:pt>
                <c:pt idx="3">
                  <c:v>8.144</c:v>
                </c:pt>
                <c:pt idx="4">
                  <c:v>8.256</c:v>
                </c:pt>
                <c:pt idx="5">
                  <c:v>8.4</c:v>
                </c:pt>
                <c:pt idx="6">
                  <c:v>8.576</c:v>
                </c:pt>
                <c:pt idx="7">
                  <c:v>8.784</c:v>
                </c:pt>
                <c:pt idx="8">
                  <c:v>9.024</c:v>
                </c:pt>
                <c:pt idx="9">
                  <c:v>9.296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9.6"/>
          <c:min val="8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AAPL</c:v>
          </c:tx>
          <c:spPr>
            <a:solidFill xmlns:a="http://schemas.openxmlformats.org/drawingml/2006/main">
              <a:srgbClr val="37D67A"/>
            </a:solidFill>
          </c:spPr>
          <c:cat>
            <c:strRef>
              <c:f>'Chart Data'!$A$2:$A$5</c:f>
              <c:strCache>
                <c:ptCount val="4"/>
                <c:pt idx="0">
                  <c:v>成交</c:v>
                </c:pt>
                <c:pt idx="1">
                  <c:v>履約</c:v>
                </c:pt>
                <c:pt idx="2">
                  <c:v>關單</c:v>
                </c:pt>
                <c:pt idx="3">
                  <c:v>領權利金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USDG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Data'!$A$2:$A$5</c:f>
              <c:strCache>
                <c:ptCount val="4"/>
                <c:pt idx="0">
                  <c:v>成交</c:v>
                </c:pt>
                <c:pt idx="1">
                  <c:v>履約</c:v>
                </c:pt>
                <c:pt idx="2">
                  <c:v>關單</c:v>
                </c:pt>
                <c:pt idx="3">
                  <c:v>領權利金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1264.0064</c:v>
                </c:pt>
                <c:pt idx="1">
                  <c:v>64.0064</c:v>
                </c:pt>
                <c:pt idx="2">
                  <c:v>64.0064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USDG / USD per token</c:v>
          </c:tx>
          <c:spPr>
            <a:solidFill xmlns:a="http://schemas.openxmlformats.org/drawingml/2006/main">
              <a:srgbClr val="FF007A"/>
            </a:solidFill>
          </c:spPr>
          <c:cat>
            <c:strRef>
              <c:f>'Chart Data'!$A$2:$A$3</c:f>
              <c:strCache>
                <c:ptCount val="2"/>
                <c:pt idx="0">
                  <c:v>股票收盤／USD</c:v>
                </c:pt>
                <c:pt idx="1">
                  <c:v>池價快照／USDG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28.84</c:v>
                </c:pt>
                <c:pt idx="1">
                  <c:v>54.5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FAFAFA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33333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33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e307d6f56499a"/>
          <a:stretch xmlns:a="http://schemas.openxmlformats.org/drawingml/2006/main"/>
        </p:blipFill>
        <p:spPr>
          <a:xfrm xmlns:a="http://schemas.openxmlformats.org/drawingml/2006/main">
            <a:off x="9201150" y="162877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2" name="Vexi Hakari">
            <a:extLst xmlns:a="http://schemas.openxmlformats.org/drawingml/2006/main">
              <a:ext uri="{FF2B5EF4-FFF2-40B4-BE49-F238E27FC236}">
                <a16:creationId xmlns:a16="http://schemas.microsoft.com/office/drawing/2014/main" id="{74C83A7B-2B53-48F6-9976-0D4A0AC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8420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3" name="選擇權與現貨，共用錢包流動性">
            <a:extLst xmlns:a="http://schemas.openxmlformats.org/drawingml/2006/main">
              <a:ext uri="{FF2B5EF4-FFF2-40B4-BE49-F238E27FC236}">
                <a16:creationId xmlns:a16="http://schemas.microsoft.com/office/drawing/2014/main" id="{8BCC3CE5-71B7-4BD5-8246-125AB38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選擇權與現貨，共用錢包流動性</a:t>
            </a:r>
          </a:p>
        </p:txBody>
      </p:sp>
      <p:sp>
        <p:nvSpPr>
          <p:cNvPr id="4" name="Aqua 策略帳務與 Uniswap v4 報價檢查">
            <a:extLst xmlns:a="http://schemas.openxmlformats.org/drawingml/2006/main">
              <a:ext uri="{FF2B5EF4-FFF2-40B4-BE49-F238E27FC236}">
                <a16:creationId xmlns:a16="http://schemas.microsoft.com/office/drawing/2014/main" id="{ADA569D1-E038-482D-9566-63EC2C14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9429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Aqua 策略帳務與 Uniswap v4 報價檢查</a:t>
            </a:r>
          </a:p>
        </p:txBody>
      </p:sp>
      <p:sp>
        <p:nvSpPr>
          <p:cNvPr id="5" name="6 分鐘協議 demo／AAPL 範例">
            <a:extLst xmlns:a="http://schemas.openxmlformats.org/drawingml/2006/main">
              <a:ext uri="{FF2B5EF4-FFF2-40B4-BE49-F238E27FC236}">
                <a16:creationId xmlns:a16="http://schemas.microsoft.com/office/drawing/2014/main" id="{B1B92265-8C08-4303-A811-FD52A2C6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6 分鐘協議 demo／AAPL 範例</a:t>
            </a:r>
          </a:p>
        </p:txBody>
      </p:sp>
      <p:sp>
        <p:nvSpPr>
          <p:cNvPr id="6" name="ETHGlobal Tokyo 2026">
            <a:extLst xmlns:a="http://schemas.openxmlformats.org/drawingml/2006/main">
              <a:ext uri="{FF2B5EF4-FFF2-40B4-BE49-F238E27FC236}">
                <a16:creationId xmlns:a16="http://schemas.microsoft.com/office/drawing/2014/main" id="{507723D3-6AC4-408E-BE9F-68AEB73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ETHGlobal Tokyo 2026</a:t>
            </a:r>
          </a:p>
        </p:txBody>
      </p:sp>
    </p:spTree>
    <p:extLst>
      <p:ext uri="{BB962C8B-B14F-4D97-AF65-F5344CB8AC3E}">
        <p14:creationId xmlns:p14="http://schemas.microsoft.com/office/powerpoint/2010/main" val="1306243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ed call 與 cash-secured put">
            <a:extLst xmlns:a="http://schemas.openxmlformats.org/drawingml/2006/main">
              <a:ext uri="{FF2B5EF4-FFF2-40B4-BE49-F238E27FC236}">
                <a16:creationId xmlns:a16="http://schemas.microsoft.com/office/drawing/2014/main" id="{ADA18500-A0CA-4299-B19B-C705D3C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Covered call 與 cash-secured put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15eaf7c34a05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D5D3742F-DC7A-473C-9007-8512B142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47DDA7AC-3C3B-46D3-9DD3-29112661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DD9594D8-7C84-4DA3-8BC1-984103A9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6" name="1 AAPL">
            <a:extLst xmlns:a="http://schemas.openxmlformats.org/drawingml/2006/main">
              <a:ext uri="{FF2B5EF4-FFF2-40B4-BE49-F238E27FC236}">
                <a16:creationId xmlns:a16="http://schemas.microsoft.com/office/drawing/2014/main" id="{DCDBF43A-A645-4AB8-9EE6-937EAD84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342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 AAPL</a:t>
            </a:r>
          </a:p>
        </p:txBody>
      </p:sp>
      <p:sp>
        <p:nvSpPr>
          <p:cNvPr id="7" name="履約價 400 USDG">
            <a:extLst xmlns:a="http://schemas.openxmlformats.org/drawingml/2006/main">
              <a:ext uri="{FF2B5EF4-FFF2-40B4-BE49-F238E27FC236}">
                <a16:creationId xmlns:a16="http://schemas.microsoft.com/office/drawing/2014/main" id="{E2678D76-75B4-4FD2-8790-2E715E98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657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履約價 400 USDG</a:t>
            </a:r>
          </a:p>
        </p:txBody>
      </p:sp>
      <p:sp>
        <p:nvSpPr>
          <p:cNvPr id="8" name="Alice／賣方">
            <a:extLst xmlns:a="http://schemas.openxmlformats.org/drawingml/2006/main">
              <a:ext uri="{FF2B5EF4-FFF2-40B4-BE49-F238E27FC236}">
                <a16:creationId xmlns:a16="http://schemas.microsoft.com/office/drawing/2014/main" id="{91F67C6F-C765-4B8E-9D19-EBA2887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8384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Alice／賣方</a:t>
            </a:r>
          </a:p>
        </p:txBody>
      </p:sp>
      <p:sp>
        <p:nvSpPr>
          <p:cNvPr id="9" name="Bob／買方">
            <a:extLst xmlns:a="http://schemas.openxmlformats.org/drawingml/2006/main">
              <a:ext uri="{FF2B5EF4-FFF2-40B4-BE49-F238E27FC236}">
                <a16:creationId xmlns:a16="http://schemas.microsoft.com/office/drawing/2014/main" id="{CF4AC9DB-4254-4A16-AC47-D5CED2B7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43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00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Bob／買方</a:t>
            </a:r>
          </a:p>
        </p:txBody>
      </p:sp>
      <p:cxnSp>
        <p:nvCxnSpPr>
          <p:cNvPr id="26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505200" y="3224213"/>
            <a:ext cx="48768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007A"/>
            </a:solidFill>
            <a:prstDash val="solid"/>
            <a:tailEnd type="triangle" w="med" len="med"/>
          </a:ln>
        </p:spPr>
      </p:cxnSp>
      <p:sp>
        <p:nvSpPr>
          <p:cNvPr id="11" name="今天支付 5 USDG 權利金">
            <a:extLst xmlns:a="http://schemas.openxmlformats.org/drawingml/2006/main">
              <a:ext uri="{FF2B5EF4-FFF2-40B4-BE49-F238E27FC236}">
                <a16:creationId xmlns:a16="http://schemas.microsoft.com/office/drawing/2014/main" id="{1B3760C8-CF5D-4C48-A66E-D2190635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今天支付 5 USDG 權利金</a:t>
            </a:r>
          </a:p>
        </p:txBody>
      </p:sp>
      <p:sp>
        <p:nvSpPr>
          <p:cNvPr id="12" name="350">
            <a:extLst xmlns:a="http://schemas.openxmlformats.org/drawingml/2006/main">
              <a:ext uri="{FF2B5EF4-FFF2-40B4-BE49-F238E27FC236}">
                <a16:creationId xmlns:a16="http://schemas.microsoft.com/office/drawing/2014/main" id="{E047B9BB-D425-4751-8D1B-139DEEED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71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350</a:t>
            </a:r>
          </a:p>
        </p:txBody>
      </p:sp>
      <p:sp>
        <p:nvSpPr>
          <p:cNvPr id="13" name="不履約">
            <a:extLst xmlns:a="http://schemas.openxmlformats.org/drawingml/2006/main">
              <a:ext uri="{FF2B5EF4-FFF2-40B4-BE49-F238E27FC236}">
                <a16:creationId xmlns:a16="http://schemas.microsoft.com/office/drawing/2014/main" id="{1B170191-A605-47A9-8039-9AB4B8F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577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不履約</a:t>
            </a:r>
          </a:p>
        </p:txBody>
      </p:sp>
      <p:sp>
        <p:nvSpPr>
          <p:cNvPr id="14" name="450">
            <a:extLst xmlns:a="http://schemas.openxmlformats.org/drawingml/2006/main">
              <a:ext uri="{FF2B5EF4-FFF2-40B4-BE49-F238E27FC236}">
                <a16:creationId xmlns:a16="http://schemas.microsoft.com/office/drawing/2014/main" id="{DBE911A9-617F-44D1-9FD8-467D7B4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719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450</a:t>
            </a:r>
          </a:p>
        </p:txBody>
      </p:sp>
      <p:sp>
        <p:nvSpPr>
          <p:cNvPr id="15" name="付 400 USDG，取得 1 AAPL">
            <a:extLst xmlns:a="http://schemas.openxmlformats.org/drawingml/2006/main">
              <a:ext uri="{FF2B5EF4-FFF2-40B4-BE49-F238E27FC236}">
                <a16:creationId xmlns:a16="http://schemas.microsoft.com/office/drawing/2014/main" id="{D952C180-38BD-4250-85D8-5209E9B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57750"/>
            <a:ext cx="5343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付 400 USDG，取得 1 AAPL</a:t>
            </a:r>
          </a:p>
        </p:txBody>
      </p:sp>
      <p:sp>
        <p:nvSpPr>
          <p:cNvPr id="16" name="Call 賣方準備 AAPL；put 賣方準備履約價 × 口數的 USDG">
            <a:extLst xmlns:a="http://schemas.openxmlformats.org/drawingml/2006/main">
              <a:ext uri="{FF2B5EF4-FFF2-40B4-BE49-F238E27FC236}">
                <a16:creationId xmlns:a16="http://schemas.microsoft.com/office/drawing/2014/main" id="{EFE5303A-221D-49DA-AB0F-B694F4E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Call 賣方準備 AAPL；put 賣方準備履約價 × 口數的 USDG</a:t>
            </a:r>
          </a:p>
        </p:txBody>
      </p:sp>
    </p:spTree>
    <p:extLst>
      <p:ext uri="{BB962C8B-B14F-4D97-AF65-F5344CB8AC3E}">
        <p14:creationId xmlns:p14="http://schemas.microsoft.com/office/powerpoint/2010/main" val="293893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閒置抵押品與過時報價">
            <a:extLst xmlns:a="http://schemas.openxmlformats.org/drawingml/2006/main">
              <a:ext uri="{FF2B5EF4-FFF2-40B4-BE49-F238E27FC236}">
                <a16:creationId xmlns:a16="http://schemas.microsoft.com/office/drawing/2014/main" id="{FEB8751B-8420-4236-BF8B-86A536F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閒置抵押品與過時報價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1772d6e2848c9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BBFD19D3-A08D-4DD1-8A9D-4A89C74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13E48B3D-968E-4509-90B3-C92203C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" name="買方出現前先鎖抵押品">
            <a:extLst xmlns:a="http://schemas.openxmlformats.org/drawingml/2006/main">
              <a:ext uri="{FF2B5EF4-FFF2-40B4-BE49-F238E27FC236}">
                <a16:creationId xmlns:a16="http://schemas.microsoft.com/office/drawing/2014/main" id="{7BEB2192-6D7B-4F68-8980-12B35469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538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買方出現前先鎖抵押品</a:t>
            </a:r>
          </a:p>
        </p:txBody>
      </p:sp>
      <p:sp>
        <p:nvSpPr>
          <p:cNvPr id="6" name="池價變動，報價仍固定">
            <a:extLst xmlns:a="http://schemas.openxmlformats.org/drawingml/2006/main">
              <a:ext uri="{FF2B5EF4-FFF2-40B4-BE49-F238E27FC236}">
                <a16:creationId xmlns:a16="http://schemas.microsoft.com/office/drawing/2014/main" id="{0F59D6C0-8F3B-4617-B273-E3849D98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14475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池價變動，報價仍固定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57225" y="2219325"/>
          <a:ext xmlns:a="http://schemas.openxmlformats.org/drawingml/2006/main" cx="4962525" cy="2505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5f815bc55842fe"/>
          </a:graphicData>
        </a:graphic>
      </p:graphicFrame>
      <p:sp>
        <p:nvSpPr>
          <p:cNvPr id="8" name="━">
            <a:extLst xmlns:a="http://schemas.openxmlformats.org/drawingml/2006/main">
              <a:ext uri="{FF2B5EF4-FFF2-40B4-BE49-F238E27FC236}">
                <a16:creationId xmlns:a16="http://schemas.microsoft.com/office/drawing/2014/main" id="{24C73E29-0133-4D49-BE74-52FE0BC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9" name="已售">
            <a:extLst xmlns:a="http://schemas.openxmlformats.org/drawingml/2006/main">
              <a:ext uri="{FF2B5EF4-FFF2-40B4-BE49-F238E27FC236}">
                <a16:creationId xmlns:a16="http://schemas.microsoft.com/office/drawing/2014/main" id="{100AD940-2179-4006-AF78-9441EA0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92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已售</a:t>
            </a:r>
          </a:p>
        </p:txBody>
      </p:sp>
      <p:sp>
        <p:nvSpPr>
          <p:cNvPr id="10" name="━">
            <a:extLst xmlns:a="http://schemas.openxmlformats.org/drawingml/2006/main">
              <a:ext uri="{FF2B5EF4-FFF2-40B4-BE49-F238E27FC236}">
                <a16:creationId xmlns:a16="http://schemas.microsoft.com/office/drawing/2014/main" id="{180BA3B3-0148-4E91-86F9-EBC9F89C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11" name="未售">
            <a:extLst xmlns:a="http://schemas.openxmlformats.org/drawingml/2006/main">
              <a:ext uri="{FF2B5EF4-FFF2-40B4-BE49-F238E27FC236}">
                <a16:creationId xmlns:a16="http://schemas.microsoft.com/office/drawing/2014/main" id="{9F300953-7084-46EF-B028-639C01D9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92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未售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0" y="2238375"/>
          <a:ext xmlns:a="http://schemas.openxmlformats.org/drawingml/2006/main" cx="4972050" cy="2505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6f9925e2bd43bc"/>
          </a:graphicData>
        </a:graphic>
      </p:graphicFrame>
      <p:sp>
        <p:nvSpPr>
          <p:cNvPr id="13" name="示意：先存入抵押品的模式">
            <a:extLst xmlns:a="http://schemas.openxmlformats.org/drawingml/2006/main">
              <a:ext uri="{FF2B5EF4-FFF2-40B4-BE49-F238E27FC236}">
                <a16:creationId xmlns:a16="http://schemas.microsoft.com/office/drawing/2014/main" id="{B0D33A2E-1256-478F-B917-CE67B80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816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示意：先存入抵押品的模式</a:t>
            </a:r>
          </a:p>
        </p:txBody>
      </p:sp>
      <p:sp>
        <p:nvSpPr>
          <p:cNvPr id="14" name="示意價格路徑">
            <a:extLst xmlns:a="http://schemas.openxmlformats.org/drawingml/2006/main">
              <a:ext uri="{FF2B5EF4-FFF2-40B4-BE49-F238E27FC236}">
                <a16:creationId xmlns:a16="http://schemas.microsoft.com/office/drawing/2014/main" id="{D8D2BC80-E26B-48EB-AC23-A0C74404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8160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示意價格路徑</a:t>
            </a:r>
          </a:p>
        </p:txBody>
      </p:sp>
      <p:sp>
        <p:nvSpPr>
          <p:cNvPr id="15" name="Aqua：成交才移動資金">
            <a:extLst xmlns:a="http://schemas.openxmlformats.org/drawingml/2006/main">
              <a:ext uri="{FF2B5EF4-FFF2-40B4-BE49-F238E27FC236}">
                <a16:creationId xmlns:a16="http://schemas.microsoft.com/office/drawing/2014/main" id="{A461806A-362D-4A5A-BDAE-44404D0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534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Aqua：成交才移動資金</a:t>
            </a:r>
          </a:p>
        </p:txBody>
      </p:sp>
      <p:sp>
        <p:nvSpPr>
          <p:cNvPr id="16" name="Band：逐次檢查報價">
            <a:extLst xmlns:a="http://schemas.openxmlformats.org/drawingml/2006/main">
              <a:ext uri="{FF2B5EF4-FFF2-40B4-BE49-F238E27FC236}">
                <a16:creationId xmlns:a16="http://schemas.microsoft.com/office/drawing/2014/main" id="{00DA8BCA-3B5E-4929-95C2-F520720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743575"/>
            <a:ext cx="4867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Band：逐次檢查報價</a:t>
            </a:r>
          </a:p>
        </p:txBody>
      </p:sp>
    </p:spTree>
    <p:extLst>
      <p:ext uri="{BB962C8B-B14F-4D97-AF65-F5344CB8AC3E}">
        <p14:creationId xmlns:p14="http://schemas.microsoft.com/office/powerpoint/2010/main" val="1499004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公開整合的完整架構">
            <a:extLst xmlns:a="http://schemas.openxmlformats.org/drawingml/2006/main">
              <a:ext uri="{FF2B5EF4-FFF2-40B4-BE49-F238E27FC236}">
                <a16:creationId xmlns:a16="http://schemas.microsoft.com/office/drawing/2014/main" id="{9BA096B1-3CB2-4776-934D-D296760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公開整合的完整架構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4c20e89e547d5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9CE8A9D2-2DFA-4DFE-93D5-67BEB59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5C6DD0C9-E5B1-47E4-A883-C3077FC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" name="造市者錢包">
            <a:extLst xmlns:a="http://schemas.openxmlformats.org/drawingml/2006/main">
              <a:ext uri="{FF2B5EF4-FFF2-40B4-BE49-F238E27FC236}">
                <a16:creationId xmlns:a16="http://schemas.microsoft.com/office/drawing/2014/main" id="{E12E2EB3-10D8-498A-9D41-C775454B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造市者錢包</a:t>
            </a:r>
          </a:p>
        </p:txBody>
      </p:sp>
      <p:sp>
        <p:nvSpPr>
          <p:cNvPr id="6" name="Aqua">
            <a:extLst xmlns:a="http://schemas.openxmlformats.org/drawingml/2006/main">
              <a:ext uri="{FF2B5EF4-FFF2-40B4-BE49-F238E27FC236}">
                <a16:creationId xmlns:a16="http://schemas.microsoft.com/office/drawing/2014/main" id="{1DDCA2FE-17CA-4F33-9E3E-C373A32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33700"/>
            <a:ext cx="1885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Aqua</a:t>
            </a:r>
          </a:p>
        </p:txBody>
      </p:sp>
      <p:sp>
        <p:nvSpPr>
          <p:cNvPr id="7" name="Writer">
            <a:extLst xmlns:a="http://schemas.openxmlformats.org/drawingml/2006/main">
              <a:ext uri="{FF2B5EF4-FFF2-40B4-BE49-F238E27FC236}">
                <a16:creationId xmlns:a16="http://schemas.microsoft.com/office/drawing/2014/main" id="{8DD7C2BE-54C0-4E4A-8023-1F4FF00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Writer</a:t>
            </a:r>
          </a:p>
        </p:txBody>
      </p:sp>
      <p:sp>
        <p:nvSpPr>
          <p:cNvPr id="8" name="Book">
            <a:extLst xmlns:a="http://schemas.openxmlformats.org/drawingml/2006/main">
              <a:ext uri="{FF2B5EF4-FFF2-40B4-BE49-F238E27FC236}">
                <a16:creationId xmlns:a16="http://schemas.microsoft.com/office/drawing/2014/main" id="{2276FEF0-14B1-4AD8-9BBD-22099E7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241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Book</a:t>
            </a:r>
          </a:p>
        </p:txBody>
      </p:sp>
      <p:sp>
        <p:nvSpPr>
          <p:cNvPr id="9" name="SwapVM">
            <a:extLst xmlns:a="http://schemas.openxmlformats.org/drawingml/2006/main">
              <a:ext uri="{FF2B5EF4-FFF2-40B4-BE49-F238E27FC236}">
                <a16:creationId xmlns:a16="http://schemas.microsoft.com/office/drawing/2014/main" id="{45A5B623-D0A0-4E16-B530-3476E6A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SwapVM</a:t>
            </a:r>
          </a:p>
        </p:txBody>
      </p:sp>
      <p:sp>
        <p:nvSpPr>
          <p:cNvPr id="10" name="Guard">
            <a:extLst xmlns:a="http://schemas.openxmlformats.org/drawingml/2006/main">
              <a:ext uri="{FF2B5EF4-FFF2-40B4-BE49-F238E27FC236}">
                <a16:creationId xmlns:a16="http://schemas.microsoft.com/office/drawing/2014/main" id="{FE615B03-7F5C-41FA-8F12-487314D7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Guard</a:t>
            </a:r>
          </a:p>
        </p:txBody>
      </p:sp>
      <p:sp>
        <p:nvSpPr>
          <p:cNvPr id="11" name="v4 hook&#10;+ band">
            <a:extLst xmlns:a="http://schemas.openxmlformats.org/drawingml/2006/main">
              <a:ext uri="{FF2B5EF4-FFF2-40B4-BE49-F238E27FC236}">
                <a16:creationId xmlns:a16="http://schemas.microsoft.com/office/drawing/2014/main" id="{8CAC32AA-1F8B-4200-9B2C-913195A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00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v4 hook</a:t>
            </a:r>
          </a:p>
          <a:p xmlns:a="http://schemas.openxmlformats.org/drawingml/2006/main">
            <a:pPr algn="ctr">
              <a:def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+ band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90850" y="34099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029325" y="2714625"/>
            <a:ext cx="1209675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01125" y="2714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86350" y="3886200"/>
            <a:ext cx="2152650" cy="981075"/>
          </a:xfrm>
          <a:prstGeom xmlns:a="http://schemas.openxmlformats.org/drawingml/2006/main" prst="bentConnector5">
            <a:avLst>
              <a:gd name="adj1" fmla="val 0"/>
              <a:gd name="adj2" fmla="val 23301"/>
              <a:gd name="adj3" fmla="val 89381"/>
            </a:avLst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01125" y="48672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763250" y="20859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007A"/>
            </a:solidFill>
            <a:prstDash val="solid"/>
            <a:tailEnd type="triangle" w="med" len="med"/>
          </a:ln>
        </p:spPr>
      </p:cxnSp>
      <p:sp>
        <p:nvSpPr>
          <p:cNvPr id="18" name="資金存取">
            <a:extLst xmlns:a="http://schemas.openxmlformats.org/drawingml/2006/main">
              <a:ext uri="{FF2B5EF4-FFF2-40B4-BE49-F238E27FC236}">
                <a16:creationId xmlns:a16="http://schemas.microsoft.com/office/drawing/2014/main" id="{1AF5F6D9-6996-40B3-ACF7-1264AD5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資金存取</a:t>
            </a:r>
          </a:p>
        </p:txBody>
      </p:sp>
      <p:sp>
        <p:nvSpPr>
          <p:cNvPr id="19" name="選擇權">
            <a:extLst xmlns:a="http://schemas.openxmlformats.org/drawingml/2006/main">
              <a:ext uri="{FF2B5EF4-FFF2-40B4-BE49-F238E27FC236}">
                <a16:creationId xmlns:a16="http://schemas.microsoft.com/office/drawing/2014/main" id="{579AB3B1-7F3F-4F03-94DD-1239517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選擇權</a:t>
            </a:r>
          </a:p>
        </p:txBody>
      </p:sp>
      <p:sp>
        <p:nvSpPr>
          <p:cNvPr id="20" name="現貨">
            <a:extLst xmlns:a="http://schemas.openxmlformats.org/drawingml/2006/main">
              <a:ext uri="{FF2B5EF4-FFF2-40B4-BE49-F238E27FC236}">
                <a16:creationId xmlns:a16="http://schemas.microsoft.com/office/drawing/2014/main" id="{3C02C4B7-F6D6-4620-B216-FE8A763A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現貨</a:t>
            </a:r>
          </a:p>
        </p:txBody>
      </p:sp>
      <p:sp>
        <p:nvSpPr>
          <p:cNvPr id="21" name="同一份庫存，共用策略帳務">
            <a:extLst xmlns:a="http://schemas.openxmlformats.org/drawingml/2006/main">
              <a:ext uri="{FF2B5EF4-FFF2-40B4-BE49-F238E27FC236}">
                <a16:creationId xmlns:a16="http://schemas.microsoft.com/office/drawing/2014/main" id="{09D47870-F49B-45ED-BCC1-BE5CFE1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同一份庫存，共用策略帳務</a:t>
            </a:r>
          </a:p>
        </p:txBody>
      </p:sp>
    </p:spTree>
    <p:extLst>
      <p:ext uri="{BB962C8B-B14F-4D97-AF65-F5344CB8AC3E}">
        <p14:creationId xmlns:p14="http://schemas.microsoft.com/office/powerpoint/2010/main" val="252663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未成交承諾仍留在造市者錢包">
            <a:extLst xmlns:a="http://schemas.openxmlformats.org/drawingml/2006/main">
              <a:ext uri="{FF2B5EF4-FFF2-40B4-BE49-F238E27FC236}">
                <a16:creationId xmlns:a16="http://schemas.microsoft.com/office/drawing/2014/main" id="{418AEDC0-5D8D-431C-8A3C-E510FC9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未成交承諾仍留在造市者錢包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78edbf1284624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DB1C2E6E-D889-4586-AA0B-3534F028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3286FDD3-E8A6-4560-B7CF-0ABCFDD0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D43819AB-D749-46DF-81F9-C85E355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" name="10 口 call">
            <a:extLst xmlns:a="http://schemas.openxmlformats.org/drawingml/2006/main">
              <a:ext uri="{FF2B5EF4-FFF2-40B4-BE49-F238E27FC236}">
                <a16:creationId xmlns:a16="http://schemas.microsoft.com/office/drawing/2014/main" id="{FC8760DF-F4EC-40B9-ABFE-939C168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10 口 call</a:t>
            </a:r>
          </a:p>
        </p:txBody>
      </p:sp>
      <p:sp>
        <p:nvSpPr>
          <p:cNvPr id="7" name="10 口 put，履約價 400">
            <a:extLst xmlns:a="http://schemas.openxmlformats.org/drawingml/2006/main">
              <a:ext uri="{FF2B5EF4-FFF2-40B4-BE49-F238E27FC236}">
                <a16:creationId xmlns:a16="http://schemas.microsoft.com/office/drawing/2014/main" id="{4E7CF625-340A-41BB-8989-B62F39AB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9542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10 口 put，履約價 400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2276475"/>
          <a:ext xmlns:a="http://schemas.openxmlformats.org/drawingml/2006/main" cx="371475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67b9e356ab4d10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4743450" y="2276475"/>
          <a:ext xmlns:a="http://schemas.openxmlformats.org/drawingml/2006/main" cx="371475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64708b3f8348cf"/>
          </a:graphicData>
        </a:graphic>
      </p:graphicFrame>
      <p:sp>
        <p:nvSpPr>
          <p:cNvPr id="10" name="30 AAPL">
            <a:extLst xmlns:a="http://schemas.openxmlformats.org/drawingml/2006/main">
              <a:ext uri="{FF2B5EF4-FFF2-40B4-BE49-F238E27FC236}">
                <a16:creationId xmlns:a16="http://schemas.microsoft.com/office/drawing/2014/main" id="{248718A4-F169-4637-B254-C0A67C4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71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30 AAPL</a:t>
            </a:r>
          </a:p>
        </p:txBody>
      </p:sp>
      <p:sp>
        <p:nvSpPr>
          <p:cNvPr id="11" name="20,000 USDG">
            <a:extLst xmlns:a="http://schemas.openxmlformats.org/drawingml/2006/main">
              <a:ext uri="{FF2B5EF4-FFF2-40B4-BE49-F238E27FC236}">
                <a16:creationId xmlns:a16="http://schemas.microsoft.com/office/drawing/2014/main" id="{D07CE38F-6B9A-4562-9F56-BBD6A98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3895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20,000 USDG</a:t>
            </a:r>
          </a:p>
        </p:txBody>
      </p:sp>
      <p:sp>
        <p:nvSpPr>
          <p:cNvPr id="12" name="0">
            <a:extLst xmlns:a="http://schemas.openxmlformats.org/drawingml/2006/main">
              <a:ext uri="{FF2B5EF4-FFF2-40B4-BE49-F238E27FC236}">
                <a16:creationId xmlns:a16="http://schemas.microsoft.com/office/drawing/2014/main" id="{59B33CEE-D247-41EA-B23D-ED79C3D3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1905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3" name="Book 代幣">
            <a:extLst xmlns:a="http://schemas.openxmlformats.org/drawingml/2006/main">
              <a:ext uri="{FF2B5EF4-FFF2-40B4-BE49-F238E27FC236}">
                <a16:creationId xmlns:a16="http://schemas.microsoft.com/office/drawing/2014/main" id="{919A42A6-84D4-4F94-9A07-1FCF2118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7670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Book 代幣</a:t>
            </a:r>
          </a:p>
        </p:txBody>
      </p:sp>
      <p:sp>
        <p:nvSpPr>
          <p:cNvPr id="14" name="━">
            <a:extLst xmlns:a="http://schemas.openxmlformats.org/drawingml/2006/main">
              <a:ext uri="{FF2B5EF4-FFF2-40B4-BE49-F238E27FC236}">
                <a16:creationId xmlns:a16="http://schemas.microsoft.com/office/drawing/2014/main" id="{AD11D22A-78AC-4593-996D-2C6EF1FF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15" name="已承諾">
            <a:extLst xmlns:a="http://schemas.openxmlformats.org/drawingml/2006/main">
              <a:ext uri="{FF2B5EF4-FFF2-40B4-BE49-F238E27FC236}">
                <a16:creationId xmlns:a16="http://schemas.microsoft.com/office/drawing/2014/main" id="{353B6418-2499-410A-A4E3-71C7F0F4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0062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已承諾</a:t>
            </a:r>
          </a:p>
        </p:txBody>
      </p:sp>
      <p:sp>
        <p:nvSpPr>
          <p:cNvPr id="16" name="━">
            <a:extLst xmlns:a="http://schemas.openxmlformats.org/drawingml/2006/main">
              <a:ext uri="{FF2B5EF4-FFF2-40B4-BE49-F238E27FC236}">
                <a16:creationId xmlns:a16="http://schemas.microsoft.com/office/drawing/2014/main" id="{90186B3E-3B45-42AE-9996-2784C1B3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006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17" name="未承諾">
            <a:extLst xmlns:a="http://schemas.openxmlformats.org/drawingml/2006/main">
              <a:ext uri="{FF2B5EF4-FFF2-40B4-BE49-F238E27FC236}">
                <a16:creationId xmlns:a16="http://schemas.microsoft.com/office/drawing/2014/main" id="{1E917E3C-6342-4B77-BC1F-AD838BA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00062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未承諾</a:t>
            </a:r>
          </a:p>
        </p:txBody>
      </p:sp>
      <p:sp>
        <p:nvSpPr>
          <p:cNvPr id="18" name="Ship 與 post 不轉移代幣；虛擬額度不是額外資產">
            <a:extLst xmlns:a="http://schemas.openxmlformats.org/drawingml/2006/main">
              <a:ext uri="{FF2B5EF4-FFF2-40B4-BE49-F238E27FC236}">
                <a16:creationId xmlns:a16="http://schemas.microsoft.com/office/drawing/2014/main" id="{17D78492-10AC-4DFC-A641-6FEE844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Ship 與 post 不轉移代幣；虛擬額度不是額外資產</a:t>
            </a:r>
          </a:p>
        </p:txBody>
      </p:sp>
    </p:spTree>
    <p:extLst>
      <p:ext uri="{BB962C8B-B14F-4D97-AF65-F5344CB8AC3E}">
        <p14:creationId xmlns:p14="http://schemas.microsoft.com/office/powerpoint/2010/main" val="2049666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現貨 guard 保護未成交承諾">
            <a:extLst xmlns:a="http://schemas.openxmlformats.org/drawingml/2006/main">
              <a:ext uri="{FF2B5EF4-FFF2-40B4-BE49-F238E27FC236}">
                <a16:creationId xmlns:a16="http://schemas.microsoft.com/office/drawing/2014/main" id="{0F9A1996-0190-4B26-A707-2861ED9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現貨 guard 保護未成交承諾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810952f464d01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72BC84FB-BD08-46C4-BB7C-E025C5B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67B60C3C-B7C1-4B46-B528-82DC519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5E758E5D-CD43-4E80-AF3F-716B655A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" name="可用庫存 = 錢包餘額 − 已承諾">
            <a:extLst xmlns:a="http://schemas.openxmlformats.org/drawingml/2006/main">
              <a:ext uri="{FF2B5EF4-FFF2-40B4-BE49-F238E27FC236}">
                <a16:creationId xmlns:a16="http://schemas.microsoft.com/office/drawing/2014/main" id="{D73D626D-7326-4968-938E-A4CB1B5E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可用庫存 = 錢包餘額 − 已承諾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381250"/>
          <a:ext xmlns:a="http://schemas.openxmlformats.org/drawingml/2006/main" cx="73533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738361d4e4323"/>
          </a:graphicData>
        </a:graphic>
      </p:graphicFrame>
      <p:sp>
        <p:nvSpPr>
          <p:cNvPr id="8" name="29.05 &gt; 10">
            <a:extLst xmlns:a="http://schemas.openxmlformats.org/drawingml/2006/main">
              <a:ext uri="{FF2B5EF4-FFF2-40B4-BE49-F238E27FC236}">
                <a16:creationId xmlns:a16="http://schemas.microsoft.com/office/drawing/2014/main" id="{B504FDB9-41FB-4750-9D2D-29CF18A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285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29.05 &gt; 10</a:t>
            </a:r>
          </a:p>
        </p:txBody>
      </p:sp>
      <p:sp>
        <p:nvSpPr>
          <p:cNvPr id="9" name="承諾仍有足額支撐">
            <a:extLst xmlns:a="http://schemas.openxmlformats.org/drawingml/2006/main">
              <a:ext uri="{FF2B5EF4-FFF2-40B4-BE49-F238E27FC236}">
                <a16:creationId xmlns:a16="http://schemas.microsoft.com/office/drawing/2014/main" id="{8AD16598-587F-43B2-8A4B-346B8E3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575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承諾仍有足額支撐</a:t>
            </a:r>
          </a:p>
        </p:txBody>
      </p:sp>
      <p:sp>
        <p:nvSpPr>
          <p:cNvPr id="10" name="9 &lt; 10">
            <a:extLst xmlns:a="http://schemas.openxmlformats.org/drawingml/2006/main">
              <a:ext uri="{FF2B5EF4-FFF2-40B4-BE49-F238E27FC236}">
                <a16:creationId xmlns:a16="http://schemas.microsoft.com/office/drawing/2014/main" id="{1DBCC972-9637-4B4D-93AD-B330E402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38600"/>
            <a:ext cx="285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9 &lt; 10</a:t>
            </a:r>
          </a:p>
        </p:txBody>
      </p:sp>
      <p:sp>
        <p:nvSpPr>
          <p:cNvPr id="11" name="後續成交拒絕">
            <a:extLst xmlns:a="http://schemas.openxmlformats.org/drawingml/2006/main">
              <a:ext uri="{FF2B5EF4-FFF2-40B4-BE49-F238E27FC236}">
                <a16:creationId xmlns:a16="http://schemas.microsoft.com/office/drawing/2014/main" id="{01EE5352-2FED-4731-A4A6-1F6E8323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672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後續成交拒絕</a:t>
            </a:r>
          </a:p>
        </p:txBody>
      </p:sp>
      <p:sp>
        <p:nvSpPr>
          <p:cNvPr id="12" name="獨立情境：有 guard 交易 400 USDG；無 guard 賣出 21 AAPL">
            <a:extLst xmlns:a="http://schemas.openxmlformats.org/drawingml/2006/main">
              <a:ext uri="{FF2B5EF4-FFF2-40B4-BE49-F238E27FC236}">
                <a16:creationId xmlns:a16="http://schemas.microsoft.com/office/drawing/2014/main" id="{A017B44B-AF17-45E9-91D5-CE42987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獨立情境：有 guard 交易 400 USDG；無 guard 賣出 21 AAPL</a:t>
            </a:r>
          </a:p>
        </p:txBody>
      </p:sp>
    </p:spTree>
    <p:extLst>
      <p:ext uri="{BB962C8B-B14F-4D97-AF65-F5344CB8AC3E}">
        <p14:creationId xmlns:p14="http://schemas.microsoft.com/office/powerpoint/2010/main" val="1319005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成交時拉取剛好的抵押品">
            <a:extLst xmlns:a="http://schemas.openxmlformats.org/drawingml/2006/main">
              <a:ext uri="{FF2B5EF4-FFF2-40B4-BE49-F238E27FC236}">
                <a16:creationId xmlns:a16="http://schemas.microsoft.com/office/drawing/2014/main" id="{FE530194-C421-45A7-92EF-76C9FFEB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成交時拉取剛好的抵押品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9e92ac9e54b4a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C1F1C581-915D-4B60-9C4B-44271A4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45E92B2A-AAC7-43E3-B8AC-BA1ABDE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853DA0B5-4CF9-4A21-A9A8-B865F1B1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" name="5 口 call + 3 口 put">
            <a:extLst xmlns:a="http://schemas.openxmlformats.org/drawingml/2006/main">
              <a:ext uri="{FF2B5EF4-FFF2-40B4-BE49-F238E27FC236}">
                <a16:creationId xmlns:a16="http://schemas.microsoft.com/office/drawing/2014/main" id="{71023BD5-23B4-4ADD-9F68-89BF3ED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5 口 call + 3 口 put</a:t>
            </a:r>
          </a:p>
        </p:txBody>
      </p:sp>
      <p:sp>
        <p:nvSpPr>
          <p:cNvPr id="7" name="造市者">
            <a:extLst xmlns:a="http://schemas.openxmlformats.org/drawingml/2006/main">
              <a:ext uri="{FF2B5EF4-FFF2-40B4-BE49-F238E27FC236}">
                <a16:creationId xmlns:a16="http://schemas.microsoft.com/office/drawing/2014/main" id="{F711CF1C-C856-47D8-ADEE-3341CF2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1313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造市者</a:t>
            </a:r>
          </a:p>
        </p:txBody>
      </p:sp>
      <p:sp>
        <p:nvSpPr>
          <p:cNvPr id="8" name="Aqua.pull">
            <a:extLst xmlns:a="http://schemas.openxmlformats.org/drawingml/2006/main">
              <a:ext uri="{FF2B5EF4-FFF2-40B4-BE49-F238E27FC236}">
                <a16:creationId xmlns:a16="http://schemas.microsoft.com/office/drawing/2014/main" id="{07B605E6-66CA-4939-BC60-F2626A89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1313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Aqua.pull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327DF-CC61-4F4D-B62D-2C650EC4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2667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ook">
            <a:extLst xmlns:a="http://schemas.openxmlformats.org/drawingml/2006/main">
              <a:ext uri="{FF2B5EF4-FFF2-40B4-BE49-F238E27FC236}">
                <a16:creationId xmlns:a16="http://schemas.microsoft.com/office/drawing/2014/main" id="{A9566C3C-186C-4A72-A1EE-CE3A9E8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Book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3357563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743700" y="3357563"/>
            <a:ext cx="20859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D67A"/>
            </a:solidFill>
            <a:prstDash val="solid"/>
            <a:tailEnd type="triangle" w="med" len="med"/>
          </a:ln>
        </p:spPr>
      </p:cxnSp>
      <p:sp>
        <p:nvSpPr>
          <p:cNvPr id="13" name="5 AAPL + 1,200 USDG">
            <a:extLst xmlns:a="http://schemas.openxmlformats.org/drawingml/2006/main">
              <a:ext uri="{FF2B5EF4-FFF2-40B4-BE49-F238E27FC236}">
                <a16:creationId xmlns:a16="http://schemas.microsoft.com/office/drawing/2014/main" id="{C09593BF-3853-463C-B533-D35424B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5 AAPL + 1,200 USDG</a:t>
            </a:r>
          </a:p>
        </p:txBody>
      </p:sp>
      <p:sp>
        <p:nvSpPr>
          <p:cNvPr id="14" name="買方">
            <a:extLst xmlns:a="http://schemas.openxmlformats.org/drawingml/2006/main">
              <a:ext uri="{FF2B5EF4-FFF2-40B4-BE49-F238E27FC236}">
                <a16:creationId xmlns:a16="http://schemas.microsoft.com/office/drawing/2014/main" id="{ADF2CDEE-4FF0-43DA-A5AE-14F2A7F8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2437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00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買方</a:t>
            </a:r>
          </a:p>
        </p:txBody>
      </p:sp>
      <p:cxnSp>
        <p:nvCxnSpPr>
          <p:cNvPr id="37" name=""/>
          <p:cNvCxnSpPr>
            <a:stCxn xmlns:a="http://schemas.openxmlformats.org/drawingml/2006/main" id="14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6743700" y="4238625"/>
            <a:ext cx="3419475" cy="762000"/>
          </a:xfrm>
          <a:prstGeom xmlns:a="http://schemas.openxmlformats.org/drawingml/2006/main" prst="bentConnector2">
            <a:avLst/>
          </a:prstGeom>
          <a:ln xmlns:a="http://schemas.openxmlformats.org/drawingml/2006/main" w="22860">
            <a:solidFill>
              <a:srgbClr val="FF007A"/>
            </a:solidFill>
            <a:prstDash val="solid"/>
            <a:tailEnd type="triangle" w="med" len="med"/>
          </a:ln>
        </p:spPr>
      </p:cxnSp>
      <p:sp>
        <p:nvSpPr>
          <p:cNvPr id="16" name="64.0064 USDG 權利金">
            <a:extLst xmlns:a="http://schemas.openxmlformats.org/drawingml/2006/main">
              <a:ext uri="{FF2B5EF4-FFF2-40B4-BE49-F238E27FC236}">
                <a16:creationId xmlns:a16="http://schemas.microsoft.com/office/drawing/2014/main" id="{E6BC61F3-19EF-4976-B353-5381CD7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64.0064 USDG 權利金</a:t>
            </a:r>
          </a:p>
        </p:txBody>
      </p:sp>
      <p:sp>
        <p:nvSpPr>
          <p:cNvPr id="17" name="5 call + 3 put 多頭部位">
            <a:extLst xmlns:a="http://schemas.openxmlformats.org/drawingml/2006/main">
              <a:ext uri="{FF2B5EF4-FFF2-40B4-BE49-F238E27FC236}">
                <a16:creationId xmlns:a16="http://schemas.microsoft.com/office/drawing/2014/main" id="{884A4A4B-59EE-4A39-B281-37E26251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7212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5 call + 3 put 多頭部位</a:t>
            </a:r>
          </a:p>
        </p:txBody>
      </p:sp>
      <p:sp>
        <p:nvSpPr>
          <p:cNvPr id="18" name="5 AAPL">
            <a:extLst xmlns:a="http://schemas.openxmlformats.org/drawingml/2006/main">
              <a:ext uri="{FF2B5EF4-FFF2-40B4-BE49-F238E27FC236}">
                <a16:creationId xmlns:a16="http://schemas.microsoft.com/office/drawing/2014/main" id="{80D12D0D-34D3-4373-875F-D593127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5 AAPL</a:t>
            </a:r>
          </a:p>
        </p:txBody>
      </p:sp>
      <p:sp>
        <p:nvSpPr>
          <p:cNvPr id="19" name="1,264.0064 USDG">
            <a:extLst xmlns:a="http://schemas.openxmlformats.org/drawingml/2006/main">
              <a:ext uri="{FF2B5EF4-FFF2-40B4-BE49-F238E27FC236}">
                <a16:creationId xmlns:a16="http://schemas.microsoft.com/office/drawing/2014/main" id="{E919BB43-86A6-46AA-9F86-353BC9E8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1,264.0064 USDG</a:t>
            </a:r>
          </a:p>
        </p:txBody>
      </p:sp>
      <p:sp>
        <p:nvSpPr>
          <p:cNvPr id="20" name="未成交承諾">
            <a:extLst xmlns:a="http://schemas.openxmlformats.org/drawingml/2006/main">
              <a:ext uri="{FF2B5EF4-FFF2-40B4-BE49-F238E27FC236}">
                <a16:creationId xmlns:a16="http://schemas.microsoft.com/office/drawing/2014/main" id="{93C9F5BF-56C5-41EF-9F0D-644EB9DA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未成交承諾</a:t>
            </a:r>
          </a:p>
        </p:txBody>
      </p:sp>
      <p:sp>
        <p:nvSpPr>
          <p:cNvPr id="21" name="5 AAPL">
            <a:extLst xmlns:a="http://schemas.openxmlformats.org/drawingml/2006/main">
              <a:ext uri="{FF2B5EF4-FFF2-40B4-BE49-F238E27FC236}">
                <a16:creationId xmlns:a16="http://schemas.microsoft.com/office/drawing/2014/main" id="{B94EFE97-8A5B-443A-9A08-9DDA3CB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5 AAPL</a:t>
            </a:r>
          </a:p>
        </p:txBody>
      </p:sp>
      <p:sp>
        <p:nvSpPr>
          <p:cNvPr id="22" name="2,800 USDG">
            <a:extLst xmlns:a="http://schemas.openxmlformats.org/drawingml/2006/main">
              <a:ext uri="{FF2B5EF4-FFF2-40B4-BE49-F238E27FC236}">
                <a16:creationId xmlns:a16="http://schemas.microsoft.com/office/drawing/2014/main" id="{8E448726-06E1-4E6A-9294-FA297D5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2,800 USDG</a:t>
            </a:r>
          </a:p>
        </p:txBody>
      </p:sp>
    </p:spTree>
    <p:extLst>
      <p:ext uri="{BB962C8B-B14F-4D97-AF65-F5344CB8AC3E}">
        <p14:creationId xmlns:p14="http://schemas.microsoft.com/office/powerpoint/2010/main" val="1485663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ook 如何記錄價格">
            <a:extLst xmlns:a="http://schemas.openxmlformats.org/drawingml/2006/main">
              <a:ext uri="{FF2B5EF4-FFF2-40B4-BE49-F238E27FC236}">
                <a16:creationId xmlns:a16="http://schemas.microsoft.com/office/drawing/2014/main" id="{8549783D-E0B8-42DF-8A7A-EB3E8C98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Hook 如何記錄價格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6ffdc922407b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796DC71E-37E1-4630-AF57-EBF2F0C8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8">
            <a:extLst xmlns:a="http://schemas.openxmlformats.org/drawingml/2006/main">
              <a:ext uri="{FF2B5EF4-FFF2-40B4-BE49-F238E27FC236}">
                <a16:creationId xmlns:a16="http://schemas.microsoft.com/office/drawing/2014/main" id="{52E0782A-5783-4821-B3B2-DC6C1A93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" name="每秒第一筆 swap 之前">
            <a:extLst xmlns:a="http://schemas.openxmlformats.org/drawingml/2006/main">
              <a:ext uri="{FF2B5EF4-FFF2-40B4-BE49-F238E27FC236}">
                <a16:creationId xmlns:a16="http://schemas.microsoft.com/office/drawing/2014/main" id="{52CCC3EF-1452-456D-8CFE-F842AE59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3827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每秒第一筆 swap 之前</a:t>
            </a:r>
          </a:p>
        </p:txBody>
      </p:sp>
      <p:sp>
        <p:nvSpPr>
          <p:cNvPr id="6" name="記錄">
            <a:extLst xmlns:a="http://schemas.openxmlformats.org/drawingml/2006/main">
              <a:ext uri="{FF2B5EF4-FFF2-40B4-BE49-F238E27FC236}">
                <a16:creationId xmlns:a16="http://schemas.microsoft.com/office/drawing/2014/main" id="{9C3F4E59-37CD-4B32-B46D-DB30EF4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記錄</a:t>
            </a:r>
          </a:p>
        </p:txBody>
      </p:sp>
      <p:sp>
        <p:nvSpPr>
          <p:cNvPr id="7" name="推價">
            <a:extLst xmlns:a="http://schemas.openxmlformats.org/drawingml/2006/main">
              <a:ext uri="{FF2B5EF4-FFF2-40B4-BE49-F238E27FC236}">
                <a16:creationId xmlns:a16="http://schemas.microsoft.com/office/drawing/2014/main" id="{EBBA3295-B255-47D8-B40F-F59DF91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860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00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推價</a:t>
            </a:r>
          </a:p>
        </p:txBody>
      </p:sp>
      <p:sp>
        <p:nvSpPr>
          <p:cNvPr id="8" name="拉回">
            <a:extLst xmlns:a="http://schemas.openxmlformats.org/drawingml/2006/main">
              <a:ext uri="{FF2B5EF4-FFF2-40B4-BE49-F238E27FC236}">
                <a16:creationId xmlns:a16="http://schemas.microsoft.com/office/drawing/2014/main" id="{FD265039-ECB9-41D0-839C-9DFC08DA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拉回</a:t>
            </a:r>
          </a:p>
        </p:txBody>
      </p:sp>
      <p:sp>
        <p:nvSpPr>
          <p:cNvPr id="9" name="下秒記錄">
            <a:extLst xmlns:a="http://schemas.openxmlformats.org/drawingml/2006/main">
              <a:ext uri="{FF2B5EF4-FFF2-40B4-BE49-F238E27FC236}">
                <a16:creationId xmlns:a16="http://schemas.microsoft.com/office/drawing/2014/main" id="{F875CCE4-9351-4BE9-A12A-46D33F8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860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下秒記錄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6955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62625" y="26955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26955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sp>
        <p:nvSpPr>
          <p:cNvPr id="13" name="同一交易內推價再拉回">
            <a:extLst xmlns:a="http://schemas.openxmlformats.org/drawingml/2006/main">
              <a:ext uri="{FF2B5EF4-FFF2-40B4-BE49-F238E27FC236}">
                <a16:creationId xmlns:a16="http://schemas.microsoft.com/office/drawing/2014/main" id="{B9CF2AFE-68CE-48F9-B1F2-6FEDF85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90900"/>
            <a:ext cx="5172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同一交易內推價再拉回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0D840-D2A9-4A0B-B986-494ABCE7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95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15" name="原始 tick TWAP">
            <a:extLst xmlns:a="http://schemas.openxmlformats.org/drawingml/2006/main">
              <a:ext uri="{FF2B5EF4-FFF2-40B4-BE49-F238E27FC236}">
                <a16:creationId xmlns:a16="http://schemas.microsoft.com/office/drawing/2014/main" id="{3B16E297-3689-48AB-AFB0-7E7088D8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14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原始 tick TWAP</a:t>
            </a:r>
          </a:p>
        </p:txBody>
      </p:sp>
      <p:sp>
        <p:nvSpPr>
          <p:cNvPr id="16" name="截斷 tick TWAP">
            <a:extLst xmlns:a="http://schemas.openxmlformats.org/drawingml/2006/main">
              <a:ext uri="{FF2B5EF4-FFF2-40B4-BE49-F238E27FC236}">
                <a16:creationId xmlns:a16="http://schemas.microsoft.com/office/drawing/2014/main" id="{EAB70683-D54F-48BD-A6F4-2D55BAD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81500"/>
            <a:ext cx="504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截斷 tick TWAP</a:t>
            </a:r>
          </a:p>
        </p:txBody>
      </p:sp>
      <p:sp>
        <p:nvSpPr>
          <p:cNvPr id="17" name="1 小時中心">
            <a:extLst xmlns:a="http://schemas.openxmlformats.org/drawingml/2006/main">
              <a:ext uri="{FF2B5EF4-FFF2-40B4-BE49-F238E27FC236}">
                <a16:creationId xmlns:a16="http://schemas.microsoft.com/office/drawing/2014/main" id="{503BC174-9D5E-46F3-BD24-9870B65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 小時中心</a:t>
            </a:r>
          </a:p>
        </p:txBody>
      </p:sp>
      <p:sp>
        <p:nvSpPr>
          <p:cNvPr id="18" name="每次記錄最多 250 ticks">
            <a:extLst xmlns:a="http://schemas.openxmlformats.org/drawingml/2006/main">
              <a:ext uri="{FF2B5EF4-FFF2-40B4-BE49-F238E27FC236}">
                <a16:creationId xmlns:a16="http://schemas.microsoft.com/office/drawing/2014/main" id="{B488E7C2-4B7B-4695-97C1-8426FE4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00625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每次記錄最多 250 ticks</a:t>
            </a:r>
          </a:p>
        </p:txBody>
      </p:sp>
      <p:sp>
        <p:nvSpPr>
          <p:cNvPr id="19" name="OpenZeppelin／Panoptic oracle；持續偏移仍會成為新中心">
            <a:extLst xmlns:a="http://schemas.openxmlformats.org/drawingml/2006/main">
              <a:ext uri="{FF2B5EF4-FFF2-40B4-BE49-F238E27FC236}">
                <a16:creationId xmlns:a16="http://schemas.microsoft.com/office/drawing/2014/main" id="{E99EEA97-B31A-4D58-B415-794691A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OpenZeppelin／Panoptic oracle；持續偏移仍會成為新中心</a:t>
            </a:r>
          </a:p>
        </p:txBody>
      </p:sp>
    </p:spTree>
    <p:extLst>
      <p:ext uri="{BB962C8B-B14F-4D97-AF65-F5344CB8AC3E}">
        <p14:creationId xmlns:p14="http://schemas.microsoft.com/office/powerpoint/2010/main" val="1318597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價格參考決定固定百分比價格帶">
            <a:extLst xmlns:a="http://schemas.openxmlformats.org/drawingml/2006/main">
              <a:ext uri="{FF2B5EF4-FFF2-40B4-BE49-F238E27FC236}">
                <a16:creationId xmlns:a16="http://schemas.microsoft.com/office/drawing/2014/main" id="{0987D8B6-5B59-49B3-BD23-DF85E38D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價格參考決定固定百分比價格帶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2a7e5fcb4b9c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6CB11BED-D4BC-40D3-B887-5D7153A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BF0D0F69-FFFB-4E81-97B6-3DF4B67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9FF93420-8039-4CC6-86B2-E44743F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52450" y="1981200"/>
          <a:ext xmlns:a="http://schemas.openxmlformats.org/drawingml/2006/main" cx="80295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66de31059049e8"/>
          </a:graphicData>
        </a:graphic>
      </p:graphicFrame>
      <p:sp>
        <p:nvSpPr>
          <p:cNvPr id="7" name="USDG">
            <a:extLst xmlns:a="http://schemas.openxmlformats.org/drawingml/2006/main">
              <a:ext uri="{FF2B5EF4-FFF2-40B4-BE49-F238E27FC236}">
                <a16:creationId xmlns:a16="http://schemas.microsoft.com/office/drawing/2014/main" id="{3940B2D7-EE49-4A8C-8514-FFA7B55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USDG</a:t>
            </a:r>
          </a:p>
        </p:txBody>
      </p:sp>
      <p:sp>
        <p:nvSpPr>
          <p:cNvPr id="8" name="━">
            <a:extLst xmlns:a="http://schemas.openxmlformats.org/drawingml/2006/main">
              <a:ext uri="{FF2B5EF4-FFF2-40B4-BE49-F238E27FC236}">
                <a16:creationId xmlns:a16="http://schemas.microsoft.com/office/drawing/2014/main" id="{92A076AF-C872-4E8F-B25E-1DE6AFD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911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9" name="即時參考">
            <a:extLst xmlns:a="http://schemas.openxmlformats.org/drawingml/2006/main">
              <a:ext uri="{FF2B5EF4-FFF2-40B4-BE49-F238E27FC236}">
                <a16:creationId xmlns:a16="http://schemas.microsoft.com/office/drawing/2014/main" id="{0BA6F469-19D5-4EC0-BBB7-46B58A5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91150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即時參考</a:t>
            </a:r>
          </a:p>
        </p:txBody>
      </p:sp>
      <p:sp>
        <p:nvSpPr>
          <p:cNvPr id="10" name="━">
            <a:extLst xmlns:a="http://schemas.openxmlformats.org/drawingml/2006/main">
              <a:ext uri="{FF2B5EF4-FFF2-40B4-BE49-F238E27FC236}">
                <a16:creationId xmlns:a16="http://schemas.microsoft.com/office/drawing/2014/main" id="{A2F616B2-58BC-4B09-BC85-4B93F45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11" name="TWAP">
            <a:extLst xmlns:a="http://schemas.openxmlformats.org/drawingml/2006/main">
              <a:ext uri="{FF2B5EF4-FFF2-40B4-BE49-F238E27FC236}">
                <a16:creationId xmlns:a16="http://schemas.microsoft.com/office/drawing/2014/main" id="{5E78A751-6922-45E3-869E-C2706B9F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TWAP</a:t>
            </a:r>
          </a:p>
        </p:txBody>
      </p:sp>
      <p:sp>
        <p:nvSpPr>
          <p:cNvPr id="12" name="━">
            <a:extLst xmlns:a="http://schemas.openxmlformats.org/drawingml/2006/main">
              <a:ext uri="{FF2B5EF4-FFF2-40B4-BE49-F238E27FC236}">
                <a16:creationId xmlns:a16="http://schemas.microsoft.com/office/drawing/2014/main" id="{1F1BAA77-15C7-4B85-8CC3-7D31A511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3911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━</a:t>
            </a:r>
          </a:p>
        </p:txBody>
      </p:sp>
      <p:sp>
        <p:nvSpPr>
          <p:cNvPr id="13" name="±5%">
            <a:extLst xmlns:a="http://schemas.openxmlformats.org/drawingml/2006/main">
              <a:ext uri="{FF2B5EF4-FFF2-40B4-BE49-F238E27FC236}">
                <a16:creationId xmlns:a16="http://schemas.microsoft.com/office/drawing/2014/main" id="{14E464D1-8224-431D-B29A-ED6F43A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91150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±5%</a:t>
            </a:r>
          </a:p>
        </p:txBody>
      </p:sp>
      <p:sp>
        <p:nvSpPr>
          <p:cNvPr id="14" name="+5.1%">
            <a:extLst xmlns:a="http://schemas.openxmlformats.org/drawingml/2006/main">
              <a:ext uri="{FF2B5EF4-FFF2-40B4-BE49-F238E27FC236}">
                <a16:creationId xmlns:a16="http://schemas.microsoft.com/office/drawing/2014/main" id="{FB95F66B-5712-4C55-B69B-FE39BD8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+5.1%</a:t>
            </a:r>
          </a:p>
        </p:txBody>
      </p:sp>
      <p:sp>
        <p:nvSpPr>
          <p:cNvPr id="15" name="買入拒絕">
            <a:extLst xmlns:a="http://schemas.openxmlformats.org/drawingml/2006/main">
              <a:ext uri="{FF2B5EF4-FFF2-40B4-BE49-F238E27FC236}">
                <a16:creationId xmlns:a16="http://schemas.microsoft.com/office/drawing/2014/main" id="{220CE0E0-8D4C-4825-94E3-2814062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622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買入拒絕</a:t>
            </a:r>
          </a:p>
        </p:txBody>
      </p:sp>
      <p:sp>
        <p:nvSpPr>
          <p:cNvPr id="16" name="同時檢查">
            <a:extLst xmlns:a="http://schemas.openxmlformats.org/drawingml/2006/main">
              <a:ext uri="{FF2B5EF4-FFF2-40B4-BE49-F238E27FC236}">
                <a16:creationId xmlns:a16="http://schemas.microsoft.com/office/drawing/2014/main" id="{31B46064-6B29-41B1-B143-C742D25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385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同時檢查</a:t>
            </a:r>
          </a:p>
        </p:txBody>
      </p:sp>
      <p:sp>
        <p:nvSpPr>
          <p:cNvPr id="17" name="觀測歷史／流動性">
            <a:extLst xmlns:a="http://schemas.openxmlformats.org/drawingml/2006/main">
              <a:ext uri="{FF2B5EF4-FFF2-40B4-BE49-F238E27FC236}">
                <a16:creationId xmlns:a16="http://schemas.microsoft.com/office/drawing/2014/main" id="{FA10DFE8-26A5-409B-9362-41DFB91D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767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觀測歷史／流動性</a:t>
            </a:r>
          </a:p>
        </p:txBody>
      </p:sp>
      <p:sp>
        <p:nvSpPr>
          <p:cNvPr id="18" name="原始／截斷價格">
            <a:extLst xmlns:a="http://schemas.openxmlformats.org/drawingml/2006/main">
              <a:ext uri="{FF2B5EF4-FFF2-40B4-BE49-F238E27FC236}">
                <a16:creationId xmlns:a16="http://schemas.microsoft.com/office/drawing/2014/main" id="{F02A7EC3-6C7F-475C-8761-F1236016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原始／截斷價格</a:t>
            </a:r>
          </a:p>
        </p:txBody>
      </p:sp>
      <p:sp>
        <p:nvSpPr>
          <p:cNvPr id="19" name="AAPL 示意沿用分叉價格路徑；寬度固定，中心滾動">
            <a:extLst xmlns:a="http://schemas.openxmlformats.org/drawingml/2006/main">
              <a:ext uri="{FF2B5EF4-FFF2-40B4-BE49-F238E27FC236}">
                <a16:creationId xmlns:a16="http://schemas.microsoft.com/office/drawing/2014/main" id="{AC762E47-1AAC-4D1D-9A1F-E4CC3CA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示意沿用分叉價格路徑；寬度固定，中心滾動</a:t>
            </a:r>
          </a:p>
        </p:txBody>
      </p:sp>
    </p:spTree>
    <p:extLst>
      <p:ext uri="{BB962C8B-B14F-4D97-AF65-F5344CB8AC3E}">
        <p14:creationId xmlns:p14="http://schemas.microsoft.com/office/powerpoint/2010/main" val="1473610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可成交量與權利金的反應不同">
            <a:extLst xmlns:a="http://schemas.openxmlformats.org/drawingml/2006/main">
              <a:ext uri="{FF2B5EF4-FFF2-40B4-BE49-F238E27FC236}">
                <a16:creationId xmlns:a16="http://schemas.microsoft.com/office/drawing/2014/main" id="{F008A89B-C3C2-4D5C-A5ED-109FC7E9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可成交量與權利金的反應不同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6593a90844b67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3EE438AB-6FAA-4198-8F3C-3C2A0E7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67E27A25-10B1-4EAE-AB3E-443AF12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B1AD826B-B6CE-43FC-A5DB-00644805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每次口數上限">
            <a:extLst xmlns:a="http://schemas.openxmlformats.org/drawingml/2006/main">
              <a:ext uri="{FF2B5EF4-FFF2-40B4-BE49-F238E27FC236}">
                <a16:creationId xmlns:a16="http://schemas.microsoft.com/office/drawing/2014/main" id="{A9AD08FA-C812-46CB-8C45-73A58979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每次口數上限</a:t>
            </a:r>
          </a:p>
        </p:txBody>
      </p:sp>
      <p:sp>
        <p:nvSpPr>
          <p:cNvPr id="7" name="每口權利金／USDG">
            <a:extLst xmlns:a="http://schemas.openxmlformats.org/drawingml/2006/main">
              <a:ext uri="{FF2B5EF4-FFF2-40B4-BE49-F238E27FC236}">
                <a16:creationId xmlns:a16="http://schemas.microsoft.com/office/drawing/2014/main" id="{0D29C5E9-48F9-49A6-B89A-86F3D9E5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76375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每口權利金／USDG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71500" y="2162175"/>
          <a:ext xmlns:a="http://schemas.openxmlformats.org/drawingml/2006/main" cx="5143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671bba1e5f462e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10325" y="2162175"/>
          <a:ext xmlns:a="http://schemas.openxmlformats.org/drawingml/2006/main" cx="5143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2b6c79c96f479a"/>
          </a:graphicData>
        </a:graphic>
      </p:graphicFrame>
      <p:sp>
        <p:nvSpPr>
          <p:cNvPr id="10" name="+2.5%：25 口，8.4 USDG">
            <a:extLst xmlns:a="http://schemas.openxmlformats.org/drawingml/2006/main">
              <a:ext uri="{FF2B5EF4-FFF2-40B4-BE49-F238E27FC236}">
                <a16:creationId xmlns:a16="http://schemas.microsoft.com/office/drawing/2014/main" id="{DDBBAA49-4C7B-4A13-8F3D-F4833FD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+2.5%：25 口，8.4 USDG</a:t>
            </a:r>
          </a:p>
        </p:txBody>
      </p:sp>
      <p:sp>
        <p:nvSpPr>
          <p:cNvPr id="11" name="示意：中心 400，基本權利金 8。到 ±5%：上限 0，停止報價">
            <a:extLst xmlns:a="http://schemas.openxmlformats.org/drawingml/2006/main">
              <a:ext uri="{FF2B5EF4-FFF2-40B4-BE49-F238E27FC236}">
                <a16:creationId xmlns:a16="http://schemas.microsoft.com/office/drawing/2014/main" id="{51F50898-5530-4D3F-BBAE-1EA0806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示意：中心 400，基本權利金 8。到 ±5%：上限 0，停止報價</a:t>
            </a:r>
          </a:p>
        </p:txBody>
      </p:sp>
    </p:spTree>
    <p:extLst>
      <p:ext uri="{BB962C8B-B14F-4D97-AF65-F5344CB8AC3E}">
        <p14:creationId xmlns:p14="http://schemas.microsoft.com/office/powerpoint/2010/main" val="1058783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價格帶開啟，不代表一定能成交">
            <a:extLst xmlns:a="http://schemas.openxmlformats.org/drawingml/2006/main">
              <a:ext uri="{FF2B5EF4-FFF2-40B4-BE49-F238E27FC236}">
                <a16:creationId xmlns:a16="http://schemas.microsoft.com/office/drawing/2014/main" id="{99B32389-A67E-4727-966E-79DD8AF6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價格帶開啟，不代表一定能成交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ac85c2cf043e4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548F99F1-32EA-49CE-9930-056C6B1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A27540F2-E01E-4C7B-84F8-280B5D7C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6A58CDE3-79B6-4BEE-A9CE-895A4DD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38175" y="1790700"/>
          <a:ext xmlns:a="http://schemas.openxmlformats.org/drawingml/2006/main" cx="108966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581150"/>
                <a:gridCol w="2190750"/>
                <a:gridCol w="3505200"/>
              </a:tblGrid>
              <a:tr h="67437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觸發條件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Band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可讀報價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買入結果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67437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+5.1% 偏移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FF547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關閉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547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OutsideBand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7437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原報價到期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547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QuoteExpired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7437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原錨點偏離 +6%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547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QuoteOffAnchor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7437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抵押品不足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547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SourceShort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7" name="讀得到報價 ≠ 保證可以成交">
            <a:extLst xmlns:a="http://schemas.openxmlformats.org/drawingml/2006/main">
              <a:ext uri="{FF2B5EF4-FFF2-40B4-BE49-F238E27FC236}">
                <a16:creationId xmlns:a16="http://schemas.microsoft.com/office/drawing/2014/main" id="{20B2C394-A1B5-4653-86BF-A7BE1B8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97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讀得到報價 ≠ 保證可以成交</a:t>
            </a:r>
          </a:p>
        </p:txBody>
      </p:sp>
    </p:spTree>
    <p:extLst>
      <p:ext uri="{BB962C8B-B14F-4D97-AF65-F5344CB8AC3E}">
        <p14:creationId xmlns:p14="http://schemas.microsoft.com/office/powerpoint/2010/main" val="15193654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履約、關單與權利金回流">
            <a:extLst xmlns:a="http://schemas.openxmlformats.org/drawingml/2006/main">
              <a:ext uri="{FF2B5EF4-FFF2-40B4-BE49-F238E27FC236}">
                <a16:creationId xmlns:a16="http://schemas.microsoft.com/office/drawing/2014/main" id="{AEA4291A-8C7D-4FE5-B041-5F0BBC9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履約、關單與權利金回流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b8d3164b24e48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2267897D-B837-40D2-A109-360C0D13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367B5C07-7FC6-403C-8E19-A20E708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D9B0AFC8-A208-4A63-B51D-2A6DDE1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6" name="3 口 put：交付 3 AAPL，收到 1,200 USDG">
            <a:extLst xmlns:a="http://schemas.openxmlformats.org/drawingml/2006/main">
              <a:ext uri="{FF2B5EF4-FFF2-40B4-BE49-F238E27FC236}">
                <a16:creationId xmlns:a16="http://schemas.microsoft.com/office/drawing/2014/main" id="{B41F952D-E4E3-4077-9076-F04F510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99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3 口 put：交付 3 AAPL，收到 1,200 USDG</a:t>
            </a:r>
          </a:p>
        </p:txBody>
      </p:sp>
      <p:sp>
        <p:nvSpPr>
          <p:cNvPr id="7" name="Book 的 AAPL">
            <a:extLst xmlns:a="http://schemas.openxmlformats.org/drawingml/2006/main">
              <a:ext uri="{FF2B5EF4-FFF2-40B4-BE49-F238E27FC236}">
                <a16:creationId xmlns:a16="http://schemas.microsoft.com/office/drawing/2014/main" id="{22E568E5-6B0B-4A08-A517-7ACCE11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0980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Book 的 AAPL</a:t>
            </a:r>
          </a:p>
        </p:txBody>
      </p:sp>
      <p:sp>
        <p:nvSpPr>
          <p:cNvPr id="8" name="Book 的 USDG">
            <a:extLst xmlns:a="http://schemas.openxmlformats.org/drawingml/2006/main">
              <a:ext uri="{FF2B5EF4-FFF2-40B4-BE49-F238E27FC236}">
                <a16:creationId xmlns:a16="http://schemas.microsoft.com/office/drawing/2014/main" id="{DD67EFF6-06A4-41B0-8C40-D3C12C6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98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Book 的 USDG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71500" y="2752725"/>
          <a:ext xmlns:a="http://schemas.openxmlformats.org/drawingml/2006/main" cx="5219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4dc71a954346d7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457950" y="2752725"/>
          <a:ext xmlns:a="http://schemas.openxmlformats.org/drawingml/2006/main" cx="5219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97eb2ffa3e480a"/>
          </a:graphicData>
        </a:graphic>
      </p:graphicFrame>
      <p:sp>
        <p:nvSpPr>
          <p:cNvPr id="11" name="示意價格 ≈378.269 &lt; 履約價 400；call 價外，關單與領權利金分開執行">
            <a:extLst xmlns:a="http://schemas.openxmlformats.org/drawingml/2006/main">
              <a:ext uri="{FF2B5EF4-FFF2-40B4-BE49-F238E27FC236}">
                <a16:creationId xmlns:a16="http://schemas.microsoft.com/office/drawing/2014/main" id="{1A5E1E36-1930-4535-9535-94B9AB6B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91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示意價格 ≈378.269 &lt; 履約價 400；call 價外，關單與領權利金分開執行</a:t>
            </a:r>
          </a:p>
        </p:txBody>
      </p:sp>
    </p:spTree>
    <p:extLst>
      <p:ext uri="{BB962C8B-B14F-4D97-AF65-F5344CB8AC3E}">
        <p14:creationId xmlns:p14="http://schemas.microsoft.com/office/powerpoint/2010/main" val="1523028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合約回放的四個檢查點">
            <a:extLst xmlns:a="http://schemas.openxmlformats.org/drawingml/2006/main">
              <a:ext uri="{FF2B5EF4-FFF2-40B4-BE49-F238E27FC236}">
                <a16:creationId xmlns:a16="http://schemas.microsoft.com/office/drawing/2014/main" id="{ED8EB710-0A02-498D-A3A8-DAC6000A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合約回放的四個檢查點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74e62bbcb407b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4F72C8F4-1CC7-4412-8B38-3FBA68B1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APL 範例／示意數值">
            <a:extLst xmlns:a="http://schemas.openxmlformats.org/drawingml/2006/main">
              <a:ext uri="{FF2B5EF4-FFF2-40B4-BE49-F238E27FC236}">
                <a16:creationId xmlns:a16="http://schemas.microsoft.com/office/drawing/2014/main" id="{96493C59-B651-4538-8270-8FF3BE0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AAPL 範例／示意數值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EADE7BAB-19EF-4A3D-89C7-DA4B531A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D6DB4BBD-2F71-4BA3-9AB2-637CB8B5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33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2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抵押品進入">
            <a:extLst xmlns:a="http://schemas.openxmlformats.org/drawingml/2006/main">
              <a:ext uri="{FF2B5EF4-FFF2-40B4-BE49-F238E27FC236}">
                <a16:creationId xmlns:a16="http://schemas.microsoft.com/office/drawing/2014/main" id="{DBC6163F-0820-408D-A7E2-24E7628D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抵押品進入</a:t>
            </a:r>
          </a:p>
        </p:txBody>
      </p:sp>
      <p:sp>
        <p:nvSpPr>
          <p:cNvPr id="8" name="5 AAPL">
            <a:extLst xmlns:a="http://schemas.openxmlformats.org/drawingml/2006/main">
              <a:ext uri="{FF2B5EF4-FFF2-40B4-BE49-F238E27FC236}">
                <a16:creationId xmlns:a16="http://schemas.microsoft.com/office/drawing/2014/main" id="{543E32AB-D625-45EA-A816-A6CB4F4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5 AAPL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3FD6A777-D0DC-4807-A918-0BB730A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62150"/>
            <a:ext cx="2333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2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10" name="越界拒單">
            <a:extLst xmlns:a="http://schemas.openxmlformats.org/drawingml/2006/main">
              <a:ext uri="{FF2B5EF4-FFF2-40B4-BE49-F238E27FC236}">
                <a16:creationId xmlns:a16="http://schemas.microsoft.com/office/drawing/2014/main" id="{5D1CEFE8-0CC3-4CF9-B83F-2FAD50B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8615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越界拒單</a:t>
            </a:r>
          </a:p>
        </p:txBody>
      </p:sp>
      <p:sp>
        <p:nvSpPr>
          <p:cNvPr id="11" name="資金不變">
            <a:extLst xmlns:a="http://schemas.openxmlformats.org/drawingml/2006/main">
              <a:ext uri="{FF2B5EF4-FFF2-40B4-BE49-F238E27FC236}">
                <a16:creationId xmlns:a16="http://schemas.microsoft.com/office/drawing/2014/main" id="{C09AF457-76AD-404F-9AEE-B5C9FCEE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862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資金不變</a:t>
            </a:r>
          </a:p>
        </p:txBody>
      </p:sp>
      <p:sp>
        <p:nvSpPr>
          <p:cNvPr id="12" name="09">
            <a:extLst xmlns:a="http://schemas.openxmlformats.org/drawingml/2006/main">
              <a:ext uri="{FF2B5EF4-FFF2-40B4-BE49-F238E27FC236}">
                <a16:creationId xmlns:a16="http://schemas.microsoft.com/office/drawing/2014/main" id="{AFDAB209-2E49-4F9A-999D-B5D515E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333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2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13" name="到期拒單">
            <a:extLst xmlns:a="http://schemas.openxmlformats.org/drawingml/2006/main">
              <a:ext uri="{FF2B5EF4-FFF2-40B4-BE49-F238E27FC236}">
                <a16:creationId xmlns:a16="http://schemas.microsoft.com/office/drawing/2014/main" id="{7D0F81D7-227B-4E18-9687-591B562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到期拒單</a:t>
            </a:r>
          </a:p>
        </p:txBody>
      </p:sp>
      <p:sp>
        <p:nvSpPr>
          <p:cNvPr id="14" name="造市者更新">
            <a:extLst xmlns:a="http://schemas.openxmlformats.org/drawingml/2006/main">
              <a:ext uri="{FF2B5EF4-FFF2-40B4-BE49-F238E27FC236}">
                <a16:creationId xmlns:a16="http://schemas.microsoft.com/office/drawing/2014/main" id="{13FA3E9F-9D6D-48AA-980D-EE4E807A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862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造市者更新</a:t>
            </a:r>
          </a:p>
        </p:txBody>
      </p:sp>
      <p:sp>
        <p:nvSpPr>
          <p:cNvPr id="15" name="14">
            <a:extLst xmlns:a="http://schemas.openxmlformats.org/drawingml/2006/main">
              <a:ext uri="{FF2B5EF4-FFF2-40B4-BE49-F238E27FC236}">
                <a16:creationId xmlns:a16="http://schemas.microsoft.com/office/drawing/2014/main" id="{B111A647-77DE-49B1-888B-0C05012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62150"/>
            <a:ext cx="2333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2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16" name="權利金回流">
            <a:extLst xmlns:a="http://schemas.openxmlformats.org/drawingml/2006/main">
              <a:ext uri="{FF2B5EF4-FFF2-40B4-BE49-F238E27FC236}">
                <a16:creationId xmlns:a16="http://schemas.microsoft.com/office/drawing/2014/main" id="{58D3CEA2-C7C0-4017-9727-C4DA528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8615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權利金回流</a:t>
            </a:r>
          </a:p>
        </p:txBody>
      </p:sp>
      <p:sp>
        <p:nvSpPr>
          <p:cNvPr id="17" name="Book = 0">
            <a:extLst xmlns:a="http://schemas.openxmlformats.org/drawingml/2006/main">
              <a:ext uri="{FF2B5EF4-FFF2-40B4-BE49-F238E27FC236}">
                <a16:creationId xmlns:a16="http://schemas.microsoft.com/office/drawing/2014/main" id="{B03B6AF0-2F1A-45C2-886E-1269F3BE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86225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Book = 0</a:t>
            </a:r>
          </a:p>
        </p:txBody>
      </p:sp>
      <p:sp>
        <p:nvSpPr>
          <p:cNvPr id="18" name="開啟合約流程回放">
            <a:extLst xmlns:a="http://schemas.openxmlformats.org/drawingml/2006/main">
              <a:ext uri="{FF2B5EF4-FFF2-40B4-BE49-F238E27FC236}">
                <a16:creationId xmlns:a16="http://schemas.microsoft.com/office/drawing/2014/main" id="{498B6050-2447-4697-94B6-2C4461A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 u="sng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ab278b22f5c46f5"/>
              </a:rPr>
              <a:t>開啟合約流程回放</a:t>
            </a:r>
          </a:p>
        </p:txBody>
      </p:sp>
      <p:sp>
        <p:nvSpPr>
          <p:cNvPr id="19" name="原始回放使用 TSLA/USDG；簡報以 AAPL 示意">
            <a:extLst xmlns:a="http://schemas.openxmlformats.org/drawingml/2006/main">
              <a:ext uri="{FF2B5EF4-FFF2-40B4-BE49-F238E27FC236}">
                <a16:creationId xmlns:a16="http://schemas.microsoft.com/office/drawing/2014/main" id="{0F2CA603-A4CA-42AA-A49D-C9B78711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原始回放使用 TSLA/USDG；簡報以 AAPL 示意</a:t>
            </a:r>
          </a:p>
        </p:txBody>
      </p:sp>
    </p:spTree>
    <p:extLst>
      <p:ext uri="{BB962C8B-B14F-4D97-AF65-F5344CB8AC3E}">
        <p14:creationId xmlns:p14="http://schemas.microsoft.com/office/powerpoint/2010/main" val="640102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exi Hakari 的公開貢獻">
            <a:extLst xmlns:a="http://schemas.openxmlformats.org/drawingml/2006/main">
              <a:ext uri="{FF2B5EF4-FFF2-40B4-BE49-F238E27FC236}">
                <a16:creationId xmlns:a16="http://schemas.microsoft.com/office/drawing/2014/main" id="{014F0A10-0DF5-474E-9A3A-31A47F93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Vexi Hakari 的公開貢獻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8321d4e574d5d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2297F865-CB1E-446E-B439-8A0CF487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60B45632-AC3B-4380-9E7B-BB4120E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5" name="1inch Aqua + SwapVM">
            <a:extLst xmlns:a="http://schemas.openxmlformats.org/drawingml/2006/main">
              <a:ext uri="{FF2B5EF4-FFF2-40B4-BE49-F238E27FC236}">
                <a16:creationId xmlns:a16="http://schemas.microsoft.com/office/drawing/2014/main" id="{36421623-AB4E-4253-8042-630CE9B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859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1inch Aqua + SwapVM</a:t>
            </a:r>
          </a:p>
        </p:txBody>
      </p:sp>
      <p:sp>
        <p:nvSpPr>
          <p:cNvPr id="6" name="成交才拉抵押品，共用庫存有 guard">
            <a:extLst xmlns:a="http://schemas.openxmlformats.org/drawingml/2006/main">
              <a:ext uri="{FF2B5EF4-FFF2-40B4-BE49-F238E27FC236}">
                <a16:creationId xmlns:a16="http://schemas.microsoft.com/office/drawing/2014/main" id="{FAF9AB03-0F17-4F0B-AF7F-25927075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成交才拉抵押品，共用庫存有 guard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03ADD-05F7-4DB5-9CB1-D5BDA86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8" name="Uniswap v4">
            <a:extLst xmlns:a="http://schemas.openxmlformats.org/drawingml/2006/main">
              <a:ext uri="{FF2B5EF4-FFF2-40B4-BE49-F238E27FC236}">
                <a16:creationId xmlns:a16="http://schemas.microsoft.com/office/drawing/2014/main" id="{E63B9D78-C890-4706-9C6E-3667ADA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29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Uniswap v4</a:t>
            </a:r>
          </a:p>
        </p:txBody>
      </p:sp>
      <p:sp>
        <p:nvSpPr>
          <p:cNvPr id="9" name="Hook 觀測會改變實際選擇權成交">
            <a:extLst xmlns:a="http://schemas.openxmlformats.org/drawingml/2006/main">
              <a:ext uri="{FF2B5EF4-FFF2-40B4-BE49-F238E27FC236}">
                <a16:creationId xmlns:a16="http://schemas.microsoft.com/office/drawing/2014/main" id="{D1F47D05-4A94-47D0-A764-A7A91E1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Hook 觀測會改變實際選擇權成交</a:t>
            </a:r>
          </a:p>
        </p:txBody>
      </p:sp>
      <p:sp>
        <p:nvSpPr>
          <p:cNvPr id="10" name="github.com/vexi-v1/vexi-hakari">
            <a:extLst xmlns:a="http://schemas.openxmlformats.org/drawingml/2006/main">
              <a:ext uri="{FF2B5EF4-FFF2-40B4-BE49-F238E27FC236}">
                <a16:creationId xmlns:a16="http://schemas.microsoft.com/office/drawing/2014/main" id="{44107036-FDA7-4DEB-89B3-FAA1DAA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u="sng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94b01ae9b304287"/>
              </a:rPr>
              <a:t>github.com/vexi-v1/vexi-hakari</a:t>
            </a:r>
          </a:p>
        </p:txBody>
      </p:sp>
      <p:sp>
        <p:nvSpPr>
          <p:cNvPr id="11" name="公開分叉證據；hook 與 pool 有測試網紀錄">
            <a:extLst xmlns:a="http://schemas.openxmlformats.org/drawingml/2006/main">
              <a:ext uri="{FF2B5EF4-FFF2-40B4-BE49-F238E27FC236}">
                <a16:creationId xmlns:a16="http://schemas.microsoft.com/office/drawing/2014/main" id="{C6C9D189-F571-4306-99EE-929262D3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53125"/>
            <a:ext cx="1082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公開分叉證據；hook 與 pool 有測試網紀錄</a:t>
            </a:r>
          </a:p>
        </p:txBody>
      </p:sp>
    </p:spTree>
    <p:extLst>
      <p:ext uri="{BB962C8B-B14F-4D97-AF65-F5344CB8AC3E}">
        <p14:creationId xmlns:p14="http://schemas.microsoft.com/office/powerpoint/2010/main" val="1294436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兩條實驗性的結算分支">
            <a:extLst xmlns:a="http://schemas.openxmlformats.org/drawingml/2006/main">
              <a:ext uri="{FF2B5EF4-FFF2-40B4-BE49-F238E27FC236}">
                <a16:creationId xmlns:a16="http://schemas.microsoft.com/office/drawing/2014/main" id="{9C389655-9F11-42A4-A01E-F8878E48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兩條實驗性的結算分支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9c0641b2449ec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D1999427-9F50-40D7-94CE-AE86EFF5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1">
            <a:extLst xmlns:a="http://schemas.openxmlformats.org/drawingml/2006/main">
              <a:ext uri="{FF2B5EF4-FFF2-40B4-BE49-F238E27FC236}">
                <a16:creationId xmlns:a16="http://schemas.microsoft.com/office/drawing/2014/main" id="{6E985349-D796-45AC-B284-FB8F47A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A1</a:t>
            </a:r>
          </a:p>
        </p:txBody>
      </p:sp>
      <p:sp>
        <p:nvSpPr>
          <p:cNvPr id="5" name="延後接受">
            <a:extLst xmlns:a="http://schemas.openxmlformats.org/drawingml/2006/main">
              <a:ext uri="{FF2B5EF4-FFF2-40B4-BE49-F238E27FC236}">
                <a16:creationId xmlns:a16="http://schemas.microsoft.com/office/drawing/2014/main" id="{102981AD-C679-4B6E-8334-13D6DC3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04975"/>
            <a:ext cx="2714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延後接受</a:t>
            </a:r>
          </a:p>
        </p:txBody>
      </p:sp>
      <p:sp>
        <p:nvSpPr>
          <p:cNvPr id="6" name="窗口 0&#10;拒絕">
            <a:extLst xmlns:a="http://schemas.openxmlformats.org/drawingml/2006/main">
              <a:ext uri="{FF2B5EF4-FFF2-40B4-BE49-F238E27FC236}">
                <a16:creationId xmlns:a16="http://schemas.microsoft.com/office/drawing/2014/main" id="{EED09B08-F47B-4501-8363-49BAF141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0020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窗口 0</a:t>
            </a:r>
          </a:p>
          <a:p xmlns:a="http://schemas.openxmlformats.org/drawingml/2006/main">
            <a:pPr algn="ctr">
              <a:defRPr sz="21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拒絕</a:t>
            </a:r>
          </a:p>
        </p:txBody>
      </p:sp>
      <p:sp>
        <p:nvSpPr>
          <p:cNvPr id="7" name="窗口 1&#10;接受">
            <a:extLst xmlns:a="http://schemas.openxmlformats.org/drawingml/2006/main">
              <a:ext uri="{FF2B5EF4-FFF2-40B4-BE49-F238E27FC236}">
                <a16:creationId xmlns:a16="http://schemas.microsoft.com/office/drawing/2014/main" id="{619732CF-7A91-431D-9D5B-50077453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窗口 1</a:t>
            </a:r>
          </a:p>
          <a:p xmlns:a="http://schemas.openxmlformats.org/drawingml/2006/main">
            <a:pPr algn="ctr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接受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9775" y="212407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sp>
        <p:nvSpPr>
          <p:cNvPr id="9" name="呼叫者於 5 分鐘後重試">
            <a:extLst xmlns:a="http://schemas.openxmlformats.org/drawingml/2006/main">
              <a:ext uri="{FF2B5EF4-FFF2-40B4-BE49-F238E27FC236}">
                <a16:creationId xmlns:a16="http://schemas.microsoft.com/office/drawing/2014/main" id="{38518217-C6E6-4698-9F82-F70DD890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呼叫者於 5 分鐘後重試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EC000-20BA-4D1D-9CB3-A2D6E1B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11" name="持續跳空">
            <a:extLst xmlns:a="http://schemas.openxmlformats.org/drawingml/2006/main">
              <a:ext uri="{FF2B5EF4-FFF2-40B4-BE49-F238E27FC236}">
                <a16:creationId xmlns:a16="http://schemas.microsoft.com/office/drawing/2014/main" id="{48021CA3-59E2-4BED-AFAA-CF5916DA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持續跳空</a:t>
            </a:r>
          </a:p>
        </p:txBody>
      </p:sp>
      <p:sp>
        <p:nvSpPr>
          <p:cNvPr id="12" name="0">
            <a:extLst xmlns:a="http://schemas.openxmlformats.org/drawingml/2006/main">
              <a:ext uri="{FF2B5EF4-FFF2-40B4-BE49-F238E27FC236}">
                <a16:creationId xmlns:a16="http://schemas.microsoft.com/office/drawing/2014/main" id="{8FC1F94D-3E0C-4804-B93A-11441E7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3" name="1">
            <a:extLst xmlns:a="http://schemas.openxmlformats.org/drawingml/2006/main">
              <a:ext uri="{FF2B5EF4-FFF2-40B4-BE49-F238E27FC236}">
                <a16:creationId xmlns:a16="http://schemas.microsoft.com/office/drawing/2014/main" id="{377E8C20-E8AC-4DE6-8340-8D76E5C1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4" name="2">
            <a:extLst xmlns:a="http://schemas.openxmlformats.org/drawingml/2006/main">
              <a:ext uri="{FF2B5EF4-FFF2-40B4-BE49-F238E27FC236}">
                <a16:creationId xmlns:a16="http://schemas.microsoft.com/office/drawing/2014/main" id="{4A7CEF2E-8815-4027-B8CD-9EE1F1D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3">
            <a:extLst xmlns:a="http://schemas.openxmlformats.org/drawingml/2006/main">
              <a:ext uri="{FF2B5EF4-FFF2-40B4-BE49-F238E27FC236}">
                <a16:creationId xmlns:a16="http://schemas.microsoft.com/office/drawing/2014/main" id="{E14C5198-D0D7-4ABD-9837-1DF640F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4">
            <a:extLst xmlns:a="http://schemas.openxmlformats.org/drawingml/2006/main">
              <a:ext uri="{FF2B5EF4-FFF2-40B4-BE49-F238E27FC236}">
                <a16:creationId xmlns:a16="http://schemas.microsoft.com/office/drawing/2014/main" id="{76781AA5-7004-4964-B61F-028409B3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7" name="5">
            <a:extLst xmlns:a="http://schemas.openxmlformats.org/drawingml/2006/main">
              <a:ext uri="{FF2B5EF4-FFF2-40B4-BE49-F238E27FC236}">
                <a16:creationId xmlns:a16="http://schemas.microsoft.com/office/drawing/2014/main" id="{4A1B4F3A-F024-412B-89A2-221C6EAD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43325"/>
            <a:ext cx="100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F5470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52950" y="4057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5470"/>
            </a:solidFill>
            <a:prstDash val="soli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05500" y="4057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5470"/>
            </a:solidFill>
            <a:prstDash val="soli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258050" y="4057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5470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610600" y="4057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5470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63150" y="4057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5470"/>
            </a:solidFill>
            <a:prstDash val="solid"/>
            <a:tailEnd type="triangle" w="med" len="med"/>
          </a:ln>
        </p:spPr>
      </p:cxnSp>
      <p:sp>
        <p:nvSpPr>
          <p:cNvPr id="23" name="6 個候選窗口全部拒絕">
            <a:extLst xmlns:a="http://schemas.openxmlformats.org/drawingml/2006/main">
              <a:ext uri="{FF2B5EF4-FFF2-40B4-BE49-F238E27FC236}">
                <a16:creationId xmlns:a16="http://schemas.microsoft.com/office/drawing/2014/main" id="{B03E071D-9D6C-4177-B3D1-4165EF36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434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6 個候選窗口全部拒絕</a:t>
            </a:r>
          </a:p>
        </p:txBody>
      </p:sp>
      <p:sp>
        <p:nvSpPr>
          <p:cNvPr id="24" name="1 小時寬限後：退回抵押品 + 權利金池退款">
            <a:extLst xmlns:a="http://schemas.openxmlformats.org/drawingml/2006/main">
              <a:ext uri="{FF2B5EF4-FFF2-40B4-BE49-F238E27FC236}">
                <a16:creationId xmlns:a16="http://schemas.microsoft.com/office/drawing/2014/main" id="{C98D4050-3A50-4F48-A8ED-CFE9CF47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959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 小時寬限後：退回抵押品 + 權利金池退款</a:t>
            </a:r>
          </a:p>
        </p:txBody>
      </p:sp>
      <p:sp>
        <p:nvSpPr>
          <p:cNvPr id="25" name="較晚價格或退款會改變經濟結果，均不代表公平到期價">
            <a:extLst xmlns:a="http://schemas.openxmlformats.org/drawingml/2006/main">
              <a:ext uri="{FF2B5EF4-FFF2-40B4-BE49-F238E27FC236}">
                <a16:creationId xmlns:a16="http://schemas.microsoft.com/office/drawing/2014/main" id="{5AFDF837-E54B-44D1-BD4E-A23E5019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較晚價格或退款會改變經濟結果，均不代表公平到期價</a:t>
            </a:r>
          </a:p>
        </p:txBody>
      </p:sp>
    </p:spTree>
    <p:extLst>
      <p:ext uri="{BB962C8B-B14F-4D97-AF65-F5344CB8AC3E}">
        <p14:creationId xmlns:p14="http://schemas.microsoft.com/office/powerpoint/2010/main" val="5172536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4 整合的具體做法">
            <a:extLst xmlns:a="http://schemas.openxmlformats.org/drawingml/2006/main">
              <a:ext uri="{FF2B5EF4-FFF2-40B4-BE49-F238E27FC236}">
                <a16:creationId xmlns:a16="http://schemas.microsoft.com/office/drawing/2014/main" id="{DFC10483-EF62-409E-B78D-04D224F8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v4 整合的具體做法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5ab46b1d4543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7D587BE7-6770-47CE-9F8F-5C1A0A5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2">
            <a:extLst xmlns:a="http://schemas.openxmlformats.org/drawingml/2006/main">
              <a:ext uri="{FF2B5EF4-FFF2-40B4-BE49-F238E27FC236}">
                <a16:creationId xmlns:a16="http://schemas.microsoft.com/office/drawing/2014/main" id="{04F4E337-F4C1-4AE6-B521-1D53F2FA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A2</a:t>
            </a:r>
          </a:p>
        </p:txBody>
      </p:sp>
      <p:sp>
        <p:nvSpPr>
          <p:cNvPr id="5" name="Pool key">
            <a:extLst xmlns:a="http://schemas.openxmlformats.org/drawingml/2006/main">
              <a:ext uri="{FF2B5EF4-FFF2-40B4-BE49-F238E27FC236}">
                <a16:creationId xmlns:a16="http://schemas.microsoft.com/office/drawing/2014/main" id="{6A2DA664-C5D6-49C2-A2CA-1F54EE7C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71625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Pool key</a:t>
            </a:r>
          </a:p>
        </p:txBody>
      </p:sp>
      <p:sp>
        <p:nvSpPr>
          <p:cNvPr id="6" name="Hook 是池的身分">
            <a:extLst xmlns:a="http://schemas.openxmlformats.org/drawingml/2006/main">
              <a:ext uri="{FF2B5EF4-FFF2-40B4-BE49-F238E27FC236}">
                <a16:creationId xmlns:a16="http://schemas.microsoft.com/office/drawing/2014/main" id="{1FC7136A-0429-48EE-A37A-CCB4823E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747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Hook 是池的身分</a:t>
            </a:r>
          </a:p>
        </p:txBody>
      </p:sp>
      <p:sp>
        <p:nvSpPr>
          <p:cNvPr id="7" name="需要自己的 hooked pool 與流動性">
            <a:extLst xmlns:a="http://schemas.openxmlformats.org/drawingml/2006/main">
              <a:ext uri="{FF2B5EF4-FFF2-40B4-BE49-F238E27FC236}">
                <a16:creationId xmlns:a16="http://schemas.microsoft.com/office/drawing/2014/main" id="{DA5FA2EA-F9D2-4198-A976-75C46AE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747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需要自己的 hooked pool 與流動性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B3747-4085-4408-8A98-FC5ED55D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9" name="Address bits">
            <a:extLst xmlns:a="http://schemas.openxmlformats.org/drawingml/2006/main">
              <a:ext uri="{FF2B5EF4-FFF2-40B4-BE49-F238E27FC236}">
                <a16:creationId xmlns:a16="http://schemas.microsoft.com/office/drawing/2014/main" id="{D318B5BF-883B-4F84-BFF6-A199F7C4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52750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Address bits</a:t>
            </a:r>
          </a:p>
        </p:txBody>
      </p:sp>
      <p:sp>
        <p:nvSpPr>
          <p:cNvPr id="10" name="CREATE2 salt 搜尋">
            <a:extLst xmlns:a="http://schemas.openxmlformats.org/drawingml/2006/main">
              <a:ext uri="{FF2B5EF4-FFF2-40B4-BE49-F238E27FC236}">
                <a16:creationId xmlns:a16="http://schemas.microsoft.com/office/drawing/2014/main" id="{A17B924B-CBA6-4667-A3CE-084129C0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52750"/>
            <a:ext cx="747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CREATE2 salt 搜尋</a:t>
            </a:r>
          </a:p>
        </p:txBody>
      </p:sp>
      <p:sp>
        <p:nvSpPr>
          <p:cNvPr id="11" name="地址位元對應 hook 權限">
            <a:extLst xmlns:a="http://schemas.openxmlformats.org/drawingml/2006/main">
              <a:ext uri="{FF2B5EF4-FFF2-40B4-BE49-F238E27FC236}">
                <a16:creationId xmlns:a16="http://schemas.microsoft.com/office/drawing/2014/main" id="{4948E130-6E35-42AF-952E-B50978FE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76625"/>
            <a:ext cx="747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地址位元對應 hook 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4A1D4-8709-4CD8-98B6-D5C9EFC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13" name="State + observe">
            <a:extLst xmlns:a="http://schemas.openxmlformats.org/drawingml/2006/main">
              <a:ext uri="{FF2B5EF4-FFF2-40B4-BE49-F238E27FC236}">
                <a16:creationId xmlns:a16="http://schemas.microsoft.com/office/drawing/2014/main" id="{24D6A8BB-F097-4865-A8F6-6F3D741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33875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State + observe</a:t>
            </a:r>
          </a:p>
        </p:txBody>
      </p:sp>
      <p:sp>
        <p:nvSpPr>
          <p:cNvPr id="14" name="即時價與雙 TWAP">
            <a:extLst xmlns:a="http://schemas.openxmlformats.org/drawingml/2006/main">
              <a:ext uri="{FF2B5EF4-FFF2-40B4-BE49-F238E27FC236}">
                <a16:creationId xmlns:a16="http://schemas.microsoft.com/office/drawing/2014/main" id="{B171D97E-9E24-4F49-A750-30A92A7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33875"/>
            <a:ext cx="747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即時價與雙 TWAP</a:t>
            </a:r>
          </a:p>
        </p:txBody>
      </p:sp>
      <p:sp>
        <p:nvSpPr>
          <p:cNvPr id="15" name="StateLibrary 讀取 PoolManager 狀態">
            <a:extLst xmlns:a="http://schemas.openxmlformats.org/drawingml/2006/main">
              <a:ext uri="{FF2B5EF4-FFF2-40B4-BE49-F238E27FC236}">
                <a16:creationId xmlns:a16="http://schemas.microsoft.com/office/drawing/2014/main" id="{74C07A52-78DA-4620-B47A-0CDB8BC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57750"/>
            <a:ext cx="747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StateLibrary 讀取 PoolManager 狀態</a:t>
            </a:r>
          </a:p>
        </p:txBody>
      </p:sp>
      <p:sp>
        <p:nvSpPr>
          <p:cNvPr id="16" name="真實 PoolManager 上的新池；canonical Aqua 與 SwapVM 均未修改">
            <a:extLst xmlns:a="http://schemas.openxmlformats.org/drawingml/2006/main">
              <a:ext uri="{FF2B5EF4-FFF2-40B4-BE49-F238E27FC236}">
                <a16:creationId xmlns:a16="http://schemas.microsoft.com/office/drawing/2014/main" id="{F4B0C2CF-5882-4BED-B9A9-599B4E6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00725"/>
            <a:ext cx="10868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真實 PoolManager 上的新池；canonical Aqua 與 SwapVM 均未修改</a:t>
            </a:r>
          </a:p>
        </p:txBody>
      </p:sp>
    </p:spTree>
    <p:extLst>
      <p:ext uri="{BB962C8B-B14F-4D97-AF65-F5344CB8AC3E}">
        <p14:creationId xmlns:p14="http://schemas.microsoft.com/office/powerpoint/2010/main" val="1897642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問題與適用限制">
            <a:extLst xmlns:a="http://schemas.openxmlformats.org/drawingml/2006/main">
              <a:ext uri="{FF2B5EF4-FFF2-40B4-BE49-F238E27FC236}">
                <a16:creationId xmlns:a16="http://schemas.microsoft.com/office/drawing/2014/main" id="{3E1E2944-202D-431E-9D05-0318D48E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常見問題與適用限制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e317993d2488d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26C1DA25-88F3-440F-9E0A-3325326C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3">
            <a:extLst xmlns:a="http://schemas.openxmlformats.org/drawingml/2006/main">
              <a:ext uri="{FF2B5EF4-FFF2-40B4-BE49-F238E27FC236}">
                <a16:creationId xmlns:a16="http://schemas.microsoft.com/office/drawing/2014/main" id="{EC29E782-656C-4BFC-956E-D03F621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57225" y="1552575"/>
          <a:ext xmlns:a="http://schemas.openxmlformats.org/drawingml/2006/main" cx="1088707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43300"/>
                <a:gridCol w="7343775"/>
              </a:tblGrid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A8A8B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公開版的行為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提款或撤銷授權？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成交時檢查可用量，可能拒絕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持續推價？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滾動中心會跟隨；另查期限與錨點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分次買入？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口數上限是每次呼叫，沒有累積額度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觀測環容量不足？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缺少歷史就停止報價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  <a:tr h="6985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保證股票公平價？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7D67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沒有；固定 5% 是可配置政策</a:t>
                      </a:r>
                    </a:p>
                  </a:txBody>
                  <a:tcPr marL="91440" marR="91440" marT="45720" marB="45720" anchor="ctr"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423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exi 與本次 hackathon 的範圍">
            <a:extLst xmlns:a="http://schemas.openxmlformats.org/drawingml/2006/main">
              <a:ext uri="{FF2B5EF4-FFF2-40B4-BE49-F238E27FC236}">
                <a16:creationId xmlns:a16="http://schemas.microsoft.com/office/drawing/2014/main" id="{0E842974-05FC-4EF3-9E78-8AF499A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Vexi 與本次 hackathon 的範圍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115b71b0842a6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902F82E7-4E65-446B-BE61-5AA901F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4">
            <a:extLst xmlns:a="http://schemas.openxmlformats.org/drawingml/2006/main">
              <a:ext uri="{FF2B5EF4-FFF2-40B4-BE49-F238E27FC236}">
                <a16:creationId xmlns:a16="http://schemas.microsoft.com/office/drawing/2014/main" id="{650E3DA0-C5D3-4CAF-A2F4-D35A368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A4</a:t>
            </a:r>
          </a:p>
        </p:txBody>
      </p:sp>
      <p:sp>
        <p:nvSpPr>
          <p:cNvPr id="5" name="活動前">
            <a:extLst xmlns:a="http://schemas.openxmlformats.org/drawingml/2006/main">
              <a:ext uri="{FF2B5EF4-FFF2-40B4-BE49-F238E27FC236}">
                <a16:creationId xmlns:a16="http://schemas.microsoft.com/office/drawing/2014/main" id="{E4DD756C-93B8-4F24-B1CC-EFB07F7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活動前</a:t>
            </a:r>
          </a:p>
        </p:txBody>
      </p:sp>
      <p:sp>
        <p:nvSpPr>
          <p:cNvPr id="6" name="Vexi 選擇權平台／私有產品程式">
            <a:extLst xmlns:a="http://schemas.openxmlformats.org/drawingml/2006/main">
              <a:ext uri="{FF2B5EF4-FFF2-40B4-BE49-F238E27FC236}">
                <a16:creationId xmlns:a16="http://schemas.microsoft.com/office/drawing/2014/main" id="{4AF6DBA6-AA67-4CDD-BD13-94D6A49E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33525"/>
            <a:ext cx="752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Vexi 選擇權平台／私有產品程式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4CCCE-21E7-4068-A01F-9EFFAA1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D"/>
            </a:solidFill>
          </a:ln>
        </p:spPr>
      </p:sp>
      <p:sp>
        <p:nvSpPr>
          <p:cNvPr id="8" name="09/25 22:26">
            <a:extLst xmlns:a="http://schemas.openxmlformats.org/drawingml/2006/main">
              <a:ext uri="{FF2B5EF4-FFF2-40B4-BE49-F238E27FC236}">
                <a16:creationId xmlns:a16="http://schemas.microsoft.com/office/drawing/2014/main" id="{B3225E3A-806E-443B-A8AB-2E83E96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09/25 22:26</a:t>
            </a:r>
          </a:p>
        </p:txBody>
      </p:sp>
      <p:sp>
        <p:nvSpPr>
          <p:cNvPr id="9" name="AquaWriter + book">
            <a:extLst xmlns:a="http://schemas.openxmlformats.org/drawingml/2006/main">
              <a:ext uri="{FF2B5EF4-FFF2-40B4-BE49-F238E27FC236}">
                <a16:creationId xmlns:a16="http://schemas.microsoft.com/office/drawing/2014/main" id="{3867CEB4-D3B9-4BDE-B43E-72F51B4A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2676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AquaWriter + book</a:t>
            </a:r>
          </a:p>
        </p:txBody>
      </p:sp>
      <p:sp>
        <p:nvSpPr>
          <p:cNvPr id="10" name="09/25 23:39">
            <a:extLst xmlns:a="http://schemas.openxmlformats.org/drawingml/2006/main">
              <a:ext uri="{FF2B5EF4-FFF2-40B4-BE49-F238E27FC236}">
                <a16:creationId xmlns:a16="http://schemas.microsoft.com/office/drawing/2014/main" id="{5A05E419-2FC9-4B2E-A19F-922C442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337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09/25 23:39</a:t>
            </a:r>
          </a:p>
        </p:txBody>
      </p:sp>
      <p:sp>
        <p:nvSpPr>
          <p:cNvPr id="11" name="Hook 部署">
            <a:extLst xmlns:a="http://schemas.openxmlformats.org/drawingml/2006/main">
              <a:ext uri="{FF2B5EF4-FFF2-40B4-BE49-F238E27FC236}">
                <a16:creationId xmlns:a16="http://schemas.microsoft.com/office/drawing/2014/main" id="{942D2781-177E-4002-AF30-7E4A2BC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48075"/>
            <a:ext cx="2676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Hook 部署</a:t>
            </a:r>
          </a:p>
        </p:txBody>
      </p:sp>
      <p:sp>
        <p:nvSpPr>
          <p:cNvPr id="12" name="09/27 01:53">
            <a:extLst xmlns:a="http://schemas.openxmlformats.org/drawingml/2006/main">
              <a:ext uri="{FF2B5EF4-FFF2-40B4-BE49-F238E27FC236}">
                <a16:creationId xmlns:a16="http://schemas.microsoft.com/office/drawing/2014/main" id="{F8E7176E-47E0-4A7B-B96B-BB01C0B8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09/27 01:53</a:t>
            </a:r>
          </a:p>
        </p:txBody>
      </p:sp>
      <p:sp>
        <p:nvSpPr>
          <p:cNvPr id="13" name="Hooked pool">
            <a:extLst xmlns:a="http://schemas.openxmlformats.org/drawingml/2006/main">
              <a:ext uri="{FF2B5EF4-FFF2-40B4-BE49-F238E27FC236}">
                <a16:creationId xmlns:a16="http://schemas.microsoft.com/office/drawing/2014/main" id="{D3036375-8EC4-4449-8FDD-0077434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2676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Hooked pool</a:t>
            </a:r>
          </a:p>
        </p:txBody>
      </p:sp>
      <p:sp>
        <p:nvSpPr>
          <p:cNvPr id="14" name="09/27 02:32">
            <a:extLst xmlns:a="http://schemas.openxmlformats.org/drawingml/2006/main">
              <a:ext uri="{FF2B5EF4-FFF2-40B4-BE49-F238E27FC236}">
                <a16:creationId xmlns:a16="http://schemas.microsoft.com/office/drawing/2014/main" id="{99414B67-3414-4D3B-83FA-CEBF915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337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09/27 02:32</a:t>
            </a:r>
          </a:p>
        </p:txBody>
      </p:sp>
      <p:sp>
        <p:nvSpPr>
          <p:cNvPr id="15" name="Band + 結算">
            <a:extLst xmlns:a="http://schemas.openxmlformats.org/drawingml/2006/main">
              <a:ext uri="{FF2B5EF4-FFF2-40B4-BE49-F238E27FC236}">
                <a16:creationId xmlns:a16="http://schemas.microsoft.com/office/drawing/2014/main" id="{A26455B3-DAC6-4156-B297-6C0047A5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48075"/>
            <a:ext cx="2676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Band + 結算</a:t>
            </a:r>
          </a:p>
        </p:txBody>
      </p:sp>
      <p:sp>
        <p:nvSpPr>
          <p:cNvPr id="16" name="公開抽出：小型 book + FixedPremium">
            <a:extLst xmlns:a="http://schemas.openxmlformats.org/drawingml/2006/main">
              <a:ext uri="{FF2B5EF4-FFF2-40B4-BE49-F238E27FC236}">
                <a16:creationId xmlns:a16="http://schemas.microsoft.com/office/drawing/2014/main" id="{7076AD9B-8C6C-4712-8791-FB01EEF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公開抽出：小型 book + FixedPremium</a:t>
            </a:r>
          </a:p>
        </p:txBody>
      </p:sp>
      <p:sp>
        <p:nvSpPr>
          <p:cNvPr id="17" name="活動期間新增，時間為 JST；私有產品定價不在公開範圍">
            <a:extLst xmlns:a="http://schemas.openxmlformats.org/drawingml/2006/main">
              <a:ext uri="{FF2B5EF4-FFF2-40B4-BE49-F238E27FC236}">
                <a16:creationId xmlns:a16="http://schemas.microsoft.com/office/drawing/2014/main" id="{9E279DA2-3B6D-44AC-99FA-C24D818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435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活動期間新增，時間為 JST；私有產品定價不在公開範圍</a:t>
            </a:r>
          </a:p>
        </p:txBody>
      </p:sp>
    </p:spTree>
    <p:extLst>
      <p:ext uri="{BB962C8B-B14F-4D97-AF65-F5344CB8AC3E}">
        <p14:creationId xmlns:p14="http://schemas.microsoft.com/office/powerpoint/2010/main" val="1646315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歷史動機：HIMS 案例">
            <a:extLst xmlns:a="http://schemas.openxmlformats.org/drawingml/2006/main">
              <a:ext uri="{FF2B5EF4-FFF2-40B4-BE49-F238E27FC236}">
                <a16:creationId xmlns:a16="http://schemas.microsoft.com/office/drawing/2014/main" id="{3592FAAE-18D5-4CB4-9AD1-9B40287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歷史動機：HIMS 案例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44e2290924eb3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31F72E15-0978-4946-9623-E274895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5">
            <a:extLst xmlns:a="http://schemas.openxmlformats.org/drawingml/2006/main">
              <a:ext uri="{FF2B5EF4-FFF2-40B4-BE49-F238E27FC236}">
                <a16:creationId xmlns:a16="http://schemas.microsoft.com/office/drawing/2014/main" id="{636CEDB6-7B31-4A2F-BBC1-0697C615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A5</a:t>
            </a:r>
          </a:p>
        </p:txBody>
      </p:sp>
      <p:sp>
        <p:nvSpPr>
          <p:cNvPr id="5" name="2026-08-30 週末研究">
            <a:extLst xmlns:a="http://schemas.openxmlformats.org/drawingml/2006/main">
              <a:ext uri="{FF2B5EF4-FFF2-40B4-BE49-F238E27FC236}">
                <a16:creationId xmlns:a16="http://schemas.microsoft.com/office/drawing/2014/main" id="{70F3F38A-DC44-452C-88DA-DAA9F42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2026-08-30 週末研究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2209800"/>
          <a:ext xmlns:a="http://schemas.openxmlformats.org/drawingml/2006/main" cx="696277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80c07d2c984df2"/>
          </a:graphicData>
        </a:graphic>
      </p:graphicFrame>
      <p:sp>
        <p:nvSpPr>
          <p:cNvPr id="7" name="12 USDG">
            <a:extLst xmlns:a="http://schemas.openxmlformats.org/drawingml/2006/main">
              <a:ext uri="{FF2B5EF4-FFF2-40B4-BE49-F238E27FC236}">
                <a16:creationId xmlns:a16="http://schemas.microsoft.com/office/drawing/2014/main" id="{42EF90D0-3B94-4C59-B40A-17329B94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3257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12 USDG</a:t>
            </a:r>
          </a:p>
        </p:txBody>
      </p:sp>
      <p:sp>
        <p:nvSpPr>
          <p:cNvPr id="8" name="估算來回費用">
            <a:extLst xmlns:a="http://schemas.openxmlformats.org/drawingml/2006/main">
              <a:ext uri="{FF2B5EF4-FFF2-40B4-BE49-F238E27FC236}">
                <a16:creationId xmlns:a16="http://schemas.microsoft.com/office/drawing/2014/main" id="{EBACCD81-153B-4A6B-84A7-503D3D16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估算來回費用</a:t>
            </a:r>
          </a:p>
        </p:txBody>
      </p:sp>
      <p:sp>
        <p:nvSpPr>
          <p:cNvPr id="9" name="推價 10%，另一時點">
            <a:extLst xmlns:a="http://schemas.openxmlformats.org/drawingml/2006/main">
              <a:ext uri="{FF2B5EF4-FFF2-40B4-BE49-F238E27FC236}">
                <a16:creationId xmlns:a16="http://schemas.microsoft.com/office/drawing/2014/main" id="{2E576F0F-F983-4BB2-84F0-1D2BBDA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671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推價 10%，另一時點</a:t>
            </a:r>
          </a:p>
        </p:txBody>
      </p:sp>
      <p:sp>
        <p:nvSpPr>
          <p:cNvPr id="10" name="不同時點；這是歷史動機，並非 band 曾阻止事件的證據">
            <a:extLst xmlns:a="http://schemas.openxmlformats.org/drawingml/2006/main">
              <a:ext uri="{FF2B5EF4-FFF2-40B4-BE49-F238E27FC236}">
                <a16:creationId xmlns:a16="http://schemas.microsoft.com/office/drawing/2014/main" id="{A17A30A1-CAD6-4B51-BF94-F326E53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不同時點；這是歷史動機，並非 band 曾阻止事件的證據</a:t>
            </a:r>
          </a:p>
        </p:txBody>
      </p:sp>
    </p:spTree>
    <p:extLst>
      <p:ext uri="{BB962C8B-B14F-4D97-AF65-F5344CB8AC3E}">
        <p14:creationId xmlns:p14="http://schemas.microsoft.com/office/powerpoint/2010/main" val="3015311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可以重現的合約證據">
            <a:extLst xmlns:a="http://schemas.openxmlformats.org/drawingml/2006/main">
              <a:ext uri="{FF2B5EF4-FFF2-40B4-BE49-F238E27FC236}">
                <a16:creationId xmlns:a16="http://schemas.microsoft.com/office/drawing/2014/main" id="{7025F54A-EFEF-475A-8D4E-3C8AB15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100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可以重現的合約證據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face1725e409e"/>
          <a:stretch xmlns:a="http://schemas.openxmlformats.org/drawingml/2006/main"/>
        </p:blipFill>
        <p:spPr>
          <a:xfrm xmlns:a="http://schemas.openxmlformats.org/drawingml/2006/main">
            <a:off x="609600" y="6238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1CF685C8-2114-4D04-BE12-1581CDF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A6">
            <a:extLst xmlns:a="http://schemas.openxmlformats.org/drawingml/2006/main">
              <a:ext uri="{FF2B5EF4-FFF2-40B4-BE49-F238E27FC236}">
                <a16:creationId xmlns:a16="http://schemas.microsoft.com/office/drawing/2014/main" id="{4CFDA164-64C8-4BCE-9448-7FA5CFD6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531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A6</a:t>
            </a:r>
          </a:p>
        </p:txBody>
      </p:sp>
      <p:sp>
        <p:nvSpPr>
          <p:cNvPr id="5" name="1 + 4 = 5">
            <a:extLst xmlns:a="http://schemas.openxmlformats.org/drawingml/2006/main">
              <a:ext uri="{FF2B5EF4-FFF2-40B4-BE49-F238E27FC236}">
                <a16:creationId xmlns:a16="http://schemas.microsoft.com/office/drawing/2014/main" id="{DB386191-2541-459E-834B-4E5A162A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382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 + 4 = 5</a:t>
            </a:r>
          </a:p>
        </p:txBody>
      </p:sp>
      <p:sp>
        <p:nvSpPr>
          <p:cNvPr id="6" name="1 條 15 步生命週期 + 4 個獨立情境 = 5 個測試">
            <a:extLst xmlns:a="http://schemas.openxmlformats.org/drawingml/2006/main">
              <a:ext uri="{FF2B5EF4-FFF2-40B4-BE49-F238E27FC236}">
                <a16:creationId xmlns:a16="http://schemas.microsoft.com/office/drawing/2014/main" id="{F95E1D11-0F3A-4650-9F4D-DC53A91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8A8B2"/>
                </a:solidFill>
                <a:latin typeface="Arial Unicode MS"/>
                <a:ea typeface="Arial Unicode MS"/>
                <a:cs typeface="Arial Unicode MS"/>
              </a:rPr>
              <a:t>1 條 15 步生命週期 + 4 個獨立情境 = 5 個測試</a:t>
            </a:r>
          </a:p>
        </p:txBody>
      </p:sp>
      <p:sp>
        <p:nvSpPr>
          <p:cNvPr id="7" name="原始碼">
            <a:extLst xmlns:a="http://schemas.openxmlformats.org/drawingml/2006/main">
              <a:ext uri="{FF2B5EF4-FFF2-40B4-BE49-F238E27FC236}">
                <a16:creationId xmlns:a16="http://schemas.microsoft.com/office/drawing/2014/main" id="{4435952F-410A-482A-9BAC-BFB70A3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原始碼</a:t>
            </a:r>
          </a:p>
        </p:txBody>
      </p:sp>
      <p:sp>
        <p:nvSpPr>
          <p:cNvPr id="8" name="Foundry">
            <a:extLst xmlns:a="http://schemas.openxmlformats.org/drawingml/2006/main">
              <a:ext uri="{FF2B5EF4-FFF2-40B4-BE49-F238E27FC236}">
                <a16:creationId xmlns:a16="http://schemas.microsoft.com/office/drawing/2014/main" id="{B8AC46DD-124A-4300-A7B5-00E69A7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14725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37D67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Foundry</a:t>
            </a:r>
          </a:p>
        </p:txBody>
      </p:sp>
      <p:sp>
        <p:nvSpPr>
          <p:cNvPr id="9" name="JSON + trace">
            <a:extLst xmlns:a="http://schemas.openxmlformats.org/drawingml/2006/main">
              <a:ext uri="{FF2B5EF4-FFF2-40B4-BE49-F238E27FC236}">
                <a16:creationId xmlns:a16="http://schemas.microsoft.com/office/drawing/2014/main" id="{FA5994C6-87B7-4BF7-BCFB-522C8453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14725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JSON + trace</a:t>
            </a:r>
          </a:p>
        </p:txBody>
      </p:sp>
      <p:sp>
        <p:nvSpPr>
          <p:cNvPr id="10" name="網站">
            <a:extLst xmlns:a="http://schemas.openxmlformats.org/drawingml/2006/main">
              <a:ext uri="{FF2B5EF4-FFF2-40B4-BE49-F238E27FC236}">
                <a16:creationId xmlns:a16="http://schemas.microsoft.com/office/drawing/2014/main" id="{2D160F15-27D5-410E-B218-A92B3411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4288">
            <a:solidFill>
              <a:srgbClr val="FAFAFA"/>
            </a:solidFill>
          </a:ln>
        </p:spPr>
        <p:txBody>
          <a:bodyPr xmlns:a="http://schemas.openxmlformats.org/drawingml/2006/main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網站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38766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86425" y="38766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38766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8A8B2"/>
            </a:solidFill>
            <a:prstDash val="solid"/>
            <a:tailEnd type="triangle" w="med" len="med"/>
          </a:ln>
        </p:spPr>
      </p:cxnSp>
      <p:sp>
        <p:nvSpPr>
          <p:cNvPr id="14" name="4663 分叉 @ 72,248,228">
            <a:extLst xmlns:a="http://schemas.openxmlformats.org/drawingml/2006/main">
              <a:ext uri="{FF2B5EF4-FFF2-40B4-BE49-F238E27FC236}">
                <a16:creationId xmlns:a16="http://schemas.microsoft.com/office/drawing/2014/main" id="{5040B98D-4E65-4902-8A39-7E2770A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4663 分叉 @ 72,248,228</a:t>
            </a:r>
          </a:p>
        </p:txBody>
      </p:sp>
      <p:sp>
        <p:nvSpPr>
          <p:cNvPr id="15" name="0 筆主網廣播">
            <a:extLst xmlns:a="http://schemas.openxmlformats.org/drawingml/2006/main">
              <a:ext uri="{FF2B5EF4-FFF2-40B4-BE49-F238E27FC236}">
                <a16:creationId xmlns:a16="http://schemas.microsoft.com/office/drawing/2014/main" id="{0B2CF59A-D83D-4D95-B058-CA2ED2A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 筆主網廣播</a:t>
            </a:r>
          </a:p>
        </p:txBody>
      </p:sp>
      <p:sp>
        <p:nvSpPr>
          <p:cNvPr id="16" name="github.com/vexi-v1/vexi-hakari">
            <a:extLst xmlns:a="http://schemas.openxmlformats.org/drawingml/2006/main">
              <a:ext uri="{FF2B5EF4-FFF2-40B4-BE49-F238E27FC236}">
                <a16:creationId xmlns:a16="http://schemas.microsoft.com/office/drawing/2014/main" id="{5977B3B8-47CB-4F7C-87E1-6E48B7C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u="sng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89c8d5d07664c55"/>
              </a:rPr>
              <a:t>github.com/vexi-v1/vexi-hakari</a:t>
            </a:r>
          </a:p>
        </p:txBody>
      </p:sp>
    </p:spTree>
    <p:extLst>
      <p:ext uri="{BB962C8B-B14F-4D97-AF65-F5344CB8AC3E}">
        <p14:creationId xmlns:p14="http://schemas.microsoft.com/office/powerpoint/2010/main" val="1392779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2026-09-26T21:14:57.3970000Z</dcterms:created>
  <dcterms:modified xsi:type="dcterms:W3CDTF">2026-09-26T21:14:57.3970000Z</dcterms:modified>
</coreProperties>
</file>