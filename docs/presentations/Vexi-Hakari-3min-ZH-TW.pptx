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7c8029f54d4afe" /><Relationship Type="http://schemas.openxmlformats.org/officeDocument/2006/relationships/extended-properties" Target="/docProps/app.xml" Id="R468976aad9f34e22" /><Relationship Type="http://schemas.openxmlformats.org/officeDocument/2006/relationships/officeDocument" Target="/ppt/presentation.xml" Id="R33167d94b7fc44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04a2823bcc4f7a"/>
  </p:sldMasterIdLst>
  <p:notesMasterIdLst>
    <p:notesMasterId xmlns:r="http://schemas.openxmlformats.org/officeDocument/2006/relationships" r:id="R1556659a7aae401a"/>
  </p:notesMasterIdLst>
  <p:sldIdLst>
    <p:sldId xmlns:r="http://schemas.openxmlformats.org/officeDocument/2006/relationships" id="256" r:id="Rd8b1f0fceec344fd"/>
    <p:sldId xmlns:r="http://schemas.openxmlformats.org/officeDocument/2006/relationships" id="257" r:id="R2bdb11823e794e19"/>
    <p:sldId xmlns:r="http://schemas.openxmlformats.org/officeDocument/2006/relationships" id="258" r:id="R9a6c71328dec4601"/>
    <p:sldId xmlns:r="http://schemas.openxmlformats.org/officeDocument/2006/relationships" id="259" r:id="Rf72f2558ed984bd8"/>
    <p:sldId xmlns:r="http://schemas.openxmlformats.org/officeDocument/2006/relationships" id="260" r:id="Rbd606676185e46a9"/>
    <p:sldId xmlns:r="http://schemas.openxmlformats.org/officeDocument/2006/relationships" id="261" r:id="R3f55d5f2673a42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a1c3ec96b94d7a" /><Relationship Type="http://schemas.openxmlformats.org/officeDocument/2006/relationships/slideMaster" Target="/ppt/slideMasters/slideMaster1.xml" Id="R6404a2823bcc4f7a" /><Relationship Type="http://schemas.openxmlformats.org/officeDocument/2006/relationships/notesMaster" Target="/ppt/notesMasters/notesMaster1.xml" Id="R1556659a7aae401a" /><Relationship Type="http://schemas.openxmlformats.org/officeDocument/2006/relationships/presProps" Target="/ppt/presProps.xml" Id="Rb97770bf81c94d21" /><Relationship Type="http://schemas.openxmlformats.org/officeDocument/2006/relationships/tableStyles" Target="/ppt/tableStyles.xml" Id="Raf0cdc1d7f354943" /><Relationship Type="http://schemas.openxmlformats.org/officeDocument/2006/relationships/slide" Target="/ppt/slides/slide1.xml" Id="Rd8b1f0fceec344fd" /><Relationship Type="http://schemas.openxmlformats.org/officeDocument/2006/relationships/slide" Target="/ppt/slides/slide2.xml" Id="R2bdb11823e794e19" /><Relationship Type="http://schemas.openxmlformats.org/officeDocument/2006/relationships/slide" Target="/ppt/slides/slide3.xml" Id="R9a6c71328dec4601" /><Relationship Type="http://schemas.openxmlformats.org/officeDocument/2006/relationships/slide" Target="/ppt/slides/slide4.xml" Id="Rf72f2558ed984bd8" /><Relationship Type="http://schemas.openxmlformats.org/officeDocument/2006/relationships/slide" Target="/ppt/slides/slide5.xml" Id="Rbd606676185e46a9" /><Relationship Type="http://schemas.openxmlformats.org/officeDocument/2006/relationships/slide" Target="/ppt/slides/slide6.xml" Id="R3f55d5f2673a42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bbfe5f594d4d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8afdf20e9344c8" /><Relationship Type="http://schemas.openxmlformats.org/officeDocument/2006/relationships/notesMaster" Target="/ppt/notesMasters/notesMaster1.xml" Id="R2cb8ac658ea642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cb3a6a9b524315" /><Relationship Type="http://schemas.openxmlformats.org/officeDocument/2006/relationships/notesMaster" Target="/ppt/notesMasters/notesMaster1.xml" Id="R28892c55645c46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dca56670084492" /><Relationship Type="http://schemas.openxmlformats.org/officeDocument/2006/relationships/notesMaster" Target="/ppt/notesMasters/notesMaster1.xml" Id="R6db6ce8196bd4b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d9cc7e9b374a46" /><Relationship Type="http://schemas.openxmlformats.org/officeDocument/2006/relationships/notesMaster" Target="/ppt/notesMasters/notesMaster1.xml" Id="R99942e4f783d4d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3e29c28f5f42c7" /><Relationship Type="http://schemas.openxmlformats.org/officeDocument/2006/relationships/notesMaster" Target="/ppt/notesMasters/notesMaster1.xml" Id="R184b6dc9672c47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51728f49224daf" /><Relationship Type="http://schemas.openxmlformats.org/officeDocument/2006/relationships/notesMaster" Target="/ppt/notesMasters/notesMaster1.xml" Id="Rbd8f90f2b57847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Vexi Hakari 讓選擇權和現貨共用同一個錢包，透過 Aqua 移動資金，再用 Uniswap v4 價格帶控制報價。接著看一次成交和兩次拒單。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</a:t>
            </a:r>
          </a:p>
          <a:p xmlns:a="http://schemas.openxmlformats.org/drawingml/2006/main">
            <a:r>
              <a:t>開始前，先開好本機網站的繁中回放頁。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來源與範圍</a:t>
            </a:r>
          </a:p>
          <a:p xmlns:a="http://schemas.openxmlformats.org/drawingml/2006/main">
            <a:r>
              <a:t>docs/website.md; website/app.js; website/vexi-logo.svg</a:t>
            </a:r>
          </a:p>
          <a:p xmlns:a="http://schemas.openxmlformats.org/drawingml/2006/main">
            <a:r>
              <a:t>Repository: https://github.com/vexi-v1/vexi-hakari</a:t>
            </a:r>
          </a:p>
          <a:p xmlns:a="http://schemas.openxmlformats.org/drawingml/2006/main">
            <a:r>
              <a:t>Evidence base revision: 4df6d7bf44d70195e3d9012758eeddd3b66e91d5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0:15–0:45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造市者一開始有三十個 TSLA 和兩萬 USDG。Aqua 把選擇權策略，以及有庫存保護的 SwapVM 現貨策略，連到同一個錢包。註冊策略和掛單時，代幣都還留在錢包。現貨的 guard 會扣除已承諾給選擇權的庫存。這裡的虛擬餘額是策略帳務，不能加起來當作更多資產。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</a:t>
            </a:r>
          </a:p>
          <a:p xmlns:a="http://schemas.openxmlformats.org/drawingml/2006/main">
            <a:r>
              <a:t>指向左側同一個錢包，再沿 Aqua 的兩條分支講解。上方的預言機連線影響選擇權報價。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來源與範圍</a:t>
            </a:r>
          </a:p>
          <a:p xmlns:a="http://schemas.openxmlformats.org/drawingml/2006/main">
            <a:r>
              <a:t>docs/website.md steps 1–4; website/evidence/demo.json lifecycle initial, ship, post, spot</a:t>
            </a:r>
          </a:p>
          <a:p xmlns:a="http://schemas.openxmlformats.org/drawingml/2006/main">
            <a:r>
              <a:t>Repository: https://github.com/vexi-v1/vexi-hakari</a:t>
            </a:r>
          </a:p>
          <a:p xmlns:a="http://schemas.openxmlformats.org/drawingml/2006/main">
            <a:r>
              <a:t>Evidence base revision: 4df6d7bf44d70195e3d9012758eeddd3b66e91d5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0:45–1:15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這筆成交買了五口 call 和三口 put，履約價是四百 USDG。Aqua 從造市者錢包拉取剛好的五個 TSLA 和一千兩百 USDG，放進選擇權 book。買方另外支付合計六十四點零零六四 USDG 的權利金，並收到多頭部位。未成交的承諾還在原錢包，只有成交部分才轉成實際抵押品。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</a:t>
            </a:r>
          </a:p>
          <a:p xmlns:a="http://schemas.openxmlformats.org/drawingml/2006/main">
            <a:r>
              <a:t>沿造市者、Aqua、Book 的箭頭說明。抵押品和買方支付的權利金要分開講。Aqua.pull 是拉取機制，並非另一個資金保管帳戶。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來源與範圍</a:t>
            </a:r>
          </a:p>
          <a:p xmlns:a="http://schemas.openxmlformats.org/drawingml/2006/main">
            <a:r>
              <a:t>website/evidence/demo.json lifecycle spot and buy; aqua/test/WebsiteEvidence.t.sol test_WebsiteLifecycle</a:t>
            </a:r>
          </a:p>
          <a:p xmlns:a="http://schemas.openxmlformats.org/drawingml/2006/main">
            <a:r>
              <a:t>Repository: https://github.com/vexi-v1/vexi-hakari</a:t>
            </a:r>
          </a:p>
          <a:p xmlns:a="http://schemas.openxmlformats.org/drawingml/2006/main">
            <a:r>
              <a:t>Evidence base revision: 4df6d7bf44d70195e3d9012758eeddd3b66e91d5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1:15–1:55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公開版本使用固定正負百分之五的價格帶，中心來自滾動 TWAP。這張是網站的示意計算器，中心四百，基本權利金八塊。在中心，每次最多五十口。偏離百分之二點五，上限降到二十五口，報價變成八點四。超過到百分之五點一，就拒絕成交。但價格帶只是其中一道檢查，報價期限、原始錨點和可用抵押品，都還要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</a:t>
            </a:r>
          </a:p>
          <a:p xmlns:a="http://schemas.openxmlformats.org/drawingml/2006/main">
            <a:r>
              <a:t>從圖的頂點移到 +2.5%，再指向 +5.1% 拒單。上限是每次呼叫，不是累積風險額度。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來源與範圍</a:t>
            </a:r>
          </a:p>
          <a:p xmlns:a="http://schemas.openxmlformats.org/drawingml/2006/main">
            <a:r>
              <a:t>website/band.mjs calculateBand; website/app.js renderLab。固定示例假設觀測可讀、流動性足夠、原始與截斷價格一致。</a:t>
            </a:r>
          </a:p>
          <a:p xmlns:a="http://schemas.openxmlformats.org/drawingml/2006/main">
            <a:r>
              <a:t>Repository: https://github.com/vexi-v1/vexi-hakari</a:t>
            </a:r>
          </a:p>
          <a:p xmlns:a="http://schemas.openxmlformats.org/drawingml/2006/main">
            <a:r>
              <a:t>Evidence base revision: 4df6d7bf44d70195e3d9012758eeddd3b66e91d5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1:55–2:45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直接看合約執行的回放。第五步，抵押品確實進到 book。第七步，價格超出價格帶，再買一筆會 revert，買方的 USDG 和部位都沒有變。第九步，價格帶雖然恢復，原報價卻已到期，所以還是不能成交。造市者必須明確更新條件，價格回來不會自動延長舊報價。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</a:t>
            </a:r>
          </a:p>
          <a:p xmlns:a="http://schemas.openxmlformats.org/drawingml/2006/main">
            <a:r>
              <a:t>點「開啟本機回放」，依序選 05 承諾轉為抵押品、07 合約確實拒絕成交、09 價格帶開啟還不夠。切換和點選共預留約二十秒。網站無法使用時，直接以本頁三個檢查點完成講解。最後切回簡報。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來源與範圍</a:t>
            </a:r>
          </a:p>
          <a:p xmlns:a="http://schemas.openxmlformats.org/drawingml/2006/main">
            <a:r>
              <a:t>website/evidence/demo.json lifecycle buy, pause, expired。拒單前後餘額與部位由測試斷言。http://127.0.0.1:8787/?lang=zh-Hant#replay</a:t>
            </a:r>
          </a:p>
          <a:p xmlns:a="http://schemas.openxmlformats.org/drawingml/2006/main">
            <a:r>
              <a:t>Repository: https://github.com/vexi-v1/vexi-hakari</a:t>
            </a:r>
          </a:p>
          <a:p xmlns:a="http://schemas.openxmlformats.org/drawingml/2006/main">
            <a:r>
              <a:t>Evidence base revision: 4df6d7bf44d70195e3d9012758eeddd3b66e91d5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2:45–3:00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這是連續十五步的流程，加上四個獨立異常情境，共五個測試。全部在本機分叉執行，沒有主網廣播。證據可從 repo 重現。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</a:t>
            </a:r>
          </a:p>
          <a:p xmlns:a="http://schemas.openxmlformats.org/drawingml/2006/main">
            <a:r>
              <a:t>停在 repository 連結結尾。三分鐘版本不展開結算與額外異常情境。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來源與範圍</a:t>
            </a:r>
          </a:p>
          <a:p xmlns:a="http://schemas.openxmlformats.org/drawingml/2006/main">
            <a:r>
              <a:t>docs/website.md; website/evidence/demo.json; scripts/website-evidence.py; scripts/build-website.py。範圍：本機 EVM 整合、合成價格歷史、實驗性結算，不宣稱公平到期價或可正式上線。Aqua © Degensoft Ltd 2025. Powered by SwapVM © Degensoft Ltd 2025.</a:t>
            </a:r>
          </a:p>
          <a:p xmlns:a="http://schemas.openxmlformats.org/drawingml/2006/main">
            <a:r>
              <a:t>Repository: https://github.com/vexi-v1/vexi-hakari</a:t>
            </a:r>
          </a:p>
          <a:p xmlns:a="http://schemas.openxmlformats.org/drawingml/2006/main">
            <a:r>
              <a:t>Evidence base revision: 4df6d7bf44d70195e3d9012758eeddd3b66e91d5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50c570057848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eb2a38c4ef4cdb" /><Relationship Type="http://schemas.openxmlformats.org/officeDocument/2006/relationships/slideLayout" Target="/ppt/slideLayouts/slideLayout1.xml" Id="Re91571db1c5e4c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1571db1c5e4c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4ede5361e47ae" /><Relationship Type="http://schemas.openxmlformats.org/officeDocument/2006/relationships/image" Target="/ppt/media/image.png" Id="R401734d7484c4d5e" /><Relationship Type="http://schemas.openxmlformats.org/officeDocument/2006/relationships/image" Target="/ppt/media/image.svg" Id="R552b62da976f468e" /><Relationship Type="http://schemas.openxmlformats.org/officeDocument/2006/relationships/notesSlide" Target="/ppt/notesSlides/notesSlide1.xml" Id="R6fba613a017840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56818c7104370" /><Relationship Type="http://schemas.openxmlformats.org/officeDocument/2006/relationships/image" Target="/ppt/media/image2.png" Id="R917edf28125a4bed" /><Relationship Type="http://schemas.openxmlformats.org/officeDocument/2006/relationships/image" Target="/ppt/media/image2.svg" Id="R4290b42c40da4a42" /><Relationship Type="http://schemas.openxmlformats.org/officeDocument/2006/relationships/notesSlide" Target="/ppt/notesSlides/notesSlide2.xml" Id="R9c65d912468846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c3a09093847c6" /><Relationship Type="http://schemas.openxmlformats.org/officeDocument/2006/relationships/image" Target="/ppt/media/image3.png" Id="Rac072d2af676441a" /><Relationship Type="http://schemas.openxmlformats.org/officeDocument/2006/relationships/image" Target="/ppt/media/image3.svg" Id="Re5c833bea92f4e91" /><Relationship Type="http://schemas.openxmlformats.org/officeDocument/2006/relationships/notesSlide" Target="/ppt/notesSlides/notesSlide3.xml" Id="R494a389c464144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99fde24c842b5" /><Relationship Type="http://schemas.openxmlformats.org/officeDocument/2006/relationships/image" Target="/ppt/media/image4.png" Id="Rbafc43714fe74dd5" /><Relationship Type="http://schemas.openxmlformats.org/officeDocument/2006/relationships/image" Target="/ppt/media/image4.svg" Id="R12b2d7d3b3e64902" /><Relationship Type="http://schemas.openxmlformats.org/officeDocument/2006/relationships/chart" Target="/ppt/slides/charts/chart1.xml" Id="Reebd5b864cb4445e" /><Relationship Type="http://schemas.openxmlformats.org/officeDocument/2006/relationships/notesSlide" Target="/ppt/notesSlides/notesSlide4.xml" Id="R120d4faa7e6544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d8be303574218" /><Relationship Type="http://schemas.openxmlformats.org/officeDocument/2006/relationships/image" Target="/ppt/media/image5.png" Id="Rb8d173c50f7047e8" /><Relationship Type="http://schemas.openxmlformats.org/officeDocument/2006/relationships/image" Target="/ppt/media/image5.svg" Id="R808d7f08e3c14614" /><Relationship Type="http://schemas.openxmlformats.org/officeDocument/2006/relationships/hyperlink" Target="http://127.0.0.1:8787/?lang=zh-Hant#replay" TargetMode="External" Id="R5c11c7dc929541db" /><Relationship Type="http://schemas.openxmlformats.org/officeDocument/2006/relationships/notesSlide" Target="/ppt/notesSlides/notesSlide5.xml" Id="R234cbbfd011041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7beadd642431a" /><Relationship Type="http://schemas.openxmlformats.org/officeDocument/2006/relationships/image" Target="/ppt/media/image6.png" Id="R7ed3e0d598b741ff" /><Relationship Type="http://schemas.openxmlformats.org/officeDocument/2006/relationships/image" Target="/ppt/media/image6.svg" Id="Rb5a61a6161fb4229" /><Relationship Type="http://schemas.openxmlformats.org/officeDocument/2006/relationships/hyperlink" Target="https://github.com/vexi-v1/vexi-hakari" TargetMode="External" Id="R741188c4a9b94a08" /><Relationship Type="http://schemas.openxmlformats.org/officeDocument/2006/relationships/notesSlide" Target="/ppt/notesSlides/notesSlide6.xml" Id="R7cc54913b61c4fd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口數上限</c:v>
          </c:tx>
          <c:spPr>
            <a:solidFill xmlns:a="http://schemas.openxmlformats.org/drawingml/2006/main">
              <a:srgbClr val="37D67A"/>
            </a:solidFill>
            <a:ln xmlns:a="http://schemas.openxmlformats.org/drawingml/2006/main" w="38100">
              <a:solidFill>
                <a:srgbClr val="37D67A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37D67A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−5%</c:v>
                </c:pt>
                <c:pt idx="1">
                  <c:v>−2.5%</c:v>
                </c:pt>
                <c:pt idx="2">
                  <c:v>0%</c:v>
                </c:pt>
                <c:pt idx="3">
                  <c:v>+2.5%</c:v>
                </c:pt>
                <c:pt idx="4">
                  <c:v>+5%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0</c:v>
                </c:pt>
                <c:pt idx="1">
                  <c:v>25</c:v>
                </c:pt>
                <c:pt idx="2">
                  <c:v>50</c:v>
                </c:pt>
                <c:pt idx="3">
                  <c:v>25</c:v>
                </c:pt>
                <c:pt idx="4">
                  <c:v>0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38383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7144">
              <a:solidFill>
                <a:srgbClr val="38383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08080A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8080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734d7484c4d5e">
            <a:extLst>
              <a:ext uri="{96DAC541-7B7A-43D3-8B79-37D633B846F1}">
                <asvg:svgBlip xmlns:asvg="http://schemas.microsoft.com/office/drawing/2016/SVG/main" r:embed="R552b62da976f468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24900" y="2324100"/>
            <a:ext cx="2438400" cy="2438400"/>
          </a:xfrm>
          <a:prstGeom xmlns:a="http://schemas.openxmlformats.org/drawingml/2006/main" prst="rect">
            <a:avLst/>
          </a:prstGeom>
        </p:spPr>
      </p:pic>
      <p:sp>
        <p:nvSpPr>
          <p:cNvPr id="2" name="Vexi Hakari">
            <a:extLst xmlns:a="http://schemas.openxmlformats.org/drawingml/2006/main">
              <a:ext uri="{FF2B5EF4-FFF2-40B4-BE49-F238E27FC236}">
                <a16:creationId xmlns:a16="http://schemas.microsoft.com/office/drawing/2014/main" id="{39723299-5267-4604-A086-25AB0679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790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30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Vexi Hakari</a:t>
            </a:r>
          </a:p>
        </p:txBody>
      </p:sp>
      <p:sp>
        <p:nvSpPr>
          <p:cNvPr id="3" name="選擇權 + 現貨">
            <a:extLst xmlns:a="http://schemas.openxmlformats.org/drawingml/2006/main">
              <a:ext uri="{FF2B5EF4-FFF2-40B4-BE49-F238E27FC236}">
                <a16:creationId xmlns:a16="http://schemas.microsoft.com/office/drawing/2014/main" id="{089406D6-6B1F-4AB6-9312-59605BB1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752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選擇權 + 現貨</a:t>
            </a:r>
          </a:p>
        </p:txBody>
      </p:sp>
      <p:sp>
        <p:nvSpPr>
          <p:cNvPr id="4" name="共用同一個造市者錢包">
            <a:extLst xmlns:a="http://schemas.openxmlformats.org/drawingml/2006/main">
              <a:ext uri="{FF2B5EF4-FFF2-40B4-BE49-F238E27FC236}">
                <a16:creationId xmlns:a16="http://schemas.microsoft.com/office/drawing/2014/main" id="{055093F4-BA1E-4AC4-8F39-952865F9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rPr>
              <a:t>共用同一個造市者錢包</a:t>
            </a:r>
          </a:p>
        </p:txBody>
      </p:sp>
      <p:sp>
        <p:nvSpPr>
          <p:cNvPr id="5" name="3 分鐘公開 demo">
            <a:extLst xmlns:a="http://schemas.openxmlformats.org/drawingml/2006/main">
              <a:ext uri="{FF2B5EF4-FFF2-40B4-BE49-F238E27FC236}">
                <a16:creationId xmlns:a16="http://schemas.microsoft.com/office/drawing/2014/main" id="{9ECC298E-B3E1-493D-949D-FE3E97C6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rPr>
              <a:t>3 分鐘公開 demo</a:t>
            </a:r>
          </a:p>
        </p:txBody>
      </p:sp>
      <p:sp>
        <p:nvSpPr>
          <p:cNvPr id="6" name="ETHGlobal Tokyo 2026">
            <a:extLst xmlns:a="http://schemas.openxmlformats.org/drawingml/2006/main">
              <a:ext uri="{FF2B5EF4-FFF2-40B4-BE49-F238E27FC236}">
                <a16:creationId xmlns:a16="http://schemas.microsoft.com/office/drawing/2014/main" id="{5CAE75F2-39BD-4F63-A5E8-EF2B438F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48375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rPr>
              <a:t>ETHGlobal Tokyo 2026</a:t>
            </a:r>
          </a:p>
        </p:txBody>
      </p:sp>
    </p:spTree>
    <p:extLst>
      <p:ext uri="{BB962C8B-B14F-4D97-AF65-F5344CB8AC3E}">
        <p14:creationId xmlns:p14="http://schemas.microsoft.com/office/powerpoint/2010/main" val="20310592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一個錢包，兩種策略">
            <a:extLst xmlns:a="http://schemas.openxmlformats.org/drawingml/2006/main">
              <a:ext uri="{FF2B5EF4-FFF2-40B4-BE49-F238E27FC236}">
                <a16:creationId xmlns:a16="http://schemas.microsoft.com/office/drawing/2014/main" id="{4846A933-2D2C-4A32-9BF6-95007221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715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一個錢包，兩種策略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7edf28125a4bed">
            <a:extLst>
              <a:ext uri="{96DAC541-7B7A-43D3-8B79-37D633B846F1}">
                <asvg:svgBlip xmlns:asvg="http://schemas.microsoft.com/office/drawing/2016/SVG/main" r:embed="R4290b42c40da4a4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20077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3" name="Vexi Hakari">
            <a:extLst xmlns:a="http://schemas.openxmlformats.org/drawingml/2006/main">
              <a:ext uri="{FF2B5EF4-FFF2-40B4-BE49-F238E27FC236}">
                <a16:creationId xmlns:a16="http://schemas.microsoft.com/office/drawing/2014/main" id="{4FC896C9-B04D-46B7-BAD0-7434E2D7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1626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rPr>
              <a:t>Vexi Hakari</a:t>
            </a:r>
          </a:p>
        </p:txBody>
      </p:sp>
      <p:sp>
        <p:nvSpPr>
          <p:cNvPr id="4" name="2">
            <a:extLst xmlns:a="http://schemas.openxmlformats.org/drawingml/2006/main">
              <a:ext uri="{FF2B5EF4-FFF2-40B4-BE49-F238E27FC236}">
                <a16:creationId xmlns:a16="http://schemas.microsoft.com/office/drawing/2014/main" id="{DFBFBECB-1B69-4227-9587-82C44FAB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626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7C18A-ED9B-4D08-8397-F1F9EA38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857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A"/>
          </a:solidFill>
          <a:ln xmlns:a="http://schemas.openxmlformats.org/drawingml/2006/main" w="15240">
            <a:solidFill>
              <a:srgbClr val="FAFAFA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造市者錢包</a:t>
            </a:r>
          </a:p>
        </p:txBody>
      </p:sp>
      <p:sp>
        <p:nvSpPr>
          <p:cNvPr id="6" name="30 TSLA + 20,000 USDG">
            <a:extLst xmlns:a="http://schemas.openxmlformats.org/drawingml/2006/main">
              <a:ext uri="{FF2B5EF4-FFF2-40B4-BE49-F238E27FC236}">
                <a16:creationId xmlns:a16="http://schemas.microsoft.com/office/drawing/2014/main" id="{41777DBC-5ABA-48E4-B6F6-69DDF1A2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319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rPr>
              <a:t>30 TSLA + 20,000 USDG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35FF0-0B18-4EBB-8755-8A09B32E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67050"/>
            <a:ext cx="2095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A"/>
          </a:solidFill>
          <a:ln xmlns:a="http://schemas.openxmlformats.org/drawingml/2006/main" w="15240">
            <a:solidFill>
              <a:srgbClr val="37D67A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Aqua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94BE7E-C80D-480C-BA30-8EC427D9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67050"/>
            <a:ext cx="3095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A"/>
          </a:solidFill>
          <a:ln xmlns:a="http://schemas.openxmlformats.org/drawingml/2006/main" w="15240">
            <a:solidFill>
              <a:srgbClr val="37D67A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選擇權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3F57E0-106B-49A1-B51A-A83DBA99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95825"/>
            <a:ext cx="3095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A"/>
          </a:solidFill>
          <a:ln xmlns:a="http://schemas.openxmlformats.org/drawingml/2006/main" w="15240">
            <a:solidFill>
              <a:srgbClr val="FAFAFA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SwapVM + 庫存保護</a:t>
            </a:r>
          </a:p>
        </p:txBody>
      </p:sp>
      <p:sp>
        <p:nvSpPr>
          <p:cNvPr id="10" name="Uniswap v4 價格參考">
            <a:extLst xmlns:a="http://schemas.openxmlformats.org/drawingml/2006/main">
              <a:ext uri="{FF2B5EF4-FFF2-40B4-BE49-F238E27FC236}">
                <a16:creationId xmlns:a16="http://schemas.microsoft.com/office/drawing/2014/main" id="{F2788CC6-2CDA-4C7D-A02F-234F447A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19250"/>
            <a:ext cx="309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rPr>
              <a:t>Uniswap v4 價格參考</a:t>
            </a:r>
          </a:p>
        </p:txBody>
      </p: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543300" y="3543300"/>
            <a:ext cx="11811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37D67A"/>
            </a:solidFill>
            <a:prstDash val="solid"/>
            <a:tailEnd type="triangle" w="med" len="med"/>
          </a:ln>
        </p:spPr>
      </p:cxnSp>
      <p:cxnSp>
        <p:nvCxnSpPr>
          <p:cNvPr id="2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819900" y="3552825"/>
            <a:ext cx="1514475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37D67A"/>
            </a:solidFill>
            <a:prstDash val="solid"/>
            <a:tailEnd type="triangle" w="med" len="med"/>
          </a:ln>
        </p:spPr>
      </p:cxnSp>
      <p:cxnSp>
        <p:nvCxnSpPr>
          <p:cNvPr id="30" name=""/>
          <p:cNvCxnSpPr>
            <a:stCxn xmlns:a="http://schemas.openxmlformats.org/drawingml/2006/main" id="7" idx="2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772150" y="4038600"/>
            <a:ext cx="2562225" cy="1143000"/>
          </a:xfrm>
          <a:prstGeom xmlns:a="http://schemas.openxmlformats.org/drawingml/2006/main" prst="bentConnector5">
            <a:avLst>
              <a:gd name="adj1" fmla="val 0"/>
              <a:gd name="adj2" fmla="val 20000"/>
              <a:gd name="adj3" fmla="val 91078"/>
            </a:avLst>
          </a:prstGeom>
          <a:ln xmlns:a="http://schemas.openxmlformats.org/drawingml/2006/main" w="24765">
            <a:solidFill>
              <a:srgbClr val="37D67A"/>
            </a:solidFill>
            <a:prstDash val="solid"/>
            <a:tailEnd type="triangle" w="med" len="med"/>
          </a:ln>
        </p:spPr>
      </p:cxnSp>
      <p:cxnSp>
        <p:nvCxnSpPr>
          <p:cNvPr id="31" name=""/>
          <p:cNvCxnSpPr>
            <a:stCxn xmlns:a="http://schemas.openxmlformats.org/drawingml/2006/main" id="10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882188" y="2190750"/>
            <a:ext cx="0" cy="87630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FF007A"/>
            </a:solidFill>
            <a:prstDash val="solid"/>
            <a:tailEnd type="triangle" w="med" len="med"/>
          </a:ln>
        </p:spPr>
      </p:cxnSp>
      <p:sp>
        <p:nvSpPr>
          <p:cNvPr id="15" name="報價檢查">
            <a:extLst xmlns:a="http://schemas.openxmlformats.org/drawingml/2006/main">
              <a:ext uri="{FF2B5EF4-FFF2-40B4-BE49-F238E27FC236}">
                <a16:creationId xmlns:a16="http://schemas.microsoft.com/office/drawing/2014/main" id="{F14B0EEE-2B38-4795-A4C6-6E881810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571750"/>
            <a:ext cx="1466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rPr>
              <a:t>報價檢查</a:t>
            </a:r>
          </a:p>
        </p:txBody>
      </p:sp>
      <p:sp>
        <p:nvSpPr>
          <p:cNvPr id="16" name="虛擬策略額度">
            <a:extLst xmlns:a="http://schemas.openxmlformats.org/drawingml/2006/main">
              <a:ext uri="{FF2B5EF4-FFF2-40B4-BE49-F238E27FC236}">
                <a16:creationId xmlns:a16="http://schemas.microsoft.com/office/drawing/2014/main" id="{AD8E3691-3420-42BE-B831-887749B2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rPr>
              <a:t>虛擬策略額度</a:t>
            </a:r>
          </a:p>
        </p:txBody>
      </p:sp>
      <p:sp>
        <p:nvSpPr>
          <p:cNvPr id="17" name="成交前，代幣留在錢包">
            <a:extLst xmlns:a="http://schemas.openxmlformats.org/drawingml/2006/main">
              <a:ext uri="{FF2B5EF4-FFF2-40B4-BE49-F238E27FC236}">
                <a16:creationId xmlns:a16="http://schemas.microsoft.com/office/drawing/2014/main" id="{F29738C8-6074-4F4D-B0A5-3E6C581C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680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成交前，代幣留在錢包</a:t>
            </a:r>
          </a:p>
        </p:txBody>
      </p:sp>
    </p:spTree>
    <p:extLst>
      <p:ext uri="{BB962C8B-B14F-4D97-AF65-F5344CB8AC3E}">
        <p14:creationId xmlns:p14="http://schemas.microsoft.com/office/powerpoint/2010/main" val="15225080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成交時，抵押品才進入合約">
            <a:extLst xmlns:a="http://schemas.openxmlformats.org/drawingml/2006/main">
              <a:ext uri="{FF2B5EF4-FFF2-40B4-BE49-F238E27FC236}">
                <a16:creationId xmlns:a16="http://schemas.microsoft.com/office/drawing/2014/main" id="{7C7F983B-7BB6-4871-ACE1-E357642E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715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成交時，抵押品才進入合約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072d2af676441a">
            <a:extLst>
              <a:ext uri="{96DAC541-7B7A-43D3-8B79-37D633B846F1}">
                <asvg:svgBlip xmlns:asvg="http://schemas.microsoft.com/office/drawing/2016/SVG/main" r:embed="Re5c833bea92f4e9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20077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3" name="Vexi Hakari">
            <a:extLst xmlns:a="http://schemas.openxmlformats.org/drawingml/2006/main">
              <a:ext uri="{FF2B5EF4-FFF2-40B4-BE49-F238E27FC236}">
                <a16:creationId xmlns:a16="http://schemas.microsoft.com/office/drawing/2014/main" id="{5B9C25BC-FC0B-4D5D-8BE0-2381ED83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1626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rPr>
              <a:t>Vexi Hakari</a:t>
            </a:r>
          </a:p>
        </p:txBody>
      </p:sp>
      <p:sp>
        <p:nvSpPr>
          <p:cNvPr id="4" name="3">
            <a:extLst xmlns:a="http://schemas.openxmlformats.org/drawingml/2006/main">
              <a:ext uri="{FF2B5EF4-FFF2-40B4-BE49-F238E27FC236}">
                <a16:creationId xmlns:a16="http://schemas.microsoft.com/office/drawing/2014/main" id="{3CBAB904-DE7D-41ED-9AAD-BFC8CCD0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626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5" name="5 口 call + 3 口 put">
            <a:extLst xmlns:a="http://schemas.openxmlformats.org/drawingml/2006/main">
              <a:ext uri="{FF2B5EF4-FFF2-40B4-BE49-F238E27FC236}">
                <a16:creationId xmlns:a16="http://schemas.microsoft.com/office/drawing/2014/main" id="{252225A6-8248-41A3-88DC-95B83F8C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828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5 口 call + 3 口 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29FCAB-06F9-4322-B0B8-E39CEA90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5241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A"/>
          </a:solidFill>
          <a:ln xmlns:a="http://schemas.openxmlformats.org/drawingml/2006/main" w="15240">
            <a:solidFill>
              <a:srgbClr val="FAFAFA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造市者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7AA6A0-DF60-4A0C-8C3A-70C67A93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609850"/>
            <a:ext cx="2362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A"/>
          </a:solidFill>
          <a:ln xmlns:a="http://schemas.openxmlformats.org/drawingml/2006/main" w="15240">
            <a:solidFill>
              <a:srgbClr val="37D67A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Aqua.pull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D8663-3D66-4F72-B8D3-B6C68F2F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09850"/>
            <a:ext cx="25431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A"/>
          </a:solidFill>
          <a:ln xmlns:a="http://schemas.openxmlformats.org/drawingml/2006/main" w="15240">
            <a:solidFill>
              <a:srgbClr val="FAFAFA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Book</a:t>
            </a:r>
          </a:p>
        </p:txBody>
      </p:sp>
      <p:cxnSp>
        <p:nvCxnSpPr>
          <p:cNvPr id="2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09925" y="311467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37D67A"/>
            </a:solidFill>
            <a:prstDash val="solid"/>
            <a:tailEnd type="triangle" w="med" len="med"/>
          </a:ln>
        </p:spPr>
      </p:cxn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058025" y="3114675"/>
            <a:ext cx="1895475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37D67A"/>
            </a:solidFill>
            <a:prstDash val="solid"/>
            <a:tailEnd type="triangle" w="med" len="med"/>
          </a:ln>
        </p:spPr>
      </p:cxnSp>
      <p:sp>
        <p:nvSpPr>
          <p:cNvPr id="11" name="5 TSLA + 1,200 USDG">
            <a:extLst xmlns:a="http://schemas.openxmlformats.org/drawingml/2006/main">
              <a:ext uri="{FF2B5EF4-FFF2-40B4-BE49-F238E27FC236}">
                <a16:creationId xmlns:a16="http://schemas.microsoft.com/office/drawing/2014/main" id="{4E9C05A7-FFC5-4B43-A01F-65B385F6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81450"/>
            <a:ext cx="7762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5 TSLA + 1,200 USDG</a:t>
            </a:r>
          </a:p>
        </p:txBody>
      </p:sp>
      <p:sp>
        <p:nvSpPr>
          <p:cNvPr id="12" name="履約價 400 USDG 的抵押品">
            <a:extLst xmlns:a="http://schemas.openxmlformats.org/drawingml/2006/main">
              <a:ext uri="{FF2B5EF4-FFF2-40B4-BE49-F238E27FC236}">
                <a16:creationId xmlns:a16="http://schemas.microsoft.com/office/drawing/2014/main" id="{A48BC73A-CEDF-41D0-9789-1B035274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76775"/>
            <a:ext cx="7620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rPr>
              <a:t>履約價 400 USDG 的抵押品</a:t>
            </a:r>
          </a:p>
        </p:txBody>
      </p:sp>
      <p:sp>
        <p:nvSpPr>
          <p:cNvPr id="13" name="買方另付權利金：64.0064 USDG">
            <a:extLst xmlns:a="http://schemas.openxmlformats.org/drawingml/2006/main">
              <a:ext uri="{FF2B5EF4-FFF2-40B4-BE49-F238E27FC236}">
                <a16:creationId xmlns:a16="http://schemas.microsoft.com/office/drawing/2014/main" id="{726FF8A6-42BD-4010-939C-5A1FD0E4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8162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FF007A"/>
                </a:solidFill>
                <a:latin typeface="Arial Unicode MS"/>
                <a:ea typeface="Arial Unicode MS"/>
                <a:cs typeface="Arial Unicode MS"/>
              </a:rPr>
              <a:t>買方另付權利金：64.0064 USDG</a:t>
            </a:r>
          </a:p>
        </p:txBody>
      </p:sp>
    </p:spTree>
    <p:extLst>
      <p:ext uri="{BB962C8B-B14F-4D97-AF65-F5344CB8AC3E}">
        <p14:creationId xmlns:p14="http://schemas.microsoft.com/office/powerpoint/2010/main" val="3817977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越接近價格帶邊緣，可成交量越小">
            <a:extLst xmlns:a="http://schemas.openxmlformats.org/drawingml/2006/main">
              <a:ext uri="{FF2B5EF4-FFF2-40B4-BE49-F238E27FC236}">
                <a16:creationId xmlns:a16="http://schemas.microsoft.com/office/drawing/2014/main" id="{9D7622FA-2C1D-492D-B66C-C0B11657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715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越接近價格帶邊緣，可成交量越小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fc43714fe74dd5">
            <a:extLst>
              <a:ext uri="{96DAC541-7B7A-43D3-8B79-37D633B846F1}">
                <asvg:svgBlip xmlns:asvg="http://schemas.microsoft.com/office/drawing/2016/SVG/main" r:embed="R12b2d7d3b3e6490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20077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3" name="Vexi Hakari">
            <a:extLst xmlns:a="http://schemas.openxmlformats.org/drawingml/2006/main">
              <a:ext uri="{FF2B5EF4-FFF2-40B4-BE49-F238E27FC236}">
                <a16:creationId xmlns:a16="http://schemas.microsoft.com/office/drawing/2014/main" id="{CA91C983-AC93-410E-9AB9-79208922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1626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rPr>
              <a:t>Vexi Hakari</a:t>
            </a:r>
          </a:p>
        </p:txBody>
      </p:sp>
      <p:sp>
        <p:nvSpPr>
          <p:cNvPr id="4" name="4">
            <a:extLst xmlns:a="http://schemas.openxmlformats.org/drawingml/2006/main">
              <a:ext uri="{FF2B5EF4-FFF2-40B4-BE49-F238E27FC236}">
                <a16:creationId xmlns:a16="http://schemas.microsoft.com/office/drawing/2014/main" id="{1C58113B-6CBD-4355-8243-1F1D90C5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626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5" name="每次成交口數">
            <a:extLst xmlns:a="http://schemas.openxmlformats.org/drawingml/2006/main">
              <a:ext uri="{FF2B5EF4-FFF2-40B4-BE49-F238E27FC236}">
                <a16:creationId xmlns:a16="http://schemas.microsoft.com/office/drawing/2014/main" id="{A5350BF5-343E-46ED-A80E-9ADCE1CE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rPr>
              <a:t>每次成交口數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19125" y="2162175"/>
          <a:ext xmlns:a="http://schemas.openxmlformats.org/drawingml/2006/main" cx="7239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bd5b864cb4445e"/>
          </a:graphicData>
        </a:graphic>
      </p:graphicFrame>
      <p:sp>
        <p:nvSpPr>
          <p:cNvPr id="7" name="+2.5%">
            <a:extLst xmlns:a="http://schemas.openxmlformats.org/drawingml/2006/main">
              <a:ext uri="{FF2B5EF4-FFF2-40B4-BE49-F238E27FC236}">
                <a16:creationId xmlns:a16="http://schemas.microsoft.com/office/drawing/2014/main" id="{FFDB7DCF-2892-472D-995F-2010E453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097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+2.5%</a:t>
            </a:r>
          </a:p>
        </p:txBody>
      </p:sp>
      <p:sp>
        <p:nvSpPr>
          <p:cNvPr id="8" name="25 口">
            <a:extLst xmlns:a="http://schemas.openxmlformats.org/drawingml/2006/main">
              <a:ext uri="{FF2B5EF4-FFF2-40B4-BE49-F238E27FC236}">
                <a16:creationId xmlns:a16="http://schemas.microsoft.com/office/drawing/2014/main" id="{55A6FD00-42E1-43DD-B3F7-82D37325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552700"/>
            <a:ext cx="295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25 口</a:t>
            </a:r>
          </a:p>
        </p:txBody>
      </p:sp>
      <p:sp>
        <p:nvSpPr>
          <p:cNvPr id="9" name="報價 8.4 USDG">
            <a:extLst xmlns:a="http://schemas.openxmlformats.org/drawingml/2006/main">
              <a:ext uri="{FF2B5EF4-FFF2-40B4-BE49-F238E27FC236}">
                <a16:creationId xmlns:a16="http://schemas.microsoft.com/office/drawing/2014/main" id="{8CDA5BBE-0E06-492A-B5A2-0122BC06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171825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rPr>
              <a:t>報價 8.4 USDG</a:t>
            </a:r>
          </a:p>
        </p:txBody>
      </p:sp>
      <p:sp>
        <p:nvSpPr>
          <p:cNvPr id="10" name="+5.1%">
            <a:extLst xmlns:a="http://schemas.openxmlformats.org/drawingml/2006/main">
              <a:ext uri="{FF2B5EF4-FFF2-40B4-BE49-F238E27FC236}">
                <a16:creationId xmlns:a16="http://schemas.microsoft.com/office/drawing/2014/main" id="{DE28AED6-815D-4A08-B1AD-111F4371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1148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rPr>
              <a:t>+5.1%</a:t>
            </a:r>
          </a:p>
        </p:txBody>
      </p:sp>
      <p:sp>
        <p:nvSpPr>
          <p:cNvPr id="11" name="拒絕成交">
            <a:extLst xmlns:a="http://schemas.openxmlformats.org/drawingml/2006/main">
              <a:ext uri="{FF2B5EF4-FFF2-40B4-BE49-F238E27FC236}">
                <a16:creationId xmlns:a16="http://schemas.microsoft.com/office/drawing/2014/main" id="{C2C4DB2F-93D8-4B6F-AEA5-B4E96C42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61962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rPr>
              <a:t>拒絕成交</a:t>
            </a:r>
          </a:p>
        </p:txBody>
      </p:sp>
      <p:sp>
        <p:nvSpPr>
          <p:cNvPr id="12" name="示意：±5% 價格帶，中心 400、基本權利金 8（USDG）">
            <a:extLst xmlns:a="http://schemas.openxmlformats.org/drawingml/2006/main">
              <a:ext uri="{FF2B5EF4-FFF2-40B4-BE49-F238E27FC236}">
                <a16:creationId xmlns:a16="http://schemas.microsoft.com/office/drawing/2014/main" id="{B920A27B-8A00-4E30-8363-58ECBF92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388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rPr>
              <a:t>示意：±5% 價格帶，中心 400、基本權利金 8（USDG）</a:t>
            </a:r>
          </a:p>
        </p:txBody>
      </p:sp>
    </p:spTree>
    <p:extLst>
      <p:ext uri="{BB962C8B-B14F-4D97-AF65-F5344CB8AC3E}">
        <p14:creationId xmlns:p14="http://schemas.microsoft.com/office/powerpoint/2010/main" val="20490353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網站 demo 的三個檢查點">
            <a:extLst xmlns:a="http://schemas.openxmlformats.org/drawingml/2006/main">
              <a:ext uri="{FF2B5EF4-FFF2-40B4-BE49-F238E27FC236}">
                <a16:creationId xmlns:a16="http://schemas.microsoft.com/office/drawing/2014/main" id="{D2BE8E89-D09A-478E-A477-DB9E0C92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715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網站 demo 的三個檢查點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d173c50f7047e8">
            <a:extLst>
              <a:ext uri="{96DAC541-7B7A-43D3-8B79-37D633B846F1}">
                <asvg:svgBlip xmlns:asvg="http://schemas.microsoft.com/office/drawing/2016/SVG/main" r:embed="R808d7f08e3c1461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20077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3" name="Vexi Hakari">
            <a:extLst xmlns:a="http://schemas.openxmlformats.org/drawingml/2006/main">
              <a:ext uri="{FF2B5EF4-FFF2-40B4-BE49-F238E27FC236}">
                <a16:creationId xmlns:a16="http://schemas.microsoft.com/office/drawing/2014/main" id="{CAB1975F-4128-444F-849A-27573F07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1626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rPr>
              <a:t>Vexi Hakari</a:t>
            </a:r>
          </a:p>
        </p:txBody>
      </p:sp>
      <p:sp>
        <p:nvSpPr>
          <p:cNvPr id="4" name="5">
            <a:extLst xmlns:a="http://schemas.openxmlformats.org/drawingml/2006/main">
              <a:ext uri="{FF2B5EF4-FFF2-40B4-BE49-F238E27FC236}">
                <a16:creationId xmlns:a16="http://schemas.microsoft.com/office/drawing/2014/main" id="{CEE578A3-0184-486B-9E85-548A2495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626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5" name="05">
            <a:extLst xmlns:a="http://schemas.openxmlformats.org/drawingml/2006/main">
              <a:ext uri="{FF2B5EF4-FFF2-40B4-BE49-F238E27FC236}">
                <a16:creationId xmlns:a16="http://schemas.microsoft.com/office/drawing/2014/main" id="{252DC96B-2A26-48FB-9433-5F0F505D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62175"/>
            <a:ext cx="2571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6" name="抵押品進入">
            <a:extLst xmlns:a="http://schemas.openxmlformats.org/drawingml/2006/main">
              <a:ext uri="{FF2B5EF4-FFF2-40B4-BE49-F238E27FC236}">
                <a16:creationId xmlns:a16="http://schemas.microsoft.com/office/drawing/2014/main" id="{76509A29-B876-4FE8-9215-A2A17381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抵押品進入</a:t>
            </a:r>
          </a:p>
        </p:txBody>
      </p:sp>
      <p:sp>
        <p:nvSpPr>
          <p:cNvPr id="7" name="5 口 call + 3 口 put">
            <a:extLst xmlns:a="http://schemas.openxmlformats.org/drawingml/2006/main">
              <a:ext uri="{FF2B5EF4-FFF2-40B4-BE49-F238E27FC236}">
                <a16:creationId xmlns:a16="http://schemas.microsoft.com/office/drawing/2014/main" id="{15C2901E-1A0F-4C3E-A9D3-5D94C2C8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rPr>
              <a:t>5 口 call + 3 口 put</a:t>
            </a:r>
          </a:p>
        </p:txBody>
      </p:sp>
      <p:sp>
        <p:nvSpPr>
          <p:cNvPr id="8" name="07">
            <a:extLst xmlns:a="http://schemas.openxmlformats.org/drawingml/2006/main">
              <a:ext uri="{FF2B5EF4-FFF2-40B4-BE49-F238E27FC236}">
                <a16:creationId xmlns:a16="http://schemas.microsoft.com/office/drawing/2014/main" id="{2B2FFDB6-3851-4028-9F05-94076EC2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62175"/>
            <a:ext cx="2667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00" b="1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00" b="1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9" name="超出價格帶">
            <a:extLst xmlns:a="http://schemas.openxmlformats.org/drawingml/2006/main">
              <a:ext uri="{FF2B5EF4-FFF2-40B4-BE49-F238E27FC236}">
                <a16:creationId xmlns:a16="http://schemas.microsoft.com/office/drawing/2014/main" id="{0FC3CB1D-517C-48E1-96D8-A2C2098E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9567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超出價格帶</a:t>
            </a:r>
          </a:p>
        </p:txBody>
      </p:sp>
      <p:sp>
        <p:nvSpPr>
          <p:cNvPr id="10" name="買方資金不變">
            <a:extLst xmlns:a="http://schemas.openxmlformats.org/drawingml/2006/main">
              <a:ext uri="{FF2B5EF4-FFF2-40B4-BE49-F238E27FC236}">
                <a16:creationId xmlns:a16="http://schemas.microsoft.com/office/drawing/2014/main" id="{D96A6B9F-DB36-413F-A10A-2274B551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4337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rPr>
              <a:t>買方資金不變</a:t>
            </a:r>
          </a:p>
        </p:txBody>
      </p:sp>
      <p:sp>
        <p:nvSpPr>
          <p:cNvPr id="11" name="09">
            <a:extLst xmlns:a="http://schemas.openxmlformats.org/drawingml/2006/main">
              <a:ext uri="{FF2B5EF4-FFF2-40B4-BE49-F238E27FC236}">
                <a16:creationId xmlns:a16="http://schemas.microsoft.com/office/drawing/2014/main" id="{034DB4C2-6534-4B73-B310-13B340CF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62175"/>
            <a:ext cx="2667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00" b="1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00" b="1">
                <a:solidFill>
                  <a:srgbClr val="FF5470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12" name="報價已到期">
            <a:extLst xmlns:a="http://schemas.openxmlformats.org/drawingml/2006/main">
              <a:ext uri="{FF2B5EF4-FFF2-40B4-BE49-F238E27FC236}">
                <a16:creationId xmlns:a16="http://schemas.microsoft.com/office/drawing/2014/main" id="{F5603D0E-AEE5-453D-B358-50675B17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9567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報價已到期</a:t>
            </a:r>
          </a:p>
        </p:txBody>
      </p:sp>
      <p:sp>
        <p:nvSpPr>
          <p:cNvPr id="13" name="造市者必須更新">
            <a:extLst xmlns:a="http://schemas.openxmlformats.org/drawingml/2006/main">
              <a:ext uri="{FF2B5EF4-FFF2-40B4-BE49-F238E27FC236}">
                <a16:creationId xmlns:a16="http://schemas.microsoft.com/office/drawing/2014/main" id="{47D1F3AA-0E13-43D1-9347-48AC28BC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4337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rPr>
              <a:t>造市者必須更新</a:t>
            </a:r>
          </a:p>
        </p:txBody>
      </p:sp>
      <p:sp>
        <p:nvSpPr>
          <p:cNvPr id="14" name="開啟本機回放">
            <a:extLst xmlns:a="http://schemas.openxmlformats.org/drawingml/2006/main">
              <a:ext uri="{FF2B5EF4-FFF2-40B4-BE49-F238E27FC236}">
                <a16:creationId xmlns:a16="http://schemas.microsoft.com/office/drawing/2014/main" id="{40EE2882-E47A-474A-9CD3-3684F9C5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10287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 u="sng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5c11c7dc929541db"/>
              </a:rPr>
              <a:t>開啟本機回放</a:t>
            </a:r>
          </a:p>
        </p:txBody>
      </p:sp>
    </p:spTree>
    <p:extLst>
      <p:ext uri="{BB962C8B-B14F-4D97-AF65-F5344CB8AC3E}">
        <p14:creationId xmlns:p14="http://schemas.microsoft.com/office/powerpoint/2010/main" val="15388115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可重現的合約證據">
            <a:extLst xmlns:a="http://schemas.openxmlformats.org/drawingml/2006/main">
              <a:ext uri="{FF2B5EF4-FFF2-40B4-BE49-F238E27FC236}">
                <a16:creationId xmlns:a16="http://schemas.microsoft.com/office/drawing/2014/main" id="{3D9E7C36-7707-4D3D-95A8-BA3B6FF4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715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可重現的合約證據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d3e0d598b741ff">
            <a:extLst>
              <a:ext uri="{96DAC541-7B7A-43D3-8B79-37D633B846F1}">
                <asvg:svgBlip xmlns:asvg="http://schemas.microsoft.com/office/drawing/2016/SVG/main" r:embed="Rb5a61a6161fb422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20077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3" name="Vexi Hakari">
            <a:extLst xmlns:a="http://schemas.openxmlformats.org/drawingml/2006/main">
              <a:ext uri="{FF2B5EF4-FFF2-40B4-BE49-F238E27FC236}">
                <a16:creationId xmlns:a16="http://schemas.microsoft.com/office/drawing/2014/main" id="{BBE2DE20-ECBF-4241-A34B-257667BA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1626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rPr>
              <a:t>Vexi Hakari</a:t>
            </a:r>
          </a:p>
        </p:txBody>
      </p:sp>
      <p:sp>
        <p:nvSpPr>
          <p:cNvPr id="4" name="6">
            <a:extLst xmlns:a="http://schemas.openxmlformats.org/drawingml/2006/main">
              <a:ext uri="{FF2B5EF4-FFF2-40B4-BE49-F238E27FC236}">
                <a16:creationId xmlns:a16="http://schemas.microsoft.com/office/drawing/2014/main" id="{EE8DE1CF-CB89-4BD8-B5DD-4B06E054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626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5" name="15">
            <a:extLst xmlns:a="http://schemas.openxmlformats.org/drawingml/2006/main">
              <a:ext uri="{FF2B5EF4-FFF2-40B4-BE49-F238E27FC236}">
                <a16:creationId xmlns:a16="http://schemas.microsoft.com/office/drawing/2014/main" id="{EE3ED00C-E9A9-44AD-B276-9CAE6D42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276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6" name="連續流程步驟">
            <a:extLst xmlns:a="http://schemas.openxmlformats.org/drawingml/2006/main">
              <a:ext uri="{FF2B5EF4-FFF2-40B4-BE49-F238E27FC236}">
                <a16:creationId xmlns:a16="http://schemas.microsoft.com/office/drawing/2014/main" id="{BDD26FE1-597B-41F1-96F4-01CE2CC5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rPr>
              <a:t>連續流程步驟</a:t>
            </a:r>
          </a:p>
        </p:txBody>
      </p:sp>
      <p:sp>
        <p:nvSpPr>
          <p:cNvPr id="7" name="5">
            <a:extLst xmlns:a="http://schemas.openxmlformats.org/drawingml/2006/main">
              <a:ext uri="{FF2B5EF4-FFF2-40B4-BE49-F238E27FC236}">
                <a16:creationId xmlns:a16="http://schemas.microsoft.com/office/drawing/2014/main" id="{8185526C-9465-457F-B09F-565A7025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19275"/>
            <a:ext cx="276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8" name="已執行情境">
            <a:extLst xmlns:a="http://schemas.openxmlformats.org/drawingml/2006/main">
              <a:ext uri="{FF2B5EF4-FFF2-40B4-BE49-F238E27FC236}">
                <a16:creationId xmlns:a16="http://schemas.microsoft.com/office/drawing/2014/main" id="{75A84CAD-53A8-4F6B-A704-E146CF01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05150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rPr>
              <a:t>已執行情境</a:t>
            </a:r>
          </a:p>
        </p:txBody>
      </p:sp>
      <p:sp>
        <p:nvSpPr>
          <p:cNvPr id="9" name="0">
            <a:extLst xmlns:a="http://schemas.openxmlformats.org/drawingml/2006/main">
              <a:ext uri="{FF2B5EF4-FFF2-40B4-BE49-F238E27FC236}">
                <a16:creationId xmlns:a16="http://schemas.microsoft.com/office/drawing/2014/main" id="{963C7642-FB8F-40DD-8C72-D5DE6F17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19275"/>
            <a:ext cx="276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00" b="1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10" name="主網廣播">
            <a:extLst xmlns:a="http://schemas.openxmlformats.org/drawingml/2006/main">
              <a:ext uri="{FF2B5EF4-FFF2-40B4-BE49-F238E27FC236}">
                <a16:creationId xmlns:a16="http://schemas.microsoft.com/office/drawing/2014/main" id="{647C5C95-D768-44C6-9F88-AC2B1242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05150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A4A4AD"/>
                </a:solidFill>
                <a:latin typeface="Arial Unicode MS"/>
                <a:ea typeface="Arial Unicode MS"/>
                <a:cs typeface="Arial Unicode MS"/>
              </a:rPr>
              <a:t>主網廣播</a:t>
            </a:r>
          </a:p>
        </p:txBody>
      </p:sp>
      <p:sp>
        <p:nvSpPr>
          <p:cNvPr id="11" name="原始碼">
            <a:extLst xmlns:a="http://schemas.openxmlformats.org/drawingml/2006/main">
              <a:ext uri="{FF2B5EF4-FFF2-40B4-BE49-F238E27FC236}">
                <a16:creationId xmlns:a16="http://schemas.microsoft.com/office/drawing/2014/main" id="{9D39DAEB-BC0E-4643-BC14-D320C775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原始碼</a:t>
            </a:r>
          </a:p>
        </p:txBody>
      </p:sp>
      <p:sp>
        <p:nvSpPr>
          <p:cNvPr id="12" name="測試">
            <a:extLst xmlns:a="http://schemas.openxmlformats.org/drawingml/2006/main">
              <a:ext uri="{FF2B5EF4-FFF2-40B4-BE49-F238E27FC236}">
                <a16:creationId xmlns:a16="http://schemas.microsoft.com/office/drawing/2014/main" id="{7DEECB11-458F-4200-9503-7000B0E4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9100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測試</a:t>
            </a:r>
          </a:p>
        </p:txBody>
      </p:sp>
      <p:sp>
        <p:nvSpPr>
          <p:cNvPr id="13" name="JSON">
            <a:extLst xmlns:a="http://schemas.openxmlformats.org/drawingml/2006/main">
              <a:ext uri="{FF2B5EF4-FFF2-40B4-BE49-F238E27FC236}">
                <a16:creationId xmlns:a16="http://schemas.microsoft.com/office/drawing/2014/main" id="{D876F3E9-5437-4AE4-B17D-15B79BCC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9100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JSON</a:t>
            </a:r>
          </a:p>
        </p:txBody>
      </p:sp>
      <p:sp>
        <p:nvSpPr>
          <p:cNvPr id="14" name="網站">
            <a:extLst xmlns:a="http://schemas.openxmlformats.org/drawingml/2006/main">
              <a:ext uri="{FF2B5EF4-FFF2-40B4-BE49-F238E27FC236}">
                <a16:creationId xmlns:a16="http://schemas.microsoft.com/office/drawing/2014/main" id="{F7468910-AFA6-422C-B735-116034F8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19100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FAFAFA"/>
                </a:solidFill>
                <a:latin typeface="Arial Unicode MS"/>
                <a:ea typeface="Arial Unicode MS"/>
                <a:cs typeface="Arial Unicode MS"/>
              </a:rPr>
              <a:t>網站</a:t>
            </a:r>
          </a:p>
        </p:txBody>
      </p:sp>
      <p:cxnSp>
        <p:nvCxnSpPr>
          <p:cNvPr id="33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667000" y="4500563"/>
            <a:ext cx="1019175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A4A4AD"/>
            </a:solidFill>
            <a:prstDash val="solid"/>
            <a:tailEnd type="triangle" w="med" len="med"/>
          </a:ln>
        </p:spPr>
      </p:cxnSp>
      <p:cxnSp>
        <p:nvCxnSpPr>
          <p:cNvPr id="34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591175" y="4500563"/>
            <a:ext cx="1019175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A4A4AD"/>
            </a:solidFill>
            <a:prstDash val="solid"/>
            <a:tailEnd type="triangle" w="med" len="med"/>
          </a:ln>
        </p:spPr>
      </p:cxnSp>
      <p:cxnSp>
        <p:nvCxnSpPr>
          <p:cNvPr id="35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515350" y="4500563"/>
            <a:ext cx="1019175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A4A4AD"/>
            </a:solidFill>
            <a:prstDash val="solid"/>
            <a:tailEnd type="triangle" w="med" len="med"/>
          </a:ln>
        </p:spPr>
      </p:cxnSp>
      <p:sp>
        <p:nvSpPr>
          <p:cNvPr id="18" name="github.com/vexi-v1/vexi-hakari">
            <a:extLst xmlns:a="http://schemas.openxmlformats.org/drawingml/2006/main">
              <a:ext uri="{FF2B5EF4-FFF2-40B4-BE49-F238E27FC236}">
                <a16:creationId xmlns:a16="http://schemas.microsoft.com/office/drawing/2014/main" id="{881DE7B7-2C27-4D98-BECF-21D9431D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 u="sng">
                <a:solidFill>
                  <a:srgbClr val="37D67A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741188c4a9b94a08"/>
              </a:rPr>
              <a:t>github.com/vexi-v1/vexi-hakari</a:t>
            </a:r>
          </a:p>
        </p:txBody>
      </p:sp>
    </p:spTree>
    <p:extLst>
      <p:ext uri="{BB962C8B-B14F-4D97-AF65-F5344CB8AC3E}">
        <p14:creationId xmlns:p14="http://schemas.microsoft.com/office/powerpoint/2010/main" val="11596571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2026-09-26T20:25:17.5010000Z</dcterms:created>
  <dcterms:modified xsi:type="dcterms:W3CDTF">2026-09-26T20:25:17.5010000Z</dcterms:modified>
</coreProperties>
</file>