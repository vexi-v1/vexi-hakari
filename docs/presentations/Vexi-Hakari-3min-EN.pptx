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48b0422f87e4a42" /><Relationship Type="http://schemas.openxmlformats.org/officeDocument/2006/relationships/extended-properties" Target="/docProps/app.xml" Id="R08e454ebca4744c8" /><Relationship Type="http://schemas.openxmlformats.org/officeDocument/2006/relationships/officeDocument" Target="/ppt/presentation.xml" Id="Raba4acc5a0f34f40" /></Relationships>
</file>

<file path=ppt/presentation.xml><?xml version="1.0" encoding="utf-8"?>
<p:presentation xmlns:p="http://schemas.openxmlformats.org/presentationml/2006/main">
  <p:sldMasterIdLst>
    <p:sldMasterId xmlns:r="http://schemas.openxmlformats.org/officeDocument/2006/relationships" id="2147483648" r:id="R80c8c9d8b5034023"/>
  </p:sldMasterIdLst>
  <p:notesMasterIdLst>
    <p:notesMasterId xmlns:r="http://schemas.openxmlformats.org/officeDocument/2006/relationships" r:id="Rd117a6a471a942a8"/>
  </p:notesMasterIdLst>
  <p:sldIdLst>
    <p:sldId xmlns:r="http://schemas.openxmlformats.org/officeDocument/2006/relationships" id="256" r:id="Rfcf9e51ade124419"/>
    <p:sldId xmlns:r="http://schemas.openxmlformats.org/officeDocument/2006/relationships" id="257" r:id="Rbd34a37830294af8"/>
    <p:sldId xmlns:r="http://schemas.openxmlformats.org/officeDocument/2006/relationships" id="258" r:id="R61c2e8809a2043f9"/>
    <p:sldId xmlns:r="http://schemas.openxmlformats.org/officeDocument/2006/relationships" id="259" r:id="R159f2c137b5d49e0"/>
    <p:sldId xmlns:r="http://schemas.openxmlformats.org/officeDocument/2006/relationships" id="260" r:id="R8f9320cfc467415a"/>
    <p:sldId xmlns:r="http://schemas.openxmlformats.org/officeDocument/2006/relationships" id="261" r:id="R668bff2e205d40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e34636d8754038" /><Relationship Type="http://schemas.openxmlformats.org/officeDocument/2006/relationships/slideMaster" Target="/ppt/slideMasters/slideMaster1.xml" Id="R80c8c9d8b5034023" /><Relationship Type="http://schemas.openxmlformats.org/officeDocument/2006/relationships/notesMaster" Target="/ppt/notesMasters/notesMaster1.xml" Id="Rd117a6a471a942a8" /><Relationship Type="http://schemas.openxmlformats.org/officeDocument/2006/relationships/presProps" Target="/ppt/presProps.xml" Id="Re6f4d7c2705849cd" /><Relationship Type="http://schemas.openxmlformats.org/officeDocument/2006/relationships/tableStyles" Target="/ppt/tableStyles.xml" Id="R0a7375f05d8e4c45" /><Relationship Type="http://schemas.openxmlformats.org/officeDocument/2006/relationships/slide" Target="/ppt/slides/slide1.xml" Id="Rfcf9e51ade124419" /><Relationship Type="http://schemas.openxmlformats.org/officeDocument/2006/relationships/slide" Target="/ppt/slides/slide2.xml" Id="Rbd34a37830294af8" /><Relationship Type="http://schemas.openxmlformats.org/officeDocument/2006/relationships/slide" Target="/ppt/slides/slide3.xml" Id="R61c2e8809a2043f9" /><Relationship Type="http://schemas.openxmlformats.org/officeDocument/2006/relationships/slide" Target="/ppt/slides/slide4.xml" Id="R159f2c137b5d49e0" /><Relationship Type="http://schemas.openxmlformats.org/officeDocument/2006/relationships/slide" Target="/ppt/slides/slide5.xml" Id="R8f9320cfc467415a" /><Relationship Type="http://schemas.openxmlformats.org/officeDocument/2006/relationships/slide" Target="/ppt/slides/slide6.xml" Id="R668bff2e205d40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d75ed97a6648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3344b6e4ce408e" /><Relationship Type="http://schemas.openxmlformats.org/officeDocument/2006/relationships/notesMaster" Target="/ppt/notesMasters/notesMaster1.xml" Id="R37bdc2bff01e4f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7b35ec82f24b51" /><Relationship Type="http://schemas.openxmlformats.org/officeDocument/2006/relationships/notesMaster" Target="/ppt/notesMasters/notesMaster1.xml" Id="R6903c1ded0004a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eb80f664864ca4" /><Relationship Type="http://schemas.openxmlformats.org/officeDocument/2006/relationships/notesMaster" Target="/ppt/notesMasters/notesMaster1.xml" Id="R890955ed998147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c6e31f71694706" /><Relationship Type="http://schemas.openxmlformats.org/officeDocument/2006/relationships/notesMaster" Target="/ppt/notesMasters/notesMaster1.xml" Id="R113bdc92573a49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34bc88af8d441b" /><Relationship Type="http://schemas.openxmlformats.org/officeDocument/2006/relationships/notesMaster" Target="/ppt/notesMasters/notesMaster1.xml" Id="R3922c485881442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620f618fba4357" /><Relationship Type="http://schemas.openxmlformats.org/officeDocument/2006/relationships/notesMaster" Target="/ppt/notesMasters/notesMaster1.xml" Id="R1186f9e8c8fd41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a:t>
            </a:r>
          </a:p>
          <a:p xmlns:a="http://schemas.openxmlformats.org/drawingml/2006/main">
            <a:r>
              <a:t/>
            </a:r>
          </a:p>
          <a:p xmlns:a="http://schemas.openxmlformats.org/drawingml/2006/main">
            <a:r>
              <a:t>SCRIPT</a:t>
            </a:r>
          </a:p>
          <a:p xmlns:a="http://schemas.openxmlformats.org/drawingml/2006/main">
            <a:r>
              <a:t>Vexi Hakari connects options and spot trading to one maker wallet through Aqua. A Uniswap v4 reference controls when new option quotes stay available. I’ll show the fund movement and a real refused buy.</a:t>
            </a:r>
          </a:p>
          <a:p xmlns:a="http://schemas.openxmlformats.org/drawingml/2006/main">
            <a:r>
              <a:t/>
            </a:r>
          </a:p>
          <a:p xmlns:a="http://schemas.openxmlformats.org/drawingml/2006/main">
            <a:r>
              <a:t>ACTION</a:t>
            </a:r>
          </a:p>
          <a:p xmlns:a="http://schemas.openxmlformats.org/drawingml/2006/main">
            <a:r>
              <a:t>Keep the browser open at the local English replay before presenting.</a:t>
            </a:r>
          </a:p>
          <a:p xmlns:a="http://schemas.openxmlformats.org/drawingml/2006/main">
            <a:r>
              <a:t/>
            </a:r>
          </a:p>
          <a:p xmlns:a="http://schemas.openxmlformats.org/drawingml/2006/main">
            <a:r>
              <a:t>SOURCE AND SCOPE</a:t>
            </a:r>
          </a:p>
          <a:p xmlns:a="http://schemas.openxmlformats.org/drawingml/2006/main">
            <a:r>
              <a:t>docs/website.md; website/app.js; website/vexi-logo.svg</a:t>
            </a:r>
          </a:p>
          <a:p xmlns:a="http://schemas.openxmlformats.org/drawingml/2006/main">
            <a:r>
              <a:t>Repository: https://github.com/vexi-v1/vexi-hakari</a:t>
            </a:r>
          </a:p>
          <a:p xmlns:a="http://schemas.openxmlformats.org/drawingml/2006/main">
            <a:r>
              <a:t>Evidence base revision: 4df6d7bf44d70195e3d9012758eeddd3b66e91d5</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0:15–0:45</a:t>
            </a:r>
          </a:p>
          <a:p xmlns:a="http://schemas.openxmlformats.org/drawingml/2006/main">
            <a:r>
              <a:t/>
            </a:r>
          </a:p>
          <a:p xmlns:a="http://schemas.openxmlformats.org/drawingml/2006/main">
            <a:r>
              <a:t>SCRIPT</a:t>
            </a:r>
          </a:p>
          <a:p xmlns:a="http://schemas.openxmlformats.org/drawingml/2006/main">
            <a:r>
              <a:t>The maker starts with 30 TSLA and 20,000 USDG. Aqua registers an options strategy and a guarded SwapVM spot strategy against that same wallet. Shipping strategies and posting orders move no tokens. The spot guard excludes inventory already promised to options. These virtual balances describe permissions and accounting. They are not extra assets.</a:t>
            </a:r>
          </a:p>
          <a:p xmlns:a="http://schemas.openxmlformats.org/drawingml/2006/main">
            <a:r>
              <a:t/>
            </a:r>
          </a:p>
          <a:p xmlns:a="http://schemas.openxmlformats.org/drawingml/2006/main">
            <a:r>
              <a:t>ACTION</a:t>
            </a:r>
          </a:p>
          <a:p xmlns:a="http://schemas.openxmlformats.org/drawingml/2006/main">
            <a:r>
              <a:t>Point at the single wallet, then follow the two Aqua branches. The oracle connection controls the option quote policy.</a:t>
            </a:r>
          </a:p>
          <a:p xmlns:a="http://schemas.openxmlformats.org/drawingml/2006/main">
            <a:r>
              <a:t/>
            </a:r>
          </a:p>
          <a:p xmlns:a="http://schemas.openxmlformats.org/drawingml/2006/main">
            <a:r>
              <a:t>SOURCE AND SCOPE</a:t>
            </a:r>
          </a:p>
          <a:p xmlns:a="http://schemas.openxmlformats.org/drawingml/2006/main">
            <a:r>
              <a:t>docs/website.md steps 1–4; website/evidence/demo.json lifecycle initial, ship, post, spot</a:t>
            </a:r>
          </a:p>
          <a:p xmlns:a="http://schemas.openxmlformats.org/drawingml/2006/main">
            <a:r>
              <a:t>Repository: https://github.com/vexi-v1/vexi-hakari</a:t>
            </a:r>
          </a:p>
          <a:p xmlns:a="http://schemas.openxmlformats.org/drawingml/2006/main">
            <a:r>
              <a:t>Evidence base revision: 4df6d7bf44d70195e3d9012758eeddd3b66e91d5</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0:45–1:15</a:t>
            </a:r>
          </a:p>
          <a:p xmlns:a="http://schemas.openxmlformats.org/drawingml/2006/main">
            <a:r>
              <a:t/>
            </a:r>
          </a:p>
          <a:p xmlns:a="http://schemas.openxmlformats.org/drawingml/2006/main">
            <a:r>
              <a:t>SCRIPT</a:t>
            </a:r>
          </a:p>
          <a:p xmlns:a="http://schemas.openxmlformats.org/drawingml/2006/main">
            <a:r>
              <a:t>Here the buyer fills five calls and three puts at a 400 USDG strike. Aqua pulls exactly five TSLA and 1,200 USDG from the maker into the book. The buyer separately pays 64.0064 USDG in total premiums and receives the long positions. Unfilled promises remain in the wallet. This is the point where a promise becomes funded collateral.</a:t>
            </a:r>
          </a:p>
          <a:p xmlns:a="http://schemas.openxmlformats.org/drawingml/2006/main">
            <a:r>
              <a:t/>
            </a:r>
          </a:p>
          <a:p xmlns:a="http://schemas.openxmlformats.org/drawingml/2006/main">
            <a:r>
              <a:t>ACTION</a:t>
            </a:r>
          </a:p>
          <a:p xmlns:a="http://schemas.openxmlformats.org/drawingml/2006/main">
            <a:r>
              <a:t>Trace the maker-to-Aqua-to-book flow. Keep collateral separate from the buyer’s premium. Aqua.pull is the transfer mechanism, not an additional custody account.</a:t>
            </a:r>
          </a:p>
          <a:p xmlns:a="http://schemas.openxmlformats.org/drawingml/2006/main">
            <a:r>
              <a:t/>
            </a:r>
          </a:p>
          <a:p xmlns:a="http://schemas.openxmlformats.org/drawingml/2006/main">
            <a:r>
              <a:t>SOURCE AND SCOPE</a:t>
            </a:r>
          </a:p>
          <a:p xmlns:a="http://schemas.openxmlformats.org/drawingml/2006/main">
            <a:r>
              <a:t>website/evidence/demo.json lifecycle spot and buy; aqua/test/WebsiteEvidence.t.sol test_WebsiteLifecycle</a:t>
            </a:r>
          </a:p>
          <a:p xmlns:a="http://schemas.openxmlformats.org/drawingml/2006/main">
            <a:r>
              <a:t>Repository: https://github.com/vexi-v1/vexi-hakari</a:t>
            </a:r>
          </a:p>
          <a:p xmlns:a="http://schemas.openxmlformats.org/drawingml/2006/main">
            <a:r>
              <a:t>Evidence base revision: 4df6d7bf44d70195e3d9012758eeddd3b66e91d5</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1:15–1:55</a:t>
            </a:r>
          </a:p>
          <a:p xmlns:a="http://schemas.openxmlformats.org/drawingml/2006/main">
            <a:r>
              <a:t/>
            </a:r>
          </a:p>
          <a:p xmlns:a="http://schemas.openxmlformats.org/drawingml/2006/main">
            <a:r>
              <a:t>SCRIPT</a:t>
            </a:r>
          </a:p>
          <a:p xmlns:a="http://schemas.openxmlformats.org/drawingml/2006/main">
            <a:r>
              <a:t>The public policy uses a fixed five-percent band around a rolling TWAP. This chart is the website’s illustrative calculator: a 400 USDG center and an 8 USDG base premium. At the center, the cap is 50 contracts per call. Halfway to the edge, the cap becomes 25 and the ask becomes 8.4. At 5.1 percent, the buy is refused. Deadlines, anchors and available collateral still apply.</a:t>
            </a:r>
          </a:p>
          <a:p xmlns:a="http://schemas.openxmlformats.org/drawingml/2006/main">
            <a:r>
              <a:t/>
            </a:r>
          </a:p>
          <a:p xmlns:a="http://schemas.openxmlformats.org/drawingml/2006/main">
            <a:r>
              <a:t>ACTION</a:t>
            </a:r>
          </a:p>
          <a:p xmlns:a="http://schemas.openxmlformats.org/drawingml/2006/main">
            <a:r>
              <a:t>Point from the chart peak to +2.5%, then to the refused example. The cap is per call, not a cumulative risk limit.</a:t>
            </a:r>
          </a:p>
          <a:p xmlns:a="http://schemas.openxmlformats.org/drawingml/2006/main">
            <a:r>
              <a:t/>
            </a:r>
          </a:p>
          <a:p xmlns:a="http://schemas.openxmlformats.org/drawingml/2006/main">
            <a:r>
              <a:t>SOURCE AND SCOPE</a:t>
            </a:r>
          </a:p>
          <a:p xmlns:a="http://schemas.openxmlformats.org/drawingml/2006/main">
            <a:r>
              <a:t>website/band.mjs calculateBand; website/app.js renderLab; fixed example assumes readable observations, liquidity and raw/truncated agreement</a:t>
            </a:r>
          </a:p>
          <a:p xmlns:a="http://schemas.openxmlformats.org/drawingml/2006/main">
            <a:r>
              <a:t>Repository: https://github.com/vexi-v1/vexi-hakari</a:t>
            </a:r>
          </a:p>
          <a:p xmlns:a="http://schemas.openxmlformats.org/drawingml/2006/main">
            <a:r>
              <a:t>Evidence base revision: 4df6d7bf44d70195e3d9012758eeddd3b66e91d5</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1:55–2:45</a:t>
            </a:r>
          </a:p>
          <a:p xmlns:a="http://schemas.openxmlformats.org/drawingml/2006/main">
            <a:r>
              <a:t/>
            </a:r>
          </a:p>
          <a:p xmlns:a="http://schemas.openxmlformats.org/drawingml/2006/main">
            <a:r>
              <a:t>SCRIPT</a:t>
            </a:r>
          </a:p>
          <a:p xmlns:a="http://schemas.openxmlformats.org/drawingml/2006/main">
            <a:r>
              <a:t>Let’s use the recorded contract replay. Step five shows collateral entering the book. Step seven attempts another buy outside the band. It reverts, and the buyer’s USDG and positions stay unchanged. Step nine shows why recovery alone is not enough: the band is open, but the original quote has expired. The maker must explicitly renew its terms.</a:t>
            </a:r>
          </a:p>
          <a:p xmlns:a="http://schemas.openxmlformats.org/drawingml/2006/main">
            <a:r>
              <a:t/>
            </a:r>
          </a:p>
          <a:p xmlns:a="http://schemas.openxmlformats.org/drawingml/2006/main">
            <a:r>
              <a:t>ACTION</a:t>
            </a:r>
          </a:p>
          <a:p xmlns:a="http://schemas.openxmlformats.org/drawingml/2006/main">
            <a:r>
              <a:t>Click Open local replay. Select 05 Promises become collateral, then 07 The book actually refuses, then 09 An open band is not enough. Leave about 20 seconds total for switching and clicks. If the browser is unavailable, present the three checkpoints on this slide. Return to the deck for the close.</a:t>
            </a:r>
          </a:p>
          <a:p xmlns:a="http://schemas.openxmlformats.org/drawingml/2006/main">
            <a:r>
              <a:t/>
            </a:r>
          </a:p>
          <a:p xmlns:a="http://schemas.openxmlformats.org/drawingml/2006/main">
            <a:r>
              <a:t>SOURCE AND SCOPE</a:t>
            </a:r>
          </a:p>
          <a:p xmlns:a="http://schemas.openxmlformats.org/drawingml/2006/main">
            <a:r>
              <a:t>website/evidence/demo.json lifecycle buy, pause, expired; recorded balances and EVM refusal assertions. Local URL http://127.0.0.1:8787/?lang=en#replay</a:t>
            </a:r>
          </a:p>
          <a:p xmlns:a="http://schemas.openxmlformats.org/drawingml/2006/main">
            <a:r>
              <a:t>Repository: https://github.com/vexi-v1/vexi-hakari</a:t>
            </a:r>
          </a:p>
          <a:p xmlns:a="http://schemas.openxmlformats.org/drawingml/2006/main">
            <a:r>
              <a:t>Evidence base revision: 4df6d7bf44d70195e3d9012758eeddd3b66e91d5</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2:45–3:00</a:t>
            </a:r>
          </a:p>
          <a:p xmlns:a="http://schemas.openxmlformats.org/drawingml/2006/main">
            <a:r>
              <a:t/>
            </a:r>
          </a:p>
          <a:p xmlns:a="http://schemas.openxmlformats.org/drawingml/2006/main">
            <a:r>
              <a:t>SCRIPT</a:t>
            </a:r>
          </a:p>
          <a:p xmlns:a="http://schemas.openxmlformats.org/drawingml/2006/main">
            <a:r>
              <a:t>The evidence covers 15 lifecycle steps and five tested scenarios on a pinned local fork. No mainnet transactions are broadcast. The repository includes the source and instructions to reproduce it.</a:t>
            </a:r>
          </a:p>
          <a:p xmlns:a="http://schemas.openxmlformats.org/drawingml/2006/main">
            <a:r>
              <a:t/>
            </a:r>
          </a:p>
          <a:p xmlns:a="http://schemas.openxmlformats.org/drawingml/2006/main">
            <a:r>
              <a:t>ACTION</a:t>
            </a:r>
          </a:p>
          <a:p xmlns:a="http://schemas.openxmlformats.org/drawingml/2006/main">
            <a:r>
              <a:t>Finish on the repository link. Do not extend into settlement or adverse-case detail during the three-minute version.</a:t>
            </a:r>
          </a:p>
          <a:p xmlns:a="http://schemas.openxmlformats.org/drawingml/2006/main">
            <a:r>
              <a:t/>
            </a:r>
          </a:p>
          <a:p xmlns:a="http://schemas.openxmlformats.org/drawingml/2006/main">
            <a:r>
              <a:t>SOURCE AND SCOPE</a:t>
            </a:r>
          </a:p>
          <a:p xmlns:a="http://schemas.openxmlformats.org/drawingml/2006/main">
            <a:r>
              <a:t>docs/website.md; website/evidence/demo.json; scripts/website-evidence.py; scripts/build-website.py. Scope: local EVM integration, synthetic pool history, experimental settlement, no claim of fair expiry value or production readiness. Aqua © Degensoft Ltd 2025. Powered by SwapVM © Degensoft Ltd 2025.</a:t>
            </a:r>
          </a:p>
          <a:p xmlns:a="http://schemas.openxmlformats.org/drawingml/2006/main">
            <a:r>
              <a:t>Repository: https://github.com/vexi-v1/vexi-hakari</a:t>
            </a:r>
          </a:p>
          <a:p xmlns:a="http://schemas.openxmlformats.org/drawingml/2006/main">
            <a:r>
              <a:t>Evidence base revision: 4df6d7bf44d70195e3d9012758eeddd3b66e91d5</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2ae21d6d0e48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4138f094074b95" /><Relationship Type="http://schemas.openxmlformats.org/officeDocument/2006/relationships/slideLayout" Target="/ppt/slideLayouts/slideLayout1.xml" Id="R8f9fc6789fcf43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9fc6789fcf43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b80b5e41fa40b9" /><Relationship Type="http://schemas.openxmlformats.org/officeDocument/2006/relationships/image" Target="/ppt/media/image.png" Id="Rcd5d4843b09a4083" /><Relationship Type="http://schemas.openxmlformats.org/officeDocument/2006/relationships/image" Target="/ppt/media/image.svg" Id="R027922752b7a4e04" /><Relationship Type="http://schemas.openxmlformats.org/officeDocument/2006/relationships/notesSlide" Target="/ppt/notesSlides/notesSlide1.xml" Id="R50ff142f22934a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6c6d38c8794df4" /><Relationship Type="http://schemas.openxmlformats.org/officeDocument/2006/relationships/image" Target="/ppt/media/image2.png" Id="Rb0187ec9af5a443f" /><Relationship Type="http://schemas.openxmlformats.org/officeDocument/2006/relationships/image" Target="/ppt/media/image2.svg" Id="R3f58802cdfec4181" /><Relationship Type="http://schemas.openxmlformats.org/officeDocument/2006/relationships/notesSlide" Target="/ppt/notesSlides/notesSlide2.xml" Id="R6bd4bec12b8341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0fe1c2077d4ac1" /><Relationship Type="http://schemas.openxmlformats.org/officeDocument/2006/relationships/image" Target="/ppt/media/image3.png" Id="R5260b97006e242e8" /><Relationship Type="http://schemas.openxmlformats.org/officeDocument/2006/relationships/image" Target="/ppt/media/image3.svg" Id="R6083bd64fb914e54" /><Relationship Type="http://schemas.openxmlformats.org/officeDocument/2006/relationships/notesSlide" Target="/ppt/notesSlides/notesSlide3.xml" Id="R270f631e1f034f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fd715b2902840b1" /><Relationship Type="http://schemas.openxmlformats.org/officeDocument/2006/relationships/image" Target="/ppt/media/image4.png" Id="R0921c5e6a7584a8a" /><Relationship Type="http://schemas.openxmlformats.org/officeDocument/2006/relationships/image" Target="/ppt/media/image4.svg" Id="Ra61bf786a005443e" /><Relationship Type="http://schemas.openxmlformats.org/officeDocument/2006/relationships/chart" Target="/ppt/slides/charts/chart1.xml" Id="R99e3d1cf25c44b7a" /><Relationship Type="http://schemas.openxmlformats.org/officeDocument/2006/relationships/notesSlide" Target="/ppt/notesSlides/notesSlide4.xml" Id="R0942e2a848ce49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7bb2ec3460486d" /><Relationship Type="http://schemas.openxmlformats.org/officeDocument/2006/relationships/image" Target="/ppt/media/image5.png" Id="R2b4e24f71e674c1c" /><Relationship Type="http://schemas.openxmlformats.org/officeDocument/2006/relationships/image" Target="/ppt/media/image5.svg" Id="R1834f9231ff74cde" /><Relationship Type="http://schemas.openxmlformats.org/officeDocument/2006/relationships/hyperlink" Target="http://127.0.0.1:8787/?lang=en#replay" TargetMode="External" Id="R681f72026f2c4b36" /><Relationship Type="http://schemas.openxmlformats.org/officeDocument/2006/relationships/notesSlide" Target="/ppt/notesSlides/notesSlide5.xml" Id="R30dfb98b3b1942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7c197d8fe74d6c" /><Relationship Type="http://schemas.openxmlformats.org/officeDocument/2006/relationships/image" Target="/ppt/media/image6.png" Id="R8fbcad5f2c0745b9" /><Relationship Type="http://schemas.openxmlformats.org/officeDocument/2006/relationships/image" Target="/ppt/media/image6.svg" Id="R27305b8970b242ab" /><Relationship Type="http://schemas.openxmlformats.org/officeDocument/2006/relationships/hyperlink" Target="https://github.com/vexi-v1/vexi-hakari" TargetMode="External" Id="Rb075a29e08814a59" /><Relationship Type="http://schemas.openxmlformats.org/officeDocument/2006/relationships/notesSlide" Target="/ppt/notesSlides/notesSlide6.xml" Id="R54f2190e6408477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Size cap</c:v>
          </c:tx>
          <c:spPr>
            <a:solidFill xmlns:a="http://schemas.openxmlformats.org/drawingml/2006/main">
              <a:srgbClr val="37D67A"/>
            </a:solidFill>
            <a:ln xmlns:a="http://schemas.openxmlformats.org/drawingml/2006/main" w="38100">
              <a:solidFill>
                <a:srgbClr val="37D67A"/>
              </a:solidFill>
            </a:ln>
          </c:spPr>
          <c:marker>
            <c:symbol val="circle"/>
            <c:size val="8"/>
            <c:spPr>
              <a:solidFill xmlns:a="http://schemas.openxmlformats.org/drawingml/2006/main">
                <a:srgbClr val="37D67A"/>
              </a:solidFill>
            </c:spPr>
          </c:marker>
          <c:cat>
            <c:strRef>
              <c:f>'Chart Data'!$A$2:$A$6</c:f>
              <c:strCache>
                <c:ptCount val="5"/>
                <c:pt idx="0">
                  <c:v>−5%</c:v>
                </c:pt>
                <c:pt idx="1">
                  <c:v>−2.5%</c:v>
                </c:pt>
                <c:pt idx="2">
                  <c:v>0%</c:v>
                </c:pt>
                <c:pt idx="3">
                  <c:v>+2.5%</c:v>
                </c:pt>
                <c:pt idx="4">
                  <c:v>+5%</c:v>
                </c:pt>
              </c:strCache>
            </c:strRef>
          </c:cat>
          <c:val>
            <c:numRef>
              <c:f>'Chart Data'!$B$2:$B$6</c:f>
              <c:numCache>
                <c:formatCode>0</c:formatCode>
                <c:ptCount val="5"/>
                <c:pt idx="0">
                  <c:v>0</c:v>
                </c:pt>
                <c:pt idx="1">
                  <c:v>25</c:v>
                </c:pt>
                <c:pt idx="2">
                  <c:v>50</c:v>
                </c:pt>
                <c:pt idx="3">
                  <c:v>25</c:v>
                </c:pt>
                <c:pt idx="4">
                  <c:v>0</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38383F"/>
            </a:solidFill>
          </a:ln>
        </c:spPr>
        <c:txPr>
          <a:bodyPr xmlns:a="http://schemas.openxmlformats.org/drawingml/2006/main" anchorCtr="1"/>
          <a:lstStyle xmlns:a="http://schemas.openxmlformats.org/drawingml/2006/main"/>
          <a:p xmlns:a="http://schemas.openxmlformats.org/drawingml/2006/main">
            <a:pPr>
              <a:defRPr sz="1650">
                <a:solidFill>
                  <a:srgbClr val="A4A4AD"/>
                </a:solidFill>
                <a:latin typeface="Helvetica Neue"/>
                <a:ea typeface="Helvetica Neue"/>
                <a:cs typeface="Helvetica Neue"/>
              </a:defRPr>
            </a:pPr>
          </a:p>
        </c:txPr>
        <c:crossAx val="48672768"/>
      </c:catAx>
      <c:valAx>
        <c:axId val="48672768"/>
        <c:scaling>
          <c:orientation val="minMax"/>
          <c:max val="50"/>
          <c:min val="0"/>
        </c:scaling>
        <c:delete val="0"/>
        <c:axPos val="l"/>
        <c:majorGridlines>
          <c:spPr>
            <a:ln xmlns:a="http://schemas.openxmlformats.org/drawingml/2006/main" w="7144">
              <a:solidFill>
                <a:srgbClr val="38383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A4A4AD"/>
                </a:solidFill>
                <a:latin typeface="Helvetica Neue"/>
                <a:ea typeface="Helvetica Neue"/>
                <a:cs typeface="Helvetica Neue"/>
              </a:defRPr>
            </a:pPr>
          </a:p>
        </c:txPr>
        <c:crossAx val="48650112"/>
        <c:crossBetween val="between"/>
        <c:majorUnit val="25"/>
      </c:valAx>
      <c:spPr>
        <a:solidFill xmlns:a="http://schemas.openxmlformats.org/drawingml/2006/main">
          <a:srgbClr val="08080A"/>
        </a:solidFill>
        <a:ln xmlns:a="http://schemas.openxmlformats.org/drawingml/2006/main" w="0">
          <a:noFill/>
        </a:ln>
      </c:spPr>
    </c:plotArea>
    <c:plotVisOnly val="1"/>
  </c:chart>
  <c:spPr>
    <a:solidFill xmlns:a="http://schemas.openxmlformats.org/drawingml/2006/main">
      <a:srgbClr val="08080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d5d4843b09a4083">
            <a:extLst>
              <a:ext uri="{96DAC541-7B7A-43D3-8B79-37D633B846F1}">
                <asvg:svgBlip xmlns:asvg="http://schemas.microsoft.com/office/drawing/2016/SVG/main" r:embed="R027922752b7a4e04"/>
              </a:ext>
            </a:extLst>
          </a:blip>
          <a:stretch xmlns:a="http://schemas.openxmlformats.org/drawingml/2006/main"/>
        </p:blipFill>
        <p:spPr>
          <a:xfrm xmlns:a="http://schemas.openxmlformats.org/drawingml/2006/main">
            <a:off x="8724900" y="2324100"/>
            <a:ext cx="2438400" cy="2438400"/>
          </a:xfrm>
          <a:prstGeom xmlns:a="http://schemas.openxmlformats.org/drawingml/2006/main" prst="rect">
            <a:avLst/>
          </a:prstGeom>
        </p:spPr>
      </p:pic>
      <p:sp>
        <p:nvSpPr>
          <p:cNvPr id="2" name="Vexi Hakari">
            <a:extLst xmlns:a="http://schemas.openxmlformats.org/drawingml/2006/main">
              <a:ext uri="{FF2B5EF4-FFF2-40B4-BE49-F238E27FC236}">
                <a16:creationId xmlns:a16="http://schemas.microsoft.com/office/drawing/2014/main" id="{77DAF44C-A875-4121-A1F7-D1F75B8BCEC3}"/>
              </a:ext>
            </a:extLst>
          </p:cNvPr>
          <p:cNvSpPr>
            <a:spLocks xmlns:a="http://schemas.openxmlformats.org/drawingml/2006/main" noGrp="1"/>
          </p:cNvSpPr>
          <p:nvPr/>
        </p:nvSpPr>
        <p:spPr>
          <a:xfrm xmlns:a="http://schemas.openxmlformats.org/drawingml/2006/main">
            <a:off x="609600" y="1952625"/>
            <a:ext cx="790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6300" b="1">
                <a:solidFill>
                  <a:srgbClr val="FAFAFA"/>
                </a:solidFill>
                <a:latin typeface="Helvetica Neue"/>
                <a:ea typeface="Helvetica Neue"/>
                <a:cs typeface="Helvetica Neue"/>
              </a:defRPr>
            </a:pPr>
            <a:r>
              <a:rPr sz="6300" b="1">
                <a:solidFill>
                  <a:srgbClr val="FAFAFA"/>
                </a:solidFill>
                <a:latin typeface="Helvetica Neue"/>
                <a:ea typeface="Helvetica Neue"/>
                <a:cs typeface="Helvetica Neue"/>
              </a:rPr>
              <a:t>Vexi Hakari</a:t>
            </a:r>
          </a:p>
        </p:txBody>
      </p:sp>
      <p:sp>
        <p:nvSpPr>
          <p:cNvPr id="3" name="Options + spot">
            <a:extLst xmlns:a="http://schemas.openxmlformats.org/drawingml/2006/main">
              <a:ext uri="{FF2B5EF4-FFF2-40B4-BE49-F238E27FC236}">
                <a16:creationId xmlns:a16="http://schemas.microsoft.com/office/drawing/2014/main" id="{269D9637-BD4B-40FB-A7AC-34CB31F8045C}"/>
              </a:ext>
            </a:extLst>
          </p:cNvPr>
          <p:cNvSpPr>
            <a:spLocks xmlns:a="http://schemas.openxmlformats.org/drawingml/2006/main" noGrp="1"/>
          </p:cNvSpPr>
          <p:nvPr/>
        </p:nvSpPr>
        <p:spPr>
          <a:xfrm xmlns:a="http://schemas.openxmlformats.org/drawingml/2006/main">
            <a:off x="647700" y="3238500"/>
            <a:ext cx="752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450" b="1">
                <a:solidFill>
                  <a:srgbClr val="37D67A"/>
                </a:solidFill>
                <a:latin typeface="Helvetica Neue"/>
                <a:ea typeface="Helvetica Neue"/>
                <a:cs typeface="Helvetica Neue"/>
              </a:defRPr>
            </a:pPr>
            <a:r>
              <a:rPr sz="3450" b="1">
                <a:solidFill>
                  <a:srgbClr val="37D67A"/>
                </a:solidFill>
                <a:latin typeface="Helvetica Neue"/>
                <a:ea typeface="Helvetica Neue"/>
                <a:cs typeface="Helvetica Neue"/>
              </a:rPr>
              <a:t>Options + spot</a:t>
            </a:r>
          </a:p>
        </p:txBody>
      </p:sp>
      <p:sp>
        <p:nvSpPr>
          <p:cNvPr id="4" name="One maker wallet">
            <a:extLst xmlns:a="http://schemas.openxmlformats.org/drawingml/2006/main">
              <a:ext uri="{FF2B5EF4-FFF2-40B4-BE49-F238E27FC236}">
                <a16:creationId xmlns:a16="http://schemas.microsoft.com/office/drawing/2014/main" id="{FF39DA12-BF3F-401E-98D5-A70192D1ADA4}"/>
              </a:ext>
            </a:extLst>
          </p:cNvPr>
          <p:cNvSpPr>
            <a:spLocks xmlns:a="http://schemas.openxmlformats.org/drawingml/2006/main" noGrp="1"/>
          </p:cNvSpPr>
          <p:nvPr/>
        </p:nvSpPr>
        <p:spPr>
          <a:xfrm xmlns:a="http://schemas.openxmlformats.org/drawingml/2006/main">
            <a:off x="647700" y="3905250"/>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0">
                <a:solidFill>
                  <a:srgbClr val="A4A4AD"/>
                </a:solidFill>
                <a:latin typeface="Helvetica Neue"/>
                <a:ea typeface="Helvetica Neue"/>
                <a:cs typeface="Helvetica Neue"/>
              </a:defRPr>
            </a:pPr>
            <a:r>
              <a:rPr sz="2700" b="0">
                <a:solidFill>
                  <a:srgbClr val="A4A4AD"/>
                </a:solidFill>
                <a:latin typeface="Helvetica Neue"/>
                <a:ea typeface="Helvetica Neue"/>
                <a:cs typeface="Helvetica Neue"/>
              </a:rPr>
              <a:t>One maker wallet</a:t>
            </a:r>
          </a:p>
        </p:txBody>
      </p:sp>
      <p:sp>
        <p:nvSpPr>
          <p:cNvPr id="5" name="3-minute public demo">
            <a:extLst xmlns:a="http://schemas.openxmlformats.org/drawingml/2006/main">
              <a:ext uri="{FF2B5EF4-FFF2-40B4-BE49-F238E27FC236}">
                <a16:creationId xmlns:a16="http://schemas.microsoft.com/office/drawing/2014/main" id="{1D244B95-EBEF-4EB9-B500-94867277C7F4}"/>
              </a:ext>
            </a:extLst>
          </p:cNvPr>
          <p:cNvSpPr>
            <a:spLocks xmlns:a="http://schemas.openxmlformats.org/drawingml/2006/main" noGrp="1"/>
          </p:cNvSpPr>
          <p:nvPr/>
        </p:nvSpPr>
        <p:spPr>
          <a:xfrm xmlns:a="http://schemas.openxmlformats.org/drawingml/2006/main">
            <a:off x="647700" y="54673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A4A4AD"/>
                </a:solidFill>
                <a:latin typeface="Helvetica Neue"/>
                <a:ea typeface="Helvetica Neue"/>
                <a:cs typeface="Helvetica Neue"/>
              </a:defRPr>
            </a:pPr>
            <a:r>
              <a:rPr sz="1800" b="0">
                <a:solidFill>
                  <a:srgbClr val="A4A4AD"/>
                </a:solidFill>
                <a:latin typeface="Helvetica Neue"/>
                <a:ea typeface="Helvetica Neue"/>
                <a:cs typeface="Helvetica Neue"/>
              </a:rPr>
              <a:t>3-minute public demo</a:t>
            </a:r>
          </a:p>
        </p:txBody>
      </p:sp>
      <p:sp>
        <p:nvSpPr>
          <p:cNvPr id="6" name="ETHGlobal Tokyo 2026">
            <a:extLst xmlns:a="http://schemas.openxmlformats.org/drawingml/2006/main">
              <a:ext uri="{FF2B5EF4-FFF2-40B4-BE49-F238E27FC236}">
                <a16:creationId xmlns:a16="http://schemas.microsoft.com/office/drawing/2014/main" id="{8595E3F8-65C6-4EE6-8475-809162C79156}"/>
              </a:ext>
            </a:extLst>
          </p:cNvPr>
          <p:cNvSpPr>
            <a:spLocks xmlns:a="http://schemas.openxmlformats.org/drawingml/2006/main" noGrp="1"/>
          </p:cNvSpPr>
          <p:nvPr/>
        </p:nvSpPr>
        <p:spPr>
          <a:xfrm xmlns:a="http://schemas.openxmlformats.org/drawingml/2006/main">
            <a:off x="647700" y="604837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4A4AD"/>
                </a:solidFill>
                <a:latin typeface="Helvetica Neue"/>
                <a:ea typeface="Helvetica Neue"/>
                <a:cs typeface="Helvetica Neue"/>
              </a:defRPr>
            </a:pPr>
            <a:r>
              <a:rPr sz="1575" b="0">
                <a:solidFill>
                  <a:srgbClr val="A4A4AD"/>
                </a:solidFill>
                <a:latin typeface="Helvetica Neue"/>
                <a:ea typeface="Helvetica Neue"/>
                <a:cs typeface="Helvetica Neue"/>
              </a:rPr>
              <a:t>ETHGlobal Tokyo 2026</a:t>
            </a:r>
          </a:p>
        </p:txBody>
      </p:sp>
    </p:spTree>
    <p:extLst>
      <p:ext uri="{BB962C8B-B14F-4D97-AF65-F5344CB8AC3E}">
        <p14:creationId xmlns:p14="http://schemas.microsoft.com/office/powerpoint/2010/main" val="1419563726"/>
      </p:ext>
    </p:extLst>
  </p:cSld>
</p:sld>
</file>

<file path=ppt/slides/slide2.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8" name="One wallet, two strategies">
            <a:extLst xmlns:a="http://schemas.openxmlformats.org/drawingml/2006/main">
              <a:ext uri="{FF2B5EF4-FFF2-40B4-BE49-F238E27FC236}">
                <a16:creationId xmlns:a16="http://schemas.microsoft.com/office/drawing/2014/main" id="{2D375449-587A-4C08-9070-4B14C3A3EC54}"/>
              </a:ext>
            </a:extLst>
          </p:cNvPr>
          <p:cNvSpPr>
            <a:spLocks xmlns:a="http://schemas.openxmlformats.org/drawingml/2006/main" noGrp="1"/>
          </p:cNvSpPr>
          <p:nvPr/>
        </p:nvSpPr>
        <p:spPr>
          <a:xfrm xmlns:a="http://schemas.openxmlformats.org/drawingml/2006/main">
            <a:off x="6096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450" b="1">
                <a:solidFill>
                  <a:srgbClr val="FAFAFA"/>
                </a:solidFill>
                <a:latin typeface="Helvetica Neue"/>
                <a:ea typeface="Helvetica Neue"/>
                <a:cs typeface="Helvetica Neue"/>
              </a:defRPr>
            </a:pPr>
            <a:r>
              <a:rPr sz="3450" b="1">
                <a:solidFill>
                  <a:srgbClr val="FAFAFA"/>
                </a:solidFill>
                <a:latin typeface="Helvetica Neue"/>
                <a:ea typeface="Helvetica Neue"/>
                <a:cs typeface="Helvetica Neue"/>
              </a:rPr>
              <a:t>One wallet, two strategies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0187ec9af5a443f">
            <a:extLst>
              <a:ext uri="{96DAC541-7B7A-43D3-8B79-37D633B846F1}">
                <asvg:svgBlip xmlns:asvg="http://schemas.microsoft.com/office/drawing/2016/SVG/main" r:embed="R3f58802cdfec4181"/>
              </a:ext>
            </a:extLst>
          </a:blip>
          <a:stretch xmlns:a="http://schemas.openxmlformats.org/drawingml/2006/main"/>
        </p:blipFill>
        <p:spPr>
          <a:xfrm xmlns:a="http://schemas.openxmlformats.org/drawingml/2006/main">
            <a:off x="609600" y="6200775"/>
            <a:ext cx="247650" cy="24765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7EB51F0D-0A97-4EFC-8BB4-DD2AD4A061A2}"/>
              </a:ext>
            </a:extLst>
          </p:cNvPr>
          <p:cNvSpPr>
            <a:spLocks xmlns:a="http://schemas.openxmlformats.org/drawingml/2006/main" noGrp="1"/>
          </p:cNvSpPr>
          <p:nvPr/>
        </p:nvSpPr>
        <p:spPr>
          <a:xfrm xmlns:a="http://schemas.openxmlformats.org/drawingml/2006/main">
            <a:off x="962025" y="61626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A4A4AD"/>
                </a:solidFill>
                <a:latin typeface="Helvetica Neue"/>
                <a:ea typeface="Helvetica Neue"/>
                <a:cs typeface="Helvetica Neue"/>
              </a:defRPr>
            </a:pPr>
            <a:r>
              <a:rPr sz="1350" b="0">
                <a:solidFill>
                  <a:srgbClr val="A4A4AD"/>
                </a:solidFill>
                <a:latin typeface="Helvetica Neue"/>
                <a:ea typeface="Helvetica Neue"/>
                <a:cs typeface="Helvetica Neue"/>
              </a:rPr>
              <a:t>Vexi Hakari</a:t>
            </a:r>
          </a:p>
        </p:txBody>
      </p:sp>
      <p:sp>
        <p:nvSpPr>
          <p:cNvPr id="4" name="2">
            <a:extLst xmlns:a="http://schemas.openxmlformats.org/drawingml/2006/main">
              <a:ext uri="{FF2B5EF4-FFF2-40B4-BE49-F238E27FC236}">
                <a16:creationId xmlns:a16="http://schemas.microsoft.com/office/drawing/2014/main" id="{654A9C27-5247-47F4-B4AF-B472E83C98FA}"/>
              </a:ext>
            </a:extLst>
          </p:cNvPr>
          <p:cNvSpPr>
            <a:spLocks xmlns:a="http://schemas.openxmlformats.org/drawingml/2006/main" noGrp="1"/>
          </p:cNvSpPr>
          <p:nvPr/>
        </p:nvSpPr>
        <p:spPr>
          <a:xfrm xmlns:a="http://schemas.openxmlformats.org/drawingml/2006/main">
            <a:off x="11049000" y="61626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350" b="0">
                <a:solidFill>
                  <a:srgbClr val="A4A4AD"/>
                </a:solidFill>
                <a:latin typeface="Helvetica Neue"/>
                <a:ea typeface="Helvetica Neue"/>
                <a:cs typeface="Helvetica Neue"/>
              </a:defRPr>
            </a:pPr>
            <a:r>
              <a:rPr sz="1350" b="0">
                <a:solidFill>
                  <a:srgbClr val="A4A4AD"/>
                </a:solidFill>
                <a:latin typeface="Helvetica Neue"/>
                <a:ea typeface="Helvetica Neue"/>
                <a:cs typeface="Helvetica Neue"/>
              </a:rPr>
              <a:t>2</a:t>
            </a:r>
          </a:p>
        </p:txBody>
      </p:sp>
      <p:sp>
        <p:nvSpPr>
          <p:cNvPr id="5" name="">
            <a:extLst xmlns:a="http://schemas.openxmlformats.org/drawingml/2006/main">
              <a:ext uri="{FF2B5EF4-FFF2-40B4-BE49-F238E27FC236}">
                <a16:creationId xmlns:a16="http://schemas.microsoft.com/office/drawing/2014/main" id="{6E96C1EE-9A59-4ADE-9651-77011175808F}"/>
              </a:ext>
            </a:extLst>
          </p:cNvPr>
          <p:cNvSpPr>
            <a:spLocks xmlns:a="http://schemas.openxmlformats.org/drawingml/2006/main" noGrp="1"/>
          </p:cNvSpPr>
          <p:nvPr/>
        </p:nvSpPr>
        <p:spPr>
          <a:xfrm xmlns:a="http://schemas.openxmlformats.org/drawingml/2006/main">
            <a:off x="685800" y="2933700"/>
            <a:ext cx="2857500" cy="1219200"/>
          </a:xfrm>
          <a:prstGeom xmlns:a="http://schemas.openxmlformats.org/drawingml/2006/main" prst="rect">
            <a:avLst/>
          </a:prstGeom>
          <a:solidFill xmlns:a="http://schemas.openxmlformats.org/drawingml/2006/main">
            <a:srgbClr val="08080A"/>
          </a:solidFill>
          <a:ln xmlns:a="http://schemas.openxmlformats.org/drawingml/2006/main" w="15240">
            <a:solidFill>
              <a:srgbClr val="FAFAF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400" b="1">
                <a:solidFill>
                  <a:srgbClr val="FAFAFA"/>
                </a:solidFill>
                <a:latin typeface="Helvetica Neue"/>
                <a:ea typeface="Helvetica Neue"/>
                <a:cs typeface="Helvetica Neue"/>
              </a:defRPr>
            </a:pPr>
            <a:r>
              <a:rPr sz="2400" b="1">
                <a:solidFill>
                  <a:srgbClr val="FAFAFA"/>
                </a:solidFill>
                <a:latin typeface="Helvetica Neue"/>
                <a:ea typeface="Helvetica Neue"/>
                <a:cs typeface="Helvetica Neue"/>
              </a:rPr>
              <a:t>Maker wallet</a:t>
            </a:r>
          </a:p>
        </p:txBody>
      </p:sp>
      <p:sp>
        <p:nvSpPr>
          <p:cNvPr id="6" name="30 TSLA + 20,000 USDG">
            <a:extLst xmlns:a="http://schemas.openxmlformats.org/drawingml/2006/main">
              <a:ext uri="{FF2B5EF4-FFF2-40B4-BE49-F238E27FC236}">
                <a16:creationId xmlns:a16="http://schemas.microsoft.com/office/drawing/2014/main" id="{1CEC6C17-CAEC-4BBF-BBA4-A186E1C8B538}"/>
              </a:ext>
            </a:extLst>
          </p:cNvPr>
          <p:cNvSpPr>
            <a:spLocks xmlns:a="http://schemas.openxmlformats.org/drawingml/2006/main" noGrp="1"/>
          </p:cNvSpPr>
          <p:nvPr/>
        </p:nvSpPr>
        <p:spPr>
          <a:xfrm xmlns:a="http://schemas.openxmlformats.org/drawingml/2006/main">
            <a:off x="685800" y="4286250"/>
            <a:ext cx="319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A4A4AD"/>
                </a:solidFill>
                <a:latin typeface="Helvetica Neue"/>
                <a:ea typeface="Helvetica Neue"/>
                <a:cs typeface="Helvetica Neue"/>
              </a:defRPr>
            </a:pPr>
            <a:r>
              <a:rPr sz="1875" b="0">
                <a:solidFill>
                  <a:srgbClr val="A4A4AD"/>
                </a:solidFill>
                <a:latin typeface="Helvetica Neue"/>
                <a:ea typeface="Helvetica Neue"/>
                <a:cs typeface="Helvetica Neue"/>
              </a:rPr>
              <a:t>30 TSLA + 20,000 USDG</a:t>
            </a:r>
          </a:p>
        </p:txBody>
      </p:sp>
      <p:sp>
        <p:nvSpPr>
          <p:cNvPr id="7" name="">
            <a:extLst xmlns:a="http://schemas.openxmlformats.org/drawingml/2006/main">
              <a:ext uri="{FF2B5EF4-FFF2-40B4-BE49-F238E27FC236}">
                <a16:creationId xmlns:a16="http://schemas.microsoft.com/office/drawing/2014/main" id="{E3A42026-8DF2-4BD9-91DA-39104671159F}"/>
              </a:ext>
            </a:extLst>
          </p:cNvPr>
          <p:cNvSpPr>
            <a:spLocks xmlns:a="http://schemas.openxmlformats.org/drawingml/2006/main" noGrp="1"/>
          </p:cNvSpPr>
          <p:nvPr/>
        </p:nvSpPr>
        <p:spPr>
          <a:xfrm xmlns:a="http://schemas.openxmlformats.org/drawingml/2006/main">
            <a:off x="4724400" y="3067050"/>
            <a:ext cx="2095500" cy="971550"/>
          </a:xfrm>
          <a:prstGeom xmlns:a="http://schemas.openxmlformats.org/drawingml/2006/main" prst="rect">
            <a:avLst/>
          </a:prstGeom>
          <a:solidFill xmlns:a="http://schemas.openxmlformats.org/drawingml/2006/main">
            <a:srgbClr val="08080A"/>
          </a:solidFill>
          <a:ln xmlns:a="http://schemas.openxmlformats.org/drawingml/2006/main" w="15240">
            <a:solidFill>
              <a:srgbClr val="37D67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700" b="1">
                <a:solidFill>
                  <a:srgbClr val="37D67A"/>
                </a:solidFill>
                <a:latin typeface="Helvetica Neue"/>
                <a:ea typeface="Helvetica Neue"/>
                <a:cs typeface="Helvetica Neue"/>
              </a:defRPr>
            </a:pPr>
            <a:r>
              <a:rPr sz="2700" b="1">
                <a:solidFill>
                  <a:srgbClr val="37D67A"/>
                </a:solidFill>
                <a:latin typeface="Helvetica Neue"/>
                <a:ea typeface="Helvetica Neue"/>
                <a:cs typeface="Helvetica Neue"/>
              </a:rPr>
              <a:t>Aqua</a:t>
            </a:r>
          </a:p>
        </p:txBody>
      </p:sp>
      <p:sp>
        <p:nvSpPr>
          <p:cNvPr id="8" name="">
            <a:extLst xmlns:a="http://schemas.openxmlformats.org/drawingml/2006/main">
              <a:ext uri="{FF2B5EF4-FFF2-40B4-BE49-F238E27FC236}">
                <a16:creationId xmlns:a16="http://schemas.microsoft.com/office/drawing/2014/main" id="{B340FB61-8D23-4ECC-8896-97E7D4AA6088}"/>
              </a:ext>
            </a:extLst>
          </p:cNvPr>
          <p:cNvSpPr>
            <a:spLocks xmlns:a="http://schemas.openxmlformats.org/drawingml/2006/main" noGrp="1"/>
          </p:cNvSpPr>
          <p:nvPr/>
        </p:nvSpPr>
        <p:spPr>
          <a:xfrm xmlns:a="http://schemas.openxmlformats.org/drawingml/2006/main">
            <a:off x="8334375" y="3067050"/>
            <a:ext cx="3095625" cy="971550"/>
          </a:xfrm>
          <a:prstGeom xmlns:a="http://schemas.openxmlformats.org/drawingml/2006/main" prst="rect">
            <a:avLst/>
          </a:prstGeom>
          <a:solidFill xmlns:a="http://schemas.openxmlformats.org/drawingml/2006/main">
            <a:srgbClr val="08080A"/>
          </a:solidFill>
          <a:ln xmlns:a="http://schemas.openxmlformats.org/drawingml/2006/main" w="15240">
            <a:solidFill>
              <a:srgbClr val="37D67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550" b="1">
                <a:solidFill>
                  <a:srgbClr val="37D67A"/>
                </a:solidFill>
                <a:latin typeface="Helvetica Neue"/>
                <a:ea typeface="Helvetica Neue"/>
                <a:cs typeface="Helvetica Neue"/>
              </a:defRPr>
            </a:pPr>
            <a:r>
              <a:rPr sz="2550" b="1">
                <a:solidFill>
                  <a:srgbClr val="37D67A"/>
                </a:solidFill>
                <a:latin typeface="Helvetica Neue"/>
                <a:ea typeface="Helvetica Neue"/>
                <a:cs typeface="Helvetica Neue"/>
              </a:rPr>
              <a:t>Options</a:t>
            </a:r>
          </a:p>
        </p:txBody>
      </p:sp>
      <p:sp>
        <p:nvSpPr>
          <p:cNvPr id="9" name="">
            <a:extLst xmlns:a="http://schemas.openxmlformats.org/drawingml/2006/main">
              <a:ext uri="{FF2B5EF4-FFF2-40B4-BE49-F238E27FC236}">
                <a16:creationId xmlns:a16="http://schemas.microsoft.com/office/drawing/2014/main" id="{EF7A794B-121C-438B-944A-EF971D349D95}"/>
              </a:ext>
            </a:extLst>
          </p:cNvPr>
          <p:cNvSpPr>
            <a:spLocks xmlns:a="http://schemas.openxmlformats.org/drawingml/2006/main" noGrp="1"/>
          </p:cNvSpPr>
          <p:nvPr/>
        </p:nvSpPr>
        <p:spPr>
          <a:xfrm xmlns:a="http://schemas.openxmlformats.org/drawingml/2006/main">
            <a:off x="8334375" y="4695825"/>
            <a:ext cx="3095625" cy="971550"/>
          </a:xfrm>
          <a:prstGeom xmlns:a="http://schemas.openxmlformats.org/drawingml/2006/main" prst="rect">
            <a:avLst/>
          </a:prstGeom>
          <a:solidFill xmlns:a="http://schemas.openxmlformats.org/drawingml/2006/main">
            <a:srgbClr val="08080A"/>
          </a:solidFill>
          <a:ln xmlns:a="http://schemas.openxmlformats.org/drawingml/2006/main" w="15240">
            <a:solidFill>
              <a:srgbClr val="FAFAF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250" b="1">
                <a:solidFill>
                  <a:srgbClr val="FAFAFA"/>
                </a:solidFill>
                <a:latin typeface="Helvetica Neue"/>
                <a:ea typeface="Helvetica Neue"/>
                <a:cs typeface="Helvetica Neue"/>
              </a:defRPr>
            </a:pPr>
            <a:r>
              <a:rPr sz="2250" b="1">
                <a:solidFill>
                  <a:srgbClr val="FAFAFA"/>
                </a:solidFill>
                <a:latin typeface="Helvetica Neue"/>
                <a:ea typeface="Helvetica Neue"/>
                <a:cs typeface="Helvetica Neue"/>
              </a:rPr>
              <a:t>Guarded SwapVM</a:t>
            </a:r>
          </a:p>
        </p:txBody>
      </p:sp>
      <p:sp>
        <p:nvSpPr>
          <p:cNvPr id="10" name="Uniswap v4 reference">
            <a:extLst xmlns:a="http://schemas.openxmlformats.org/drawingml/2006/main">
              <a:ext uri="{FF2B5EF4-FFF2-40B4-BE49-F238E27FC236}">
                <a16:creationId xmlns:a16="http://schemas.microsoft.com/office/drawing/2014/main" id="{2FAC6200-8EBB-4807-8F52-BD60D4E5B9B7}"/>
              </a:ext>
            </a:extLst>
          </p:cNvPr>
          <p:cNvSpPr>
            <a:spLocks xmlns:a="http://schemas.openxmlformats.org/drawingml/2006/main" noGrp="1"/>
          </p:cNvSpPr>
          <p:nvPr/>
        </p:nvSpPr>
        <p:spPr>
          <a:xfrm xmlns:a="http://schemas.openxmlformats.org/drawingml/2006/main">
            <a:off x="8334375" y="161925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FF007A"/>
                </a:solidFill>
                <a:latin typeface="Helvetica Neue"/>
                <a:ea typeface="Helvetica Neue"/>
                <a:cs typeface="Helvetica Neue"/>
              </a:defRPr>
            </a:pPr>
            <a:r>
              <a:rPr sz="1950" b="1">
                <a:solidFill>
                  <a:srgbClr val="FF007A"/>
                </a:solidFill>
                <a:latin typeface="Helvetica Neue"/>
                <a:ea typeface="Helvetica Neue"/>
                <a:cs typeface="Helvetica Neue"/>
              </a:rPr>
              <a:t>Uniswap v4 reference</a:t>
            </a:r>
          </a:p>
        </p:txBody>
      </p:sp>
      <p:cxnSp>
        <p:nvCxnSpPr>
          <p:cNvPr id="28" name=""/>
          <p:cNvCxnSpPr>
            <a:stCxn xmlns:a="http://schemas.openxmlformats.org/drawingml/2006/main" id="5" idx="3"/>
            <a:endCxn xmlns:a="http://schemas.openxmlformats.org/drawingml/2006/main" id="7" idx="1"/>
          </p:cNvCxnSpPr>
          <p:nvPr/>
        </p:nvCxnSpPr>
        <p:spPr>
          <a:xfrm xmlns:a="http://schemas.openxmlformats.org/drawingml/2006/main">
            <a:off x="3543300" y="3543300"/>
            <a:ext cx="1181100" cy="9525"/>
          </a:xfrm>
          <a:prstGeom xmlns:a="http://schemas.openxmlformats.org/drawingml/2006/main" prst="straightConnector1">
            <a:avLst/>
          </a:prstGeom>
          <a:ln xmlns:a="http://schemas.openxmlformats.org/drawingml/2006/main" w="24765">
            <a:solidFill>
              <a:srgbClr val="37D67A"/>
            </a:solidFill>
            <a:prstDash val="solid"/>
            <a:tailEnd type="triangle" w="med" len="med"/>
          </a:ln>
        </p:spPr>
      </p:cxnSp>
      <p:cxnSp>
        <p:nvCxnSpPr>
          <p:cNvPr id="29" name=""/>
          <p:cNvCxnSpPr>
            <a:stCxn xmlns:a="http://schemas.openxmlformats.org/drawingml/2006/main" id="7" idx="3"/>
            <a:endCxn xmlns:a="http://schemas.openxmlformats.org/drawingml/2006/main" id="8" idx="1"/>
          </p:cNvCxnSpPr>
          <p:nvPr/>
        </p:nvCxnSpPr>
        <p:spPr>
          <a:xfrm xmlns:a="http://schemas.openxmlformats.org/drawingml/2006/main">
            <a:off x="6819900" y="3552825"/>
            <a:ext cx="1514475" cy="0"/>
          </a:xfrm>
          <a:prstGeom xmlns:a="http://schemas.openxmlformats.org/drawingml/2006/main" prst="straightConnector1">
            <a:avLst/>
          </a:prstGeom>
          <a:ln xmlns:a="http://schemas.openxmlformats.org/drawingml/2006/main" w="24765">
            <a:solidFill>
              <a:srgbClr val="37D67A"/>
            </a:solidFill>
            <a:prstDash val="solid"/>
            <a:tailEnd type="triangle" w="med" len="med"/>
          </a:ln>
        </p:spPr>
      </p:cxnSp>
      <p:cxnSp>
        <p:nvCxnSpPr>
          <p:cNvPr id="30" name=""/>
          <p:cNvCxnSpPr>
            <a:stCxn xmlns:a="http://schemas.openxmlformats.org/drawingml/2006/main" id="7" idx="2"/>
            <a:endCxn xmlns:a="http://schemas.openxmlformats.org/drawingml/2006/main" id="9" idx="1"/>
          </p:cNvCxnSpPr>
          <p:nvPr/>
        </p:nvCxnSpPr>
        <p:spPr>
          <a:xfrm xmlns:a="http://schemas.openxmlformats.org/drawingml/2006/main">
            <a:off x="5772150" y="4038600"/>
            <a:ext cx="2562225" cy="1143000"/>
          </a:xfrm>
          <a:prstGeom xmlns:a="http://schemas.openxmlformats.org/drawingml/2006/main" prst="bentConnector5">
            <a:avLst>
              <a:gd name="adj1" fmla="val 0"/>
              <a:gd name="adj2" fmla="val 20000"/>
              <a:gd name="adj3" fmla="val 91078"/>
            </a:avLst>
          </a:prstGeom>
          <a:ln xmlns:a="http://schemas.openxmlformats.org/drawingml/2006/main" w="24765">
            <a:solidFill>
              <a:srgbClr val="37D67A"/>
            </a:solidFill>
            <a:prstDash val="solid"/>
            <a:tailEnd type="triangle" w="med" len="med"/>
          </a:ln>
        </p:spPr>
      </p:cxnSp>
      <p:cxnSp>
        <p:nvCxnSpPr>
          <p:cNvPr id="31" name=""/>
          <p:cNvCxnSpPr>
            <a:stCxn xmlns:a="http://schemas.openxmlformats.org/drawingml/2006/main" id="10" idx="2"/>
            <a:endCxn xmlns:a="http://schemas.openxmlformats.org/drawingml/2006/main" id="8" idx="0"/>
          </p:cNvCxnSpPr>
          <p:nvPr/>
        </p:nvCxnSpPr>
        <p:spPr>
          <a:xfrm xmlns:a="http://schemas.openxmlformats.org/drawingml/2006/main">
            <a:off x="9882188" y="2190750"/>
            <a:ext cx="0" cy="876300"/>
          </a:xfrm>
          <a:prstGeom xmlns:a="http://schemas.openxmlformats.org/drawingml/2006/main" prst="straightConnector1">
            <a:avLst/>
          </a:prstGeom>
          <a:ln xmlns:a="http://schemas.openxmlformats.org/drawingml/2006/main" w="24765">
            <a:solidFill>
              <a:srgbClr val="FF007A"/>
            </a:solidFill>
            <a:prstDash val="solid"/>
            <a:tailEnd type="triangle" w="med" len="med"/>
          </a:ln>
        </p:spPr>
      </p:cxnSp>
      <p:sp>
        <p:nvSpPr>
          <p:cNvPr id="15" name="Quote policy">
            <a:extLst xmlns:a="http://schemas.openxmlformats.org/drawingml/2006/main">
              <a:ext uri="{FF2B5EF4-FFF2-40B4-BE49-F238E27FC236}">
                <a16:creationId xmlns:a16="http://schemas.microsoft.com/office/drawing/2014/main" id="{2FDA29AB-9DD8-4523-95C1-4620FEEF2EB5}"/>
              </a:ext>
            </a:extLst>
          </p:cNvPr>
          <p:cNvSpPr>
            <a:spLocks xmlns:a="http://schemas.openxmlformats.org/drawingml/2006/main" noGrp="1"/>
          </p:cNvSpPr>
          <p:nvPr/>
        </p:nvSpPr>
        <p:spPr>
          <a:xfrm xmlns:a="http://schemas.openxmlformats.org/drawingml/2006/main">
            <a:off x="10010775" y="2571750"/>
            <a:ext cx="1466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A4A4AD"/>
                </a:solidFill>
                <a:latin typeface="Helvetica Neue"/>
                <a:ea typeface="Helvetica Neue"/>
                <a:cs typeface="Helvetica Neue"/>
              </a:defRPr>
            </a:pPr>
            <a:r>
              <a:rPr sz="1500" b="0">
                <a:solidFill>
                  <a:srgbClr val="A4A4AD"/>
                </a:solidFill>
                <a:latin typeface="Helvetica Neue"/>
                <a:ea typeface="Helvetica Neue"/>
                <a:cs typeface="Helvetica Neue"/>
              </a:rPr>
              <a:t>Quote policy</a:t>
            </a:r>
          </a:p>
        </p:txBody>
      </p:sp>
      <p:sp>
        <p:nvSpPr>
          <p:cNvPr id="16" name="Virtual allocations">
            <a:extLst xmlns:a="http://schemas.openxmlformats.org/drawingml/2006/main">
              <a:ext uri="{FF2B5EF4-FFF2-40B4-BE49-F238E27FC236}">
                <a16:creationId xmlns:a16="http://schemas.microsoft.com/office/drawing/2014/main" id="{90AABB25-9509-48A0-9FD7-83FE4F8A04AB}"/>
              </a:ext>
            </a:extLst>
          </p:cNvPr>
          <p:cNvSpPr>
            <a:spLocks xmlns:a="http://schemas.openxmlformats.org/drawingml/2006/main" noGrp="1"/>
          </p:cNvSpPr>
          <p:nvPr/>
        </p:nvSpPr>
        <p:spPr>
          <a:xfrm xmlns:a="http://schemas.openxmlformats.org/drawingml/2006/main">
            <a:off x="4476750" y="24765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A4A4AD"/>
                </a:solidFill>
                <a:latin typeface="Helvetica Neue"/>
                <a:ea typeface="Helvetica Neue"/>
                <a:cs typeface="Helvetica Neue"/>
              </a:defRPr>
            </a:pPr>
            <a:r>
              <a:rPr sz="1650" b="0">
                <a:solidFill>
                  <a:srgbClr val="A4A4AD"/>
                </a:solidFill>
                <a:latin typeface="Helvetica Neue"/>
                <a:ea typeface="Helvetica Neue"/>
                <a:cs typeface="Helvetica Neue"/>
              </a:rPr>
              <a:t>Virtual allocations</a:t>
            </a:r>
          </a:p>
        </p:txBody>
      </p:sp>
      <p:sp>
        <p:nvSpPr>
          <p:cNvPr id="17" name="Tokens stay in the wallet until a trade fills">
            <a:extLst xmlns:a="http://schemas.openxmlformats.org/drawingml/2006/main">
              <a:ext uri="{FF2B5EF4-FFF2-40B4-BE49-F238E27FC236}">
                <a16:creationId xmlns:a16="http://schemas.microsoft.com/office/drawing/2014/main" id="{FD06E15F-EA3F-4023-943C-C48CAE53CF90}"/>
              </a:ext>
            </a:extLst>
          </p:cNvPr>
          <p:cNvSpPr>
            <a:spLocks xmlns:a="http://schemas.openxmlformats.org/drawingml/2006/main" noGrp="1"/>
          </p:cNvSpPr>
          <p:nvPr/>
        </p:nvSpPr>
        <p:spPr>
          <a:xfrm xmlns:a="http://schemas.openxmlformats.org/drawingml/2006/main">
            <a:off x="685800" y="5362575"/>
            <a:ext cx="6800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37D67A"/>
                </a:solidFill>
                <a:latin typeface="Helvetica Neue"/>
                <a:ea typeface="Helvetica Neue"/>
                <a:cs typeface="Helvetica Neue"/>
              </a:defRPr>
            </a:pPr>
            <a:r>
              <a:rPr sz="2250" b="0">
                <a:solidFill>
                  <a:srgbClr val="37D67A"/>
                </a:solidFill>
                <a:latin typeface="Helvetica Neue"/>
                <a:ea typeface="Helvetica Neue"/>
                <a:cs typeface="Helvetica Neue"/>
              </a:rPr>
              <a:t>Tokens stay in the wallet until a trade fills</a:t>
            </a:r>
          </a:p>
        </p:txBody>
      </p:sp>
    </p:spTree>
    <p:extLst>
      <p:ext uri="{BB962C8B-B14F-4D97-AF65-F5344CB8AC3E}">
        <p14:creationId xmlns:p14="http://schemas.microsoft.com/office/powerpoint/2010/main" val="2136272664"/>
      </p:ext>
    </p:extLst>
  </p:cSld>
</p:sld>
</file>

<file path=ppt/slides/slide3.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4" name="Collateral moves at the fill">
            <a:extLst xmlns:a="http://schemas.openxmlformats.org/drawingml/2006/main">
              <a:ext uri="{FF2B5EF4-FFF2-40B4-BE49-F238E27FC236}">
                <a16:creationId xmlns:a16="http://schemas.microsoft.com/office/drawing/2014/main" id="{F90CF3F2-A8CA-47A7-874D-CF7B4E2B325A}"/>
              </a:ext>
            </a:extLst>
          </p:cNvPr>
          <p:cNvSpPr>
            <a:spLocks xmlns:a="http://schemas.openxmlformats.org/drawingml/2006/main" noGrp="1"/>
          </p:cNvSpPr>
          <p:nvPr/>
        </p:nvSpPr>
        <p:spPr>
          <a:xfrm xmlns:a="http://schemas.openxmlformats.org/drawingml/2006/main">
            <a:off x="6096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450" b="1">
                <a:solidFill>
                  <a:srgbClr val="FAFAFA"/>
                </a:solidFill>
                <a:latin typeface="Helvetica Neue"/>
                <a:ea typeface="Helvetica Neue"/>
                <a:cs typeface="Helvetica Neue"/>
              </a:defRPr>
            </a:pPr>
            <a:r>
              <a:rPr sz="3450" b="1">
                <a:solidFill>
                  <a:srgbClr val="FAFAFA"/>
                </a:solidFill>
                <a:latin typeface="Helvetica Neue"/>
                <a:ea typeface="Helvetica Neue"/>
                <a:cs typeface="Helvetica Neue"/>
              </a:rPr>
              <a:t>Collateral moves at the fill</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260b97006e242e8">
            <a:extLst>
              <a:ext uri="{96DAC541-7B7A-43D3-8B79-37D633B846F1}">
                <asvg:svgBlip xmlns:asvg="http://schemas.microsoft.com/office/drawing/2016/SVG/main" r:embed="R6083bd64fb914e54"/>
              </a:ext>
            </a:extLst>
          </a:blip>
          <a:stretch xmlns:a="http://schemas.openxmlformats.org/drawingml/2006/main"/>
        </p:blipFill>
        <p:spPr>
          <a:xfrm xmlns:a="http://schemas.openxmlformats.org/drawingml/2006/main">
            <a:off x="609600" y="6200775"/>
            <a:ext cx="247650" cy="24765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4EEB7F5F-EB1E-4632-8899-B7B1C11250DF}"/>
              </a:ext>
            </a:extLst>
          </p:cNvPr>
          <p:cNvSpPr>
            <a:spLocks xmlns:a="http://schemas.openxmlformats.org/drawingml/2006/main" noGrp="1"/>
          </p:cNvSpPr>
          <p:nvPr/>
        </p:nvSpPr>
        <p:spPr>
          <a:xfrm xmlns:a="http://schemas.openxmlformats.org/drawingml/2006/main">
            <a:off x="962025" y="61626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A4A4AD"/>
                </a:solidFill>
                <a:latin typeface="Helvetica Neue"/>
                <a:ea typeface="Helvetica Neue"/>
                <a:cs typeface="Helvetica Neue"/>
              </a:defRPr>
            </a:pPr>
            <a:r>
              <a:rPr sz="1350" b="0">
                <a:solidFill>
                  <a:srgbClr val="A4A4AD"/>
                </a:solidFill>
                <a:latin typeface="Helvetica Neue"/>
                <a:ea typeface="Helvetica Neue"/>
                <a:cs typeface="Helvetica Neue"/>
              </a:rPr>
              <a:t>Vexi Hakari</a:t>
            </a:r>
          </a:p>
        </p:txBody>
      </p:sp>
      <p:sp>
        <p:nvSpPr>
          <p:cNvPr id="4" name="3">
            <a:extLst xmlns:a="http://schemas.openxmlformats.org/drawingml/2006/main">
              <a:ext uri="{FF2B5EF4-FFF2-40B4-BE49-F238E27FC236}">
                <a16:creationId xmlns:a16="http://schemas.microsoft.com/office/drawing/2014/main" id="{1478859D-2722-4885-9A77-A4AFC39CF84D}"/>
              </a:ext>
            </a:extLst>
          </p:cNvPr>
          <p:cNvSpPr>
            <a:spLocks xmlns:a="http://schemas.openxmlformats.org/drawingml/2006/main" noGrp="1"/>
          </p:cNvSpPr>
          <p:nvPr/>
        </p:nvSpPr>
        <p:spPr>
          <a:xfrm xmlns:a="http://schemas.openxmlformats.org/drawingml/2006/main">
            <a:off x="11049000" y="61626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350" b="0">
                <a:solidFill>
                  <a:srgbClr val="A4A4AD"/>
                </a:solidFill>
                <a:latin typeface="Helvetica Neue"/>
                <a:ea typeface="Helvetica Neue"/>
                <a:cs typeface="Helvetica Neue"/>
              </a:defRPr>
            </a:pPr>
            <a:r>
              <a:rPr sz="1350" b="0">
                <a:solidFill>
                  <a:srgbClr val="A4A4AD"/>
                </a:solidFill>
                <a:latin typeface="Helvetica Neue"/>
                <a:ea typeface="Helvetica Neue"/>
                <a:cs typeface="Helvetica Neue"/>
              </a:rPr>
              <a:t>3</a:t>
            </a:r>
          </a:p>
        </p:txBody>
      </p:sp>
      <p:sp>
        <p:nvSpPr>
          <p:cNvPr id="5" name="5 calls + 3 puts">
            <a:extLst xmlns:a="http://schemas.openxmlformats.org/drawingml/2006/main">
              <a:ext uri="{FF2B5EF4-FFF2-40B4-BE49-F238E27FC236}">
                <a16:creationId xmlns:a16="http://schemas.microsoft.com/office/drawing/2014/main" id="{B1BA375D-EA38-4BFE-A707-F63462F3F105}"/>
              </a:ext>
            </a:extLst>
          </p:cNvPr>
          <p:cNvSpPr>
            <a:spLocks xmlns:a="http://schemas.openxmlformats.org/drawingml/2006/main" noGrp="1"/>
          </p:cNvSpPr>
          <p:nvPr/>
        </p:nvSpPr>
        <p:spPr>
          <a:xfrm xmlns:a="http://schemas.openxmlformats.org/drawingml/2006/main">
            <a:off x="609600" y="1543050"/>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37D67A"/>
                </a:solidFill>
                <a:latin typeface="Helvetica Neue"/>
                <a:ea typeface="Helvetica Neue"/>
                <a:cs typeface="Helvetica Neue"/>
              </a:defRPr>
            </a:pPr>
            <a:r>
              <a:rPr sz="2850" b="1">
                <a:solidFill>
                  <a:srgbClr val="37D67A"/>
                </a:solidFill>
                <a:latin typeface="Helvetica Neue"/>
                <a:ea typeface="Helvetica Neue"/>
                <a:cs typeface="Helvetica Neue"/>
              </a:rPr>
              <a:t>5 calls + 3 puts</a:t>
            </a:r>
          </a:p>
        </p:txBody>
      </p:sp>
      <p:sp>
        <p:nvSpPr>
          <p:cNvPr id="6" name="">
            <a:extLst xmlns:a="http://schemas.openxmlformats.org/drawingml/2006/main">
              <a:ext uri="{FF2B5EF4-FFF2-40B4-BE49-F238E27FC236}">
                <a16:creationId xmlns:a16="http://schemas.microsoft.com/office/drawing/2014/main" id="{ECB8A82C-F216-43A4-B3EA-0B89319C9B0C}"/>
              </a:ext>
            </a:extLst>
          </p:cNvPr>
          <p:cNvSpPr>
            <a:spLocks xmlns:a="http://schemas.openxmlformats.org/drawingml/2006/main" noGrp="1"/>
          </p:cNvSpPr>
          <p:nvPr/>
        </p:nvSpPr>
        <p:spPr>
          <a:xfrm xmlns:a="http://schemas.openxmlformats.org/drawingml/2006/main">
            <a:off x="685800" y="2609850"/>
            <a:ext cx="2524125" cy="1009650"/>
          </a:xfrm>
          <a:prstGeom xmlns:a="http://schemas.openxmlformats.org/drawingml/2006/main" prst="rect">
            <a:avLst/>
          </a:prstGeom>
          <a:solidFill xmlns:a="http://schemas.openxmlformats.org/drawingml/2006/main">
            <a:srgbClr val="08080A"/>
          </a:solidFill>
          <a:ln xmlns:a="http://schemas.openxmlformats.org/drawingml/2006/main" w="15240">
            <a:solidFill>
              <a:srgbClr val="FAFAF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400" b="1">
                <a:solidFill>
                  <a:srgbClr val="FAFAFA"/>
                </a:solidFill>
                <a:latin typeface="Helvetica Neue"/>
                <a:ea typeface="Helvetica Neue"/>
                <a:cs typeface="Helvetica Neue"/>
              </a:defRPr>
            </a:pPr>
            <a:r>
              <a:rPr sz="2400" b="1">
                <a:solidFill>
                  <a:srgbClr val="FAFAFA"/>
                </a:solidFill>
                <a:latin typeface="Helvetica Neue"/>
                <a:ea typeface="Helvetica Neue"/>
                <a:cs typeface="Helvetica Neue"/>
              </a:rPr>
              <a:t>Maker</a:t>
            </a:r>
          </a:p>
        </p:txBody>
      </p:sp>
      <p:sp>
        <p:nvSpPr>
          <p:cNvPr id="7" name="">
            <a:extLst xmlns:a="http://schemas.openxmlformats.org/drawingml/2006/main">
              <a:ext uri="{FF2B5EF4-FFF2-40B4-BE49-F238E27FC236}">
                <a16:creationId xmlns:a16="http://schemas.microsoft.com/office/drawing/2014/main" id="{DFDB2771-121C-4458-8BAD-F01E9A3B8633}"/>
              </a:ext>
            </a:extLst>
          </p:cNvPr>
          <p:cNvSpPr>
            <a:spLocks xmlns:a="http://schemas.openxmlformats.org/drawingml/2006/main" noGrp="1"/>
          </p:cNvSpPr>
          <p:nvPr/>
        </p:nvSpPr>
        <p:spPr>
          <a:xfrm xmlns:a="http://schemas.openxmlformats.org/drawingml/2006/main">
            <a:off x="4695825" y="2609850"/>
            <a:ext cx="2362200" cy="1009650"/>
          </a:xfrm>
          <a:prstGeom xmlns:a="http://schemas.openxmlformats.org/drawingml/2006/main" prst="rect">
            <a:avLst/>
          </a:prstGeom>
          <a:solidFill xmlns:a="http://schemas.openxmlformats.org/drawingml/2006/main">
            <a:srgbClr val="08080A"/>
          </a:solidFill>
          <a:ln xmlns:a="http://schemas.openxmlformats.org/drawingml/2006/main" w="15240">
            <a:solidFill>
              <a:srgbClr val="37D67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550" b="1">
                <a:solidFill>
                  <a:srgbClr val="37D67A"/>
                </a:solidFill>
                <a:latin typeface="Helvetica Neue"/>
                <a:ea typeface="Helvetica Neue"/>
                <a:cs typeface="Helvetica Neue"/>
              </a:defRPr>
            </a:pPr>
            <a:r>
              <a:rPr sz="2550" b="1">
                <a:solidFill>
                  <a:srgbClr val="37D67A"/>
                </a:solidFill>
                <a:latin typeface="Helvetica Neue"/>
                <a:ea typeface="Helvetica Neue"/>
                <a:cs typeface="Helvetica Neue"/>
              </a:rPr>
              <a:t>Aqua.pull</a:t>
            </a:r>
          </a:p>
        </p:txBody>
      </p:sp>
      <p:sp>
        <p:nvSpPr>
          <p:cNvPr id="8" name="">
            <a:extLst xmlns:a="http://schemas.openxmlformats.org/drawingml/2006/main">
              <a:ext uri="{FF2B5EF4-FFF2-40B4-BE49-F238E27FC236}">
                <a16:creationId xmlns:a16="http://schemas.microsoft.com/office/drawing/2014/main" id="{99FB2B6C-1795-4D97-ABEF-44CB0F03A44B}"/>
              </a:ext>
            </a:extLst>
          </p:cNvPr>
          <p:cNvSpPr>
            <a:spLocks xmlns:a="http://schemas.openxmlformats.org/drawingml/2006/main" noGrp="1"/>
          </p:cNvSpPr>
          <p:nvPr/>
        </p:nvSpPr>
        <p:spPr>
          <a:xfrm xmlns:a="http://schemas.openxmlformats.org/drawingml/2006/main">
            <a:off x="8953500" y="2609850"/>
            <a:ext cx="2543175" cy="1009650"/>
          </a:xfrm>
          <a:prstGeom xmlns:a="http://schemas.openxmlformats.org/drawingml/2006/main" prst="rect">
            <a:avLst/>
          </a:prstGeom>
          <a:solidFill xmlns:a="http://schemas.openxmlformats.org/drawingml/2006/main">
            <a:srgbClr val="08080A"/>
          </a:solidFill>
          <a:ln xmlns:a="http://schemas.openxmlformats.org/drawingml/2006/main" w="15240">
            <a:solidFill>
              <a:srgbClr val="FAFAF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400" b="1">
                <a:solidFill>
                  <a:srgbClr val="FAFAFA"/>
                </a:solidFill>
                <a:latin typeface="Helvetica Neue"/>
                <a:ea typeface="Helvetica Neue"/>
                <a:cs typeface="Helvetica Neue"/>
              </a:defRPr>
            </a:pPr>
            <a:r>
              <a:rPr sz="2400" b="1">
                <a:solidFill>
                  <a:srgbClr val="FAFAFA"/>
                </a:solidFill>
                <a:latin typeface="Helvetica Neue"/>
                <a:ea typeface="Helvetica Neue"/>
                <a:cs typeface="Helvetica Neue"/>
              </a:rPr>
              <a:t>Book</a:t>
            </a:r>
          </a:p>
        </p:txBody>
      </p: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3209925" y="3114675"/>
            <a:ext cx="1485900" cy="0"/>
          </a:xfrm>
          <a:prstGeom xmlns:a="http://schemas.openxmlformats.org/drawingml/2006/main" prst="straightConnector1">
            <a:avLst/>
          </a:prstGeom>
          <a:ln xmlns:a="http://schemas.openxmlformats.org/drawingml/2006/main" w="24765">
            <a:solidFill>
              <a:srgbClr val="37D67A"/>
            </a:solidFill>
            <a:prstDash val="solid"/>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7058025" y="3114675"/>
            <a:ext cx="1895475" cy="0"/>
          </a:xfrm>
          <a:prstGeom xmlns:a="http://schemas.openxmlformats.org/drawingml/2006/main" prst="straightConnector1">
            <a:avLst/>
          </a:prstGeom>
          <a:ln xmlns:a="http://schemas.openxmlformats.org/drawingml/2006/main" w="24765">
            <a:solidFill>
              <a:srgbClr val="37D67A"/>
            </a:solidFill>
            <a:prstDash val="solid"/>
            <a:tailEnd type="triangle" w="med" len="med"/>
          </a:ln>
        </p:spPr>
      </p:cxnSp>
      <p:sp>
        <p:nvSpPr>
          <p:cNvPr id="11" name="5 TSLA + 1,200 USDG">
            <a:extLst xmlns:a="http://schemas.openxmlformats.org/drawingml/2006/main">
              <a:ext uri="{FF2B5EF4-FFF2-40B4-BE49-F238E27FC236}">
                <a16:creationId xmlns:a16="http://schemas.microsoft.com/office/drawing/2014/main" id="{72FACCD7-8A63-4867-BA12-986ABCBEAD21}"/>
              </a:ext>
            </a:extLst>
          </p:cNvPr>
          <p:cNvSpPr>
            <a:spLocks xmlns:a="http://schemas.openxmlformats.org/drawingml/2006/main" noGrp="1"/>
          </p:cNvSpPr>
          <p:nvPr/>
        </p:nvSpPr>
        <p:spPr>
          <a:xfrm xmlns:a="http://schemas.openxmlformats.org/drawingml/2006/main">
            <a:off x="2266950" y="3981450"/>
            <a:ext cx="7762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3900" b="1">
                <a:solidFill>
                  <a:srgbClr val="FAFAFA"/>
                </a:solidFill>
                <a:latin typeface="Helvetica Neue"/>
                <a:ea typeface="Helvetica Neue"/>
                <a:cs typeface="Helvetica Neue"/>
              </a:defRPr>
            </a:pPr>
            <a:r>
              <a:rPr sz="3900" b="1">
                <a:solidFill>
                  <a:srgbClr val="FAFAFA"/>
                </a:solidFill>
                <a:latin typeface="Helvetica Neue"/>
                <a:ea typeface="Helvetica Neue"/>
                <a:cs typeface="Helvetica Neue"/>
              </a:rPr>
              <a:t>5 TSLA + 1,200 USDG</a:t>
            </a:r>
          </a:p>
        </p:txBody>
      </p:sp>
      <p:sp>
        <p:nvSpPr>
          <p:cNvPr id="12" name="Collateral at strike 400 USDG">
            <a:extLst xmlns:a="http://schemas.openxmlformats.org/drawingml/2006/main">
              <a:ext uri="{FF2B5EF4-FFF2-40B4-BE49-F238E27FC236}">
                <a16:creationId xmlns:a16="http://schemas.microsoft.com/office/drawing/2014/main" id="{B95369D3-5F0A-4A97-BEB8-0ECE58DED173}"/>
              </a:ext>
            </a:extLst>
          </p:cNvPr>
          <p:cNvSpPr>
            <a:spLocks xmlns:a="http://schemas.openxmlformats.org/drawingml/2006/main" noGrp="1"/>
          </p:cNvSpPr>
          <p:nvPr/>
        </p:nvSpPr>
        <p:spPr>
          <a:xfrm xmlns:a="http://schemas.openxmlformats.org/drawingml/2006/main">
            <a:off x="2381250" y="4676775"/>
            <a:ext cx="7620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A4A4AD"/>
                </a:solidFill>
                <a:latin typeface="Helvetica Neue"/>
                <a:ea typeface="Helvetica Neue"/>
                <a:cs typeface="Helvetica Neue"/>
              </a:defRPr>
            </a:pPr>
            <a:r>
              <a:rPr sz="1875" b="0">
                <a:solidFill>
                  <a:srgbClr val="A4A4AD"/>
                </a:solidFill>
                <a:latin typeface="Helvetica Neue"/>
                <a:ea typeface="Helvetica Neue"/>
                <a:cs typeface="Helvetica Neue"/>
              </a:rPr>
              <a:t>Collateral at strike 400 USDG</a:t>
            </a:r>
          </a:p>
        </p:txBody>
      </p:sp>
      <p:sp>
        <p:nvSpPr>
          <p:cNvPr id="13" name="Buyer premium: 64.0064 USDG">
            <a:extLst xmlns:a="http://schemas.openxmlformats.org/drawingml/2006/main">
              <a:ext uri="{FF2B5EF4-FFF2-40B4-BE49-F238E27FC236}">
                <a16:creationId xmlns:a16="http://schemas.microsoft.com/office/drawing/2014/main" id="{97649D4F-EE09-48DF-A508-0392245114F4}"/>
              </a:ext>
            </a:extLst>
          </p:cNvPr>
          <p:cNvSpPr>
            <a:spLocks xmlns:a="http://schemas.openxmlformats.org/drawingml/2006/main" noGrp="1"/>
          </p:cNvSpPr>
          <p:nvPr/>
        </p:nvSpPr>
        <p:spPr>
          <a:xfrm xmlns:a="http://schemas.openxmlformats.org/drawingml/2006/main">
            <a:off x="1047750" y="5381625"/>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a:solidFill>
                  <a:srgbClr val="FF007A"/>
                </a:solidFill>
                <a:latin typeface="Helvetica Neue"/>
                <a:ea typeface="Helvetica Neue"/>
                <a:cs typeface="Helvetica Neue"/>
              </a:defRPr>
            </a:pPr>
            <a:r>
              <a:rPr sz="2250" b="0">
                <a:solidFill>
                  <a:srgbClr val="FF007A"/>
                </a:solidFill>
                <a:latin typeface="Helvetica Neue"/>
                <a:ea typeface="Helvetica Neue"/>
                <a:cs typeface="Helvetica Neue"/>
              </a:rPr>
              <a:t>Buyer premium: 64.0064 USDG</a:t>
            </a:r>
          </a:p>
        </p:txBody>
      </p:sp>
    </p:spTree>
    <p:extLst>
      <p:ext uri="{BB962C8B-B14F-4D97-AF65-F5344CB8AC3E}">
        <p14:creationId xmlns:p14="http://schemas.microsoft.com/office/powerpoint/2010/main" val="1686606493"/>
      </p:ext>
    </p:extLst>
  </p:cSld>
</p:sld>
</file>

<file path=ppt/slides/slide4.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3" name="Size tapers toward the band edge">
            <a:extLst xmlns:a="http://schemas.openxmlformats.org/drawingml/2006/main">
              <a:ext uri="{FF2B5EF4-FFF2-40B4-BE49-F238E27FC236}">
                <a16:creationId xmlns:a16="http://schemas.microsoft.com/office/drawing/2014/main" id="{648D75D9-9270-4C99-A646-744F3E36A111}"/>
              </a:ext>
            </a:extLst>
          </p:cNvPr>
          <p:cNvSpPr>
            <a:spLocks xmlns:a="http://schemas.openxmlformats.org/drawingml/2006/main" noGrp="1"/>
          </p:cNvSpPr>
          <p:nvPr/>
        </p:nvSpPr>
        <p:spPr>
          <a:xfrm xmlns:a="http://schemas.openxmlformats.org/drawingml/2006/main">
            <a:off x="6096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450" b="1">
                <a:solidFill>
                  <a:srgbClr val="FAFAFA"/>
                </a:solidFill>
                <a:latin typeface="Helvetica Neue"/>
                <a:ea typeface="Helvetica Neue"/>
                <a:cs typeface="Helvetica Neue"/>
              </a:defRPr>
            </a:pPr>
            <a:r>
              <a:rPr sz="3450" b="1">
                <a:solidFill>
                  <a:srgbClr val="FAFAFA"/>
                </a:solidFill>
                <a:latin typeface="Helvetica Neue"/>
                <a:ea typeface="Helvetica Neue"/>
                <a:cs typeface="Helvetica Neue"/>
              </a:rPr>
              <a:t>Size tapers toward the band edge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921c5e6a7584a8a">
            <a:extLst>
              <a:ext uri="{96DAC541-7B7A-43D3-8B79-37D633B846F1}">
                <asvg:svgBlip xmlns:asvg="http://schemas.microsoft.com/office/drawing/2016/SVG/main" r:embed="Ra61bf786a005443e"/>
              </a:ext>
            </a:extLst>
          </a:blip>
          <a:stretch xmlns:a="http://schemas.openxmlformats.org/drawingml/2006/main"/>
        </p:blipFill>
        <p:spPr>
          <a:xfrm xmlns:a="http://schemas.openxmlformats.org/drawingml/2006/main">
            <a:off x="609600" y="6200775"/>
            <a:ext cx="247650" cy="24765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313A9143-6139-4408-8127-BAC28B07CF39}"/>
              </a:ext>
            </a:extLst>
          </p:cNvPr>
          <p:cNvSpPr>
            <a:spLocks xmlns:a="http://schemas.openxmlformats.org/drawingml/2006/main" noGrp="1"/>
          </p:cNvSpPr>
          <p:nvPr/>
        </p:nvSpPr>
        <p:spPr>
          <a:xfrm xmlns:a="http://schemas.openxmlformats.org/drawingml/2006/main">
            <a:off x="962025" y="61626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A4A4AD"/>
                </a:solidFill>
                <a:latin typeface="Helvetica Neue"/>
                <a:ea typeface="Helvetica Neue"/>
                <a:cs typeface="Helvetica Neue"/>
              </a:defRPr>
            </a:pPr>
            <a:r>
              <a:rPr sz="1350" b="0">
                <a:solidFill>
                  <a:srgbClr val="A4A4AD"/>
                </a:solidFill>
                <a:latin typeface="Helvetica Neue"/>
                <a:ea typeface="Helvetica Neue"/>
                <a:cs typeface="Helvetica Neue"/>
              </a:rPr>
              <a:t>Vexi Hakari</a:t>
            </a:r>
          </a:p>
        </p:txBody>
      </p:sp>
      <p:sp>
        <p:nvSpPr>
          <p:cNvPr id="4" name="4">
            <a:extLst xmlns:a="http://schemas.openxmlformats.org/drawingml/2006/main">
              <a:ext uri="{FF2B5EF4-FFF2-40B4-BE49-F238E27FC236}">
                <a16:creationId xmlns:a16="http://schemas.microsoft.com/office/drawing/2014/main" id="{3E3BE8ED-E681-4314-8CA2-14CCC8CFA1F3}"/>
              </a:ext>
            </a:extLst>
          </p:cNvPr>
          <p:cNvSpPr>
            <a:spLocks xmlns:a="http://schemas.openxmlformats.org/drawingml/2006/main" noGrp="1"/>
          </p:cNvSpPr>
          <p:nvPr/>
        </p:nvSpPr>
        <p:spPr>
          <a:xfrm xmlns:a="http://schemas.openxmlformats.org/drawingml/2006/main">
            <a:off x="11049000" y="61626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350" b="0">
                <a:solidFill>
                  <a:srgbClr val="A4A4AD"/>
                </a:solidFill>
                <a:latin typeface="Helvetica Neue"/>
                <a:ea typeface="Helvetica Neue"/>
                <a:cs typeface="Helvetica Neue"/>
              </a:defRPr>
            </a:pPr>
            <a:r>
              <a:rPr sz="1350" b="0">
                <a:solidFill>
                  <a:srgbClr val="A4A4AD"/>
                </a:solidFill>
                <a:latin typeface="Helvetica Neue"/>
                <a:ea typeface="Helvetica Neue"/>
                <a:cs typeface="Helvetica Neue"/>
              </a:rPr>
              <a:t>4</a:t>
            </a:r>
          </a:p>
        </p:txBody>
      </p:sp>
      <p:sp>
        <p:nvSpPr>
          <p:cNvPr id="5" name="Contracts per call">
            <a:extLst xmlns:a="http://schemas.openxmlformats.org/drawingml/2006/main">
              <a:ext uri="{FF2B5EF4-FFF2-40B4-BE49-F238E27FC236}">
                <a16:creationId xmlns:a16="http://schemas.microsoft.com/office/drawing/2014/main" id="{AEDAD619-63ED-4383-BFF9-83F55EA68F5C}"/>
              </a:ext>
            </a:extLst>
          </p:cNvPr>
          <p:cNvSpPr>
            <a:spLocks xmlns:a="http://schemas.openxmlformats.org/drawingml/2006/main" noGrp="1"/>
          </p:cNvSpPr>
          <p:nvPr/>
        </p:nvSpPr>
        <p:spPr>
          <a:xfrm xmlns:a="http://schemas.openxmlformats.org/drawingml/2006/main">
            <a:off x="714375" y="17145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A4A4AD"/>
                </a:solidFill>
                <a:latin typeface="Helvetica Neue"/>
                <a:ea typeface="Helvetica Neue"/>
                <a:cs typeface="Helvetica Neue"/>
              </a:defRPr>
            </a:pPr>
            <a:r>
              <a:rPr sz="1950" b="0">
                <a:solidFill>
                  <a:srgbClr val="A4A4AD"/>
                </a:solidFill>
                <a:latin typeface="Helvetica Neue"/>
                <a:ea typeface="Helvetica Neue"/>
                <a:cs typeface="Helvetica Neue"/>
              </a:rPr>
              <a:t>Contracts per call</a:t>
            </a:r>
          </a:p>
        </p:txBody>
      </p:sp>
      <p:graphicFrame>
        <p:nvGraphicFramePr>
          <p:cNvPr id="18" name="Chart"/>
          <p:cNvGraphicFramePr/>
          <p:nvPr/>
        </p:nvGraphicFramePr>
        <p:xfrm>
          <a:off xmlns:a="http://schemas.openxmlformats.org/drawingml/2006/main" x="619125" y="2162175"/>
          <a:ext xmlns:a="http://schemas.openxmlformats.org/drawingml/2006/main" cx="7239000" cy="3333750"/>
        </p:xfrm>
        <a:graphic xmlns:a="http://schemas.openxmlformats.org/drawingml/2006/main">
          <a:graphicData uri="http://schemas.openxmlformats.org/drawingml/2006/chart">
            <c:chart xmlns:r="http://schemas.openxmlformats.org/officeDocument/2006/relationships" xmlns:c="http://schemas.openxmlformats.org/drawingml/2006/chart" r:id="R99e3d1cf25c44b7a"/>
          </a:graphicData>
        </a:graphic>
      </p:graphicFrame>
      <p:sp>
        <p:nvSpPr>
          <p:cNvPr id="7" name="+2.5%">
            <a:extLst xmlns:a="http://schemas.openxmlformats.org/drawingml/2006/main">
              <a:ext uri="{FF2B5EF4-FFF2-40B4-BE49-F238E27FC236}">
                <a16:creationId xmlns:a16="http://schemas.microsoft.com/office/drawing/2014/main" id="{CB4EDD39-134A-4909-8AEF-12C7CFDCB607}"/>
              </a:ext>
            </a:extLst>
          </p:cNvPr>
          <p:cNvSpPr>
            <a:spLocks xmlns:a="http://schemas.openxmlformats.org/drawingml/2006/main" noGrp="1"/>
          </p:cNvSpPr>
          <p:nvPr/>
        </p:nvSpPr>
        <p:spPr>
          <a:xfrm xmlns:a="http://schemas.openxmlformats.org/drawingml/2006/main">
            <a:off x="8639175" y="20097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37D67A"/>
                </a:solidFill>
                <a:latin typeface="Helvetica Neue"/>
                <a:ea typeface="Helvetica Neue"/>
                <a:cs typeface="Helvetica Neue"/>
              </a:defRPr>
            </a:pPr>
            <a:r>
              <a:rPr sz="2700" b="1">
                <a:solidFill>
                  <a:srgbClr val="37D67A"/>
                </a:solidFill>
                <a:latin typeface="Helvetica Neue"/>
                <a:ea typeface="Helvetica Neue"/>
                <a:cs typeface="Helvetica Neue"/>
              </a:rPr>
              <a:t>+2.5%</a:t>
            </a:r>
          </a:p>
        </p:txBody>
      </p:sp>
      <p:sp>
        <p:nvSpPr>
          <p:cNvPr id="8" name="25 contracts">
            <a:extLst xmlns:a="http://schemas.openxmlformats.org/drawingml/2006/main">
              <a:ext uri="{FF2B5EF4-FFF2-40B4-BE49-F238E27FC236}">
                <a16:creationId xmlns:a16="http://schemas.microsoft.com/office/drawing/2014/main" id="{B4EC2E24-220D-410F-B110-B9F507D3DD6A}"/>
              </a:ext>
            </a:extLst>
          </p:cNvPr>
          <p:cNvSpPr>
            <a:spLocks xmlns:a="http://schemas.openxmlformats.org/drawingml/2006/main" noGrp="1"/>
          </p:cNvSpPr>
          <p:nvPr/>
        </p:nvSpPr>
        <p:spPr>
          <a:xfrm xmlns:a="http://schemas.openxmlformats.org/drawingml/2006/main">
            <a:off x="8639175" y="2552700"/>
            <a:ext cx="295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Helvetica Neue"/>
                <a:ea typeface="Helvetica Neue"/>
                <a:cs typeface="Helvetica Neue"/>
              </a:defRPr>
            </a:pPr>
            <a:r>
              <a:rPr sz="3225" b="1">
                <a:solidFill>
                  <a:srgbClr val="FAFAFA"/>
                </a:solidFill>
                <a:latin typeface="Helvetica Neue"/>
                <a:ea typeface="Helvetica Neue"/>
                <a:cs typeface="Helvetica Neue"/>
              </a:rPr>
              <a:t>25 contracts</a:t>
            </a:r>
          </a:p>
        </p:txBody>
      </p:sp>
      <p:sp>
        <p:nvSpPr>
          <p:cNvPr id="9" name="8.4 USDG ask">
            <a:extLst xmlns:a="http://schemas.openxmlformats.org/drawingml/2006/main">
              <a:ext uri="{FF2B5EF4-FFF2-40B4-BE49-F238E27FC236}">
                <a16:creationId xmlns:a16="http://schemas.microsoft.com/office/drawing/2014/main" id="{15E090CF-756C-4CD6-8384-8097A3B5720F}"/>
              </a:ext>
            </a:extLst>
          </p:cNvPr>
          <p:cNvSpPr>
            <a:spLocks xmlns:a="http://schemas.openxmlformats.org/drawingml/2006/main" noGrp="1"/>
          </p:cNvSpPr>
          <p:nvPr/>
        </p:nvSpPr>
        <p:spPr>
          <a:xfrm xmlns:a="http://schemas.openxmlformats.org/drawingml/2006/main">
            <a:off x="8639175" y="3171825"/>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A4A4AD"/>
                </a:solidFill>
                <a:latin typeface="Helvetica Neue"/>
                <a:ea typeface="Helvetica Neue"/>
                <a:cs typeface="Helvetica Neue"/>
              </a:defRPr>
            </a:pPr>
            <a:r>
              <a:rPr sz="2025" b="0">
                <a:solidFill>
                  <a:srgbClr val="A4A4AD"/>
                </a:solidFill>
                <a:latin typeface="Helvetica Neue"/>
                <a:ea typeface="Helvetica Neue"/>
                <a:cs typeface="Helvetica Neue"/>
              </a:rPr>
              <a:t>8.4 USDG ask</a:t>
            </a:r>
          </a:p>
        </p:txBody>
      </p:sp>
      <p:sp>
        <p:nvSpPr>
          <p:cNvPr id="10" name="+5.1%">
            <a:extLst xmlns:a="http://schemas.openxmlformats.org/drawingml/2006/main">
              <a:ext uri="{FF2B5EF4-FFF2-40B4-BE49-F238E27FC236}">
                <a16:creationId xmlns:a16="http://schemas.microsoft.com/office/drawing/2014/main" id="{DFB37712-AB81-4642-B381-8DB9A39E0678}"/>
              </a:ext>
            </a:extLst>
          </p:cNvPr>
          <p:cNvSpPr>
            <a:spLocks xmlns:a="http://schemas.openxmlformats.org/drawingml/2006/main" noGrp="1"/>
          </p:cNvSpPr>
          <p:nvPr/>
        </p:nvSpPr>
        <p:spPr>
          <a:xfrm xmlns:a="http://schemas.openxmlformats.org/drawingml/2006/main">
            <a:off x="8639175" y="411480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a:solidFill>
                  <a:srgbClr val="FF5470"/>
                </a:solidFill>
                <a:latin typeface="Helvetica Neue"/>
                <a:ea typeface="Helvetica Neue"/>
                <a:cs typeface="Helvetica Neue"/>
              </a:defRPr>
            </a:pPr>
            <a:r>
              <a:rPr sz="2550" b="1">
                <a:solidFill>
                  <a:srgbClr val="FF5470"/>
                </a:solidFill>
                <a:latin typeface="Helvetica Neue"/>
                <a:ea typeface="Helvetica Neue"/>
                <a:cs typeface="Helvetica Neue"/>
              </a:rPr>
              <a:t>+5.1%</a:t>
            </a:r>
          </a:p>
        </p:txBody>
      </p:sp>
      <p:sp>
        <p:nvSpPr>
          <p:cNvPr id="11" name="REFUSED">
            <a:extLst xmlns:a="http://schemas.openxmlformats.org/drawingml/2006/main">
              <a:ext uri="{FF2B5EF4-FFF2-40B4-BE49-F238E27FC236}">
                <a16:creationId xmlns:a16="http://schemas.microsoft.com/office/drawing/2014/main" id="{DBDBC1A4-DCFB-456D-829A-48274FCFDB34}"/>
              </a:ext>
            </a:extLst>
          </p:cNvPr>
          <p:cNvSpPr>
            <a:spLocks xmlns:a="http://schemas.openxmlformats.org/drawingml/2006/main" noGrp="1"/>
          </p:cNvSpPr>
          <p:nvPr/>
        </p:nvSpPr>
        <p:spPr>
          <a:xfrm xmlns:a="http://schemas.openxmlformats.org/drawingml/2006/main">
            <a:off x="8639175" y="461962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00" b="1">
                <a:solidFill>
                  <a:srgbClr val="FF5470"/>
                </a:solidFill>
                <a:latin typeface="Helvetica Neue"/>
                <a:ea typeface="Helvetica Neue"/>
                <a:cs typeface="Helvetica Neue"/>
              </a:defRPr>
            </a:pPr>
            <a:r>
              <a:rPr sz="3000" b="1">
                <a:solidFill>
                  <a:srgbClr val="FF5470"/>
                </a:solidFill>
                <a:latin typeface="Helvetica Neue"/>
                <a:ea typeface="Helvetica Neue"/>
                <a:cs typeface="Helvetica Neue"/>
              </a:rPr>
              <a:t>REFUSED</a:t>
            </a:r>
          </a:p>
        </p:txBody>
      </p:sp>
      <p:sp>
        <p:nvSpPr>
          <p:cNvPr id="12" name="Illustration: ±5% band, 400 center, 8 base ask (USDG)">
            <a:extLst xmlns:a="http://schemas.openxmlformats.org/drawingml/2006/main">
              <a:ext uri="{FF2B5EF4-FFF2-40B4-BE49-F238E27FC236}">
                <a16:creationId xmlns:a16="http://schemas.microsoft.com/office/drawing/2014/main" id="{C54E9C89-DFC9-4CE9-9DD9-53D9D8D2D53C}"/>
              </a:ext>
            </a:extLst>
          </p:cNvPr>
          <p:cNvSpPr>
            <a:spLocks xmlns:a="http://schemas.openxmlformats.org/drawingml/2006/main" noGrp="1"/>
          </p:cNvSpPr>
          <p:nvPr/>
        </p:nvSpPr>
        <p:spPr>
          <a:xfrm xmlns:a="http://schemas.openxmlformats.org/drawingml/2006/main">
            <a:off x="714375" y="563880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A4A4AD"/>
                </a:solidFill>
                <a:latin typeface="Helvetica Neue"/>
                <a:ea typeface="Helvetica Neue"/>
                <a:cs typeface="Helvetica Neue"/>
              </a:defRPr>
            </a:pPr>
            <a:r>
              <a:rPr sz="1500" b="0">
                <a:solidFill>
                  <a:srgbClr val="A4A4AD"/>
                </a:solidFill>
                <a:latin typeface="Helvetica Neue"/>
                <a:ea typeface="Helvetica Neue"/>
                <a:cs typeface="Helvetica Neue"/>
              </a:rPr>
              <a:t>Illustration: ±5% band, 400 center, 8 base ask (USDG)</a:t>
            </a:r>
          </a:p>
        </p:txBody>
      </p:sp>
    </p:spTree>
    <p:extLst>
      <p:ext uri="{BB962C8B-B14F-4D97-AF65-F5344CB8AC3E}">
        <p14:creationId xmlns:p14="http://schemas.microsoft.com/office/powerpoint/2010/main" val="688032869"/>
      </p:ext>
    </p:extLst>
  </p:cSld>
</p:sld>
</file>

<file path=ppt/slides/slide5.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5" name="Three checks in the replay">
            <a:extLst xmlns:a="http://schemas.openxmlformats.org/drawingml/2006/main">
              <a:ext uri="{FF2B5EF4-FFF2-40B4-BE49-F238E27FC236}">
                <a16:creationId xmlns:a16="http://schemas.microsoft.com/office/drawing/2014/main" id="{7AF88332-5F31-4775-89CC-EBF3F52BCA22}"/>
              </a:ext>
            </a:extLst>
          </p:cNvPr>
          <p:cNvSpPr>
            <a:spLocks xmlns:a="http://schemas.openxmlformats.org/drawingml/2006/main" noGrp="1"/>
          </p:cNvSpPr>
          <p:nvPr/>
        </p:nvSpPr>
        <p:spPr>
          <a:xfrm xmlns:a="http://schemas.openxmlformats.org/drawingml/2006/main">
            <a:off x="6096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450" b="1">
                <a:solidFill>
                  <a:srgbClr val="FAFAFA"/>
                </a:solidFill>
                <a:latin typeface="Helvetica Neue"/>
                <a:ea typeface="Helvetica Neue"/>
                <a:cs typeface="Helvetica Neue"/>
              </a:defRPr>
            </a:pPr>
            <a:r>
              <a:rPr sz="3450" b="1">
                <a:solidFill>
                  <a:srgbClr val="FAFAFA"/>
                </a:solidFill>
                <a:latin typeface="Helvetica Neue"/>
                <a:ea typeface="Helvetica Neue"/>
                <a:cs typeface="Helvetica Neue"/>
              </a:rPr>
              <a:t>Three checks in the replay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b4e24f71e674c1c">
            <a:extLst>
              <a:ext uri="{96DAC541-7B7A-43D3-8B79-37D633B846F1}">
                <asvg:svgBlip xmlns:asvg="http://schemas.microsoft.com/office/drawing/2016/SVG/main" r:embed="R1834f9231ff74cde"/>
              </a:ext>
            </a:extLst>
          </a:blip>
          <a:stretch xmlns:a="http://schemas.openxmlformats.org/drawingml/2006/main"/>
        </p:blipFill>
        <p:spPr>
          <a:xfrm xmlns:a="http://schemas.openxmlformats.org/drawingml/2006/main">
            <a:off x="609600" y="6200775"/>
            <a:ext cx="247650" cy="24765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2CAF35BC-4F63-4EB0-BE49-2301F1AEE611}"/>
              </a:ext>
            </a:extLst>
          </p:cNvPr>
          <p:cNvSpPr>
            <a:spLocks xmlns:a="http://schemas.openxmlformats.org/drawingml/2006/main" noGrp="1"/>
          </p:cNvSpPr>
          <p:nvPr/>
        </p:nvSpPr>
        <p:spPr>
          <a:xfrm xmlns:a="http://schemas.openxmlformats.org/drawingml/2006/main">
            <a:off x="962025" y="61626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A4A4AD"/>
                </a:solidFill>
                <a:latin typeface="Helvetica Neue"/>
                <a:ea typeface="Helvetica Neue"/>
                <a:cs typeface="Helvetica Neue"/>
              </a:defRPr>
            </a:pPr>
            <a:r>
              <a:rPr sz="1350" b="0">
                <a:solidFill>
                  <a:srgbClr val="A4A4AD"/>
                </a:solidFill>
                <a:latin typeface="Helvetica Neue"/>
                <a:ea typeface="Helvetica Neue"/>
                <a:cs typeface="Helvetica Neue"/>
              </a:rPr>
              <a:t>Vexi Hakari</a:t>
            </a:r>
          </a:p>
        </p:txBody>
      </p:sp>
      <p:sp>
        <p:nvSpPr>
          <p:cNvPr id="4" name="5">
            <a:extLst xmlns:a="http://schemas.openxmlformats.org/drawingml/2006/main">
              <a:ext uri="{FF2B5EF4-FFF2-40B4-BE49-F238E27FC236}">
                <a16:creationId xmlns:a16="http://schemas.microsoft.com/office/drawing/2014/main" id="{3C0B8662-08FD-4AA0-A4EB-E38166149381}"/>
              </a:ext>
            </a:extLst>
          </p:cNvPr>
          <p:cNvSpPr>
            <a:spLocks xmlns:a="http://schemas.openxmlformats.org/drawingml/2006/main" noGrp="1"/>
          </p:cNvSpPr>
          <p:nvPr/>
        </p:nvSpPr>
        <p:spPr>
          <a:xfrm xmlns:a="http://schemas.openxmlformats.org/drawingml/2006/main">
            <a:off x="11049000" y="61626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350" b="0">
                <a:solidFill>
                  <a:srgbClr val="A4A4AD"/>
                </a:solidFill>
                <a:latin typeface="Helvetica Neue"/>
                <a:ea typeface="Helvetica Neue"/>
                <a:cs typeface="Helvetica Neue"/>
              </a:defRPr>
            </a:pPr>
            <a:r>
              <a:rPr sz="1350" b="0">
                <a:solidFill>
                  <a:srgbClr val="A4A4AD"/>
                </a:solidFill>
                <a:latin typeface="Helvetica Neue"/>
                <a:ea typeface="Helvetica Neue"/>
                <a:cs typeface="Helvetica Neue"/>
              </a:rPr>
              <a:t>5</a:t>
            </a:r>
          </a:p>
        </p:txBody>
      </p:sp>
      <p:sp>
        <p:nvSpPr>
          <p:cNvPr id="5" name="05">
            <a:extLst xmlns:a="http://schemas.openxmlformats.org/drawingml/2006/main">
              <a:ext uri="{FF2B5EF4-FFF2-40B4-BE49-F238E27FC236}">
                <a16:creationId xmlns:a16="http://schemas.microsoft.com/office/drawing/2014/main" id="{15A7CA15-30E1-4F5E-A6B5-07F23EBA0B93}"/>
              </a:ext>
            </a:extLst>
          </p:cNvPr>
          <p:cNvSpPr>
            <a:spLocks xmlns:a="http://schemas.openxmlformats.org/drawingml/2006/main" noGrp="1"/>
          </p:cNvSpPr>
          <p:nvPr/>
        </p:nvSpPr>
        <p:spPr>
          <a:xfrm xmlns:a="http://schemas.openxmlformats.org/drawingml/2006/main">
            <a:off x="762000" y="2162175"/>
            <a:ext cx="2571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800" b="1">
                <a:solidFill>
                  <a:srgbClr val="37D67A"/>
                </a:solidFill>
                <a:latin typeface="Helvetica Neue"/>
                <a:ea typeface="Helvetica Neue"/>
                <a:cs typeface="Helvetica Neue"/>
              </a:defRPr>
            </a:pPr>
            <a:r>
              <a:rPr sz="7800" b="1">
                <a:solidFill>
                  <a:srgbClr val="37D67A"/>
                </a:solidFill>
                <a:latin typeface="Helvetica Neue"/>
                <a:ea typeface="Helvetica Neue"/>
                <a:cs typeface="Helvetica Neue"/>
              </a:rPr>
              <a:t>05</a:t>
            </a:r>
          </a:p>
        </p:txBody>
      </p:sp>
      <p:sp>
        <p:nvSpPr>
          <p:cNvPr id="6" name="Collateral enters">
            <a:extLst xmlns:a="http://schemas.openxmlformats.org/drawingml/2006/main">
              <a:ext uri="{FF2B5EF4-FFF2-40B4-BE49-F238E27FC236}">
                <a16:creationId xmlns:a16="http://schemas.microsoft.com/office/drawing/2014/main" id="{ABBCB4AF-0979-4D10-BF6C-A00BB97BF370}"/>
              </a:ext>
            </a:extLst>
          </p:cNvPr>
          <p:cNvSpPr>
            <a:spLocks xmlns:a="http://schemas.openxmlformats.org/drawingml/2006/main" noGrp="1"/>
          </p:cNvSpPr>
          <p:nvPr/>
        </p:nvSpPr>
        <p:spPr>
          <a:xfrm xmlns:a="http://schemas.openxmlformats.org/drawingml/2006/main">
            <a:off x="762000" y="349567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FAFAFA"/>
                </a:solidFill>
                <a:latin typeface="Helvetica Neue"/>
                <a:ea typeface="Helvetica Neue"/>
                <a:cs typeface="Helvetica Neue"/>
              </a:defRPr>
            </a:pPr>
            <a:r>
              <a:rPr sz="2175" b="1">
                <a:solidFill>
                  <a:srgbClr val="FAFAFA"/>
                </a:solidFill>
                <a:latin typeface="Helvetica Neue"/>
                <a:ea typeface="Helvetica Neue"/>
                <a:cs typeface="Helvetica Neue"/>
              </a:rPr>
              <a:t>Collateral enters</a:t>
            </a:r>
          </a:p>
        </p:txBody>
      </p:sp>
      <p:sp>
        <p:nvSpPr>
          <p:cNvPr id="7" name="5 calls + 3 puts">
            <a:extLst xmlns:a="http://schemas.openxmlformats.org/drawingml/2006/main">
              <a:ext uri="{FF2B5EF4-FFF2-40B4-BE49-F238E27FC236}">
                <a16:creationId xmlns:a16="http://schemas.microsoft.com/office/drawing/2014/main" id="{A41EF728-EF89-42F5-BD11-5E0180EC7C48}"/>
              </a:ext>
            </a:extLst>
          </p:cNvPr>
          <p:cNvSpPr>
            <a:spLocks xmlns:a="http://schemas.openxmlformats.org/drawingml/2006/main" noGrp="1"/>
          </p:cNvSpPr>
          <p:nvPr/>
        </p:nvSpPr>
        <p:spPr>
          <a:xfrm xmlns:a="http://schemas.openxmlformats.org/drawingml/2006/main">
            <a:off x="762000" y="41433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A4A4AD"/>
                </a:solidFill>
                <a:latin typeface="Helvetica Neue"/>
                <a:ea typeface="Helvetica Neue"/>
                <a:cs typeface="Helvetica Neue"/>
              </a:defRPr>
            </a:pPr>
            <a:r>
              <a:rPr sz="1875" b="0">
                <a:solidFill>
                  <a:srgbClr val="A4A4AD"/>
                </a:solidFill>
                <a:latin typeface="Helvetica Neue"/>
                <a:ea typeface="Helvetica Neue"/>
                <a:cs typeface="Helvetica Neue"/>
              </a:rPr>
              <a:t>5 calls + 3 puts</a:t>
            </a:r>
          </a:p>
        </p:txBody>
      </p:sp>
      <p:sp>
        <p:nvSpPr>
          <p:cNvPr id="8" name="07">
            <a:extLst xmlns:a="http://schemas.openxmlformats.org/drawingml/2006/main">
              <a:ext uri="{FF2B5EF4-FFF2-40B4-BE49-F238E27FC236}">
                <a16:creationId xmlns:a16="http://schemas.microsoft.com/office/drawing/2014/main" id="{BB548460-D3B3-48A4-83C1-6B482FF2FE90}"/>
              </a:ext>
            </a:extLst>
          </p:cNvPr>
          <p:cNvSpPr>
            <a:spLocks xmlns:a="http://schemas.openxmlformats.org/drawingml/2006/main" noGrp="1"/>
          </p:cNvSpPr>
          <p:nvPr/>
        </p:nvSpPr>
        <p:spPr>
          <a:xfrm xmlns:a="http://schemas.openxmlformats.org/drawingml/2006/main">
            <a:off x="4762500" y="2162175"/>
            <a:ext cx="266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800" b="1">
                <a:solidFill>
                  <a:srgbClr val="FF5470"/>
                </a:solidFill>
                <a:latin typeface="Helvetica Neue"/>
                <a:ea typeface="Helvetica Neue"/>
                <a:cs typeface="Helvetica Neue"/>
              </a:defRPr>
            </a:pPr>
            <a:r>
              <a:rPr sz="7800" b="1">
                <a:solidFill>
                  <a:srgbClr val="FF5470"/>
                </a:solidFill>
                <a:latin typeface="Helvetica Neue"/>
                <a:ea typeface="Helvetica Neue"/>
                <a:cs typeface="Helvetica Neue"/>
              </a:rPr>
              <a:t>07</a:t>
            </a:r>
          </a:p>
        </p:txBody>
      </p:sp>
      <p:sp>
        <p:nvSpPr>
          <p:cNvPr id="9" name="Outside the band">
            <a:extLst xmlns:a="http://schemas.openxmlformats.org/drawingml/2006/main">
              <a:ext uri="{FF2B5EF4-FFF2-40B4-BE49-F238E27FC236}">
                <a16:creationId xmlns:a16="http://schemas.microsoft.com/office/drawing/2014/main" id="{D01906FA-2AE0-4A61-9363-6C57213ACDBB}"/>
              </a:ext>
            </a:extLst>
          </p:cNvPr>
          <p:cNvSpPr>
            <a:spLocks xmlns:a="http://schemas.openxmlformats.org/drawingml/2006/main" noGrp="1"/>
          </p:cNvSpPr>
          <p:nvPr/>
        </p:nvSpPr>
        <p:spPr>
          <a:xfrm xmlns:a="http://schemas.openxmlformats.org/drawingml/2006/main">
            <a:off x="4762500" y="349567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FAFAFA"/>
                </a:solidFill>
                <a:latin typeface="Helvetica Neue"/>
                <a:ea typeface="Helvetica Neue"/>
                <a:cs typeface="Helvetica Neue"/>
              </a:defRPr>
            </a:pPr>
            <a:r>
              <a:rPr sz="2175" b="1">
                <a:solidFill>
                  <a:srgbClr val="FAFAFA"/>
                </a:solidFill>
                <a:latin typeface="Helvetica Neue"/>
                <a:ea typeface="Helvetica Neue"/>
                <a:cs typeface="Helvetica Neue"/>
              </a:rPr>
              <a:t>Outside the band</a:t>
            </a:r>
          </a:p>
        </p:txBody>
      </p:sp>
      <p:sp>
        <p:nvSpPr>
          <p:cNvPr id="10" name="Funds unchanged">
            <a:extLst xmlns:a="http://schemas.openxmlformats.org/drawingml/2006/main">
              <a:ext uri="{FF2B5EF4-FFF2-40B4-BE49-F238E27FC236}">
                <a16:creationId xmlns:a16="http://schemas.microsoft.com/office/drawing/2014/main" id="{008D6D41-C39D-4FB6-8538-80B445822BFA}"/>
              </a:ext>
            </a:extLst>
          </p:cNvPr>
          <p:cNvSpPr>
            <a:spLocks xmlns:a="http://schemas.openxmlformats.org/drawingml/2006/main" noGrp="1"/>
          </p:cNvSpPr>
          <p:nvPr/>
        </p:nvSpPr>
        <p:spPr>
          <a:xfrm xmlns:a="http://schemas.openxmlformats.org/drawingml/2006/main">
            <a:off x="4762500" y="4143375"/>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A4A4AD"/>
                </a:solidFill>
                <a:latin typeface="Helvetica Neue"/>
                <a:ea typeface="Helvetica Neue"/>
                <a:cs typeface="Helvetica Neue"/>
              </a:defRPr>
            </a:pPr>
            <a:r>
              <a:rPr sz="1875" b="0">
                <a:solidFill>
                  <a:srgbClr val="A4A4AD"/>
                </a:solidFill>
                <a:latin typeface="Helvetica Neue"/>
                <a:ea typeface="Helvetica Neue"/>
                <a:cs typeface="Helvetica Neue"/>
              </a:rPr>
              <a:t>Funds unchanged</a:t>
            </a:r>
          </a:p>
        </p:txBody>
      </p:sp>
      <p:sp>
        <p:nvSpPr>
          <p:cNvPr id="11" name="09">
            <a:extLst xmlns:a="http://schemas.openxmlformats.org/drawingml/2006/main">
              <a:ext uri="{FF2B5EF4-FFF2-40B4-BE49-F238E27FC236}">
                <a16:creationId xmlns:a16="http://schemas.microsoft.com/office/drawing/2014/main" id="{43244DE0-4CE5-4415-9AF6-772AA2BD12AB}"/>
              </a:ext>
            </a:extLst>
          </p:cNvPr>
          <p:cNvSpPr>
            <a:spLocks xmlns:a="http://schemas.openxmlformats.org/drawingml/2006/main" noGrp="1"/>
          </p:cNvSpPr>
          <p:nvPr/>
        </p:nvSpPr>
        <p:spPr>
          <a:xfrm xmlns:a="http://schemas.openxmlformats.org/drawingml/2006/main">
            <a:off x="8858250" y="2162175"/>
            <a:ext cx="266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800" b="1">
                <a:solidFill>
                  <a:srgbClr val="FF5470"/>
                </a:solidFill>
                <a:latin typeface="Helvetica Neue"/>
                <a:ea typeface="Helvetica Neue"/>
                <a:cs typeface="Helvetica Neue"/>
              </a:defRPr>
            </a:pPr>
            <a:r>
              <a:rPr sz="7800" b="1">
                <a:solidFill>
                  <a:srgbClr val="FF5470"/>
                </a:solidFill>
                <a:latin typeface="Helvetica Neue"/>
                <a:ea typeface="Helvetica Neue"/>
                <a:cs typeface="Helvetica Neue"/>
              </a:rPr>
              <a:t>09</a:t>
            </a:r>
          </a:p>
        </p:txBody>
      </p:sp>
      <p:sp>
        <p:nvSpPr>
          <p:cNvPr id="12" name="Quote expired">
            <a:extLst xmlns:a="http://schemas.openxmlformats.org/drawingml/2006/main">
              <a:ext uri="{FF2B5EF4-FFF2-40B4-BE49-F238E27FC236}">
                <a16:creationId xmlns:a16="http://schemas.microsoft.com/office/drawing/2014/main" id="{EB77EDD8-59EC-41C1-8E8F-1C00D240904B}"/>
              </a:ext>
            </a:extLst>
          </p:cNvPr>
          <p:cNvSpPr>
            <a:spLocks xmlns:a="http://schemas.openxmlformats.org/drawingml/2006/main" noGrp="1"/>
          </p:cNvSpPr>
          <p:nvPr/>
        </p:nvSpPr>
        <p:spPr>
          <a:xfrm xmlns:a="http://schemas.openxmlformats.org/drawingml/2006/main">
            <a:off x="8858250" y="349567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FAFAFA"/>
                </a:solidFill>
                <a:latin typeface="Helvetica Neue"/>
                <a:ea typeface="Helvetica Neue"/>
                <a:cs typeface="Helvetica Neue"/>
              </a:defRPr>
            </a:pPr>
            <a:r>
              <a:rPr sz="2175" b="1">
                <a:solidFill>
                  <a:srgbClr val="FAFAFA"/>
                </a:solidFill>
                <a:latin typeface="Helvetica Neue"/>
                <a:ea typeface="Helvetica Neue"/>
                <a:cs typeface="Helvetica Neue"/>
              </a:rPr>
              <a:t>Quote expired</a:t>
            </a:r>
          </a:p>
        </p:txBody>
      </p:sp>
      <p:sp>
        <p:nvSpPr>
          <p:cNvPr id="13" name="Maker must renew">
            <a:extLst xmlns:a="http://schemas.openxmlformats.org/drawingml/2006/main">
              <a:ext uri="{FF2B5EF4-FFF2-40B4-BE49-F238E27FC236}">
                <a16:creationId xmlns:a16="http://schemas.microsoft.com/office/drawing/2014/main" id="{5C8DF322-A7E5-4DD5-B0E4-26ED4FEA9E3D}"/>
              </a:ext>
            </a:extLst>
          </p:cNvPr>
          <p:cNvSpPr>
            <a:spLocks xmlns:a="http://schemas.openxmlformats.org/drawingml/2006/main" noGrp="1"/>
          </p:cNvSpPr>
          <p:nvPr/>
        </p:nvSpPr>
        <p:spPr>
          <a:xfrm xmlns:a="http://schemas.openxmlformats.org/drawingml/2006/main">
            <a:off x="8858250" y="4143375"/>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A4A4AD"/>
                </a:solidFill>
                <a:latin typeface="Helvetica Neue"/>
                <a:ea typeface="Helvetica Neue"/>
                <a:cs typeface="Helvetica Neue"/>
              </a:defRPr>
            </a:pPr>
            <a:r>
              <a:rPr sz="1875" b="0">
                <a:solidFill>
                  <a:srgbClr val="A4A4AD"/>
                </a:solidFill>
                <a:latin typeface="Helvetica Neue"/>
                <a:ea typeface="Helvetica Neue"/>
                <a:cs typeface="Helvetica Neue"/>
              </a:rPr>
              <a:t>Maker must renew</a:t>
            </a:r>
          </a:p>
        </p:txBody>
      </p:sp>
      <p:sp>
        <p:nvSpPr>
          <p:cNvPr id="14" name="Open local replay">
            <a:extLst xmlns:a="http://schemas.openxmlformats.org/drawingml/2006/main">
              <a:ext uri="{FF2B5EF4-FFF2-40B4-BE49-F238E27FC236}">
                <a16:creationId xmlns:a16="http://schemas.microsoft.com/office/drawing/2014/main" id="{590E4C7E-195F-44CA-926B-B4352BBE322C}"/>
              </a:ext>
            </a:extLst>
          </p:cNvPr>
          <p:cNvSpPr>
            <a:spLocks xmlns:a="http://schemas.openxmlformats.org/drawingml/2006/main" noGrp="1"/>
          </p:cNvSpPr>
          <p:nvPr/>
        </p:nvSpPr>
        <p:spPr>
          <a:xfrm xmlns:a="http://schemas.openxmlformats.org/drawingml/2006/main">
            <a:off x="762000" y="5257800"/>
            <a:ext cx="1028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0">
                <a:solidFill>
                  <a:srgbClr val="37D67A"/>
                </a:solidFill>
                <a:latin typeface="Helvetica Neue"/>
                <a:ea typeface="Helvetica Neue"/>
                <a:cs typeface="Helvetica Neue"/>
              </a:defRPr>
            </a:pPr>
            <a:r>
              <a:rPr sz="2550" b="0" u="sng">
                <a:solidFill>
                  <a:srgbClr val="37D67A"/>
                </a:solidFill>
                <a:latin typeface="Helvetica Neue"/>
                <a:ea typeface="Helvetica Neue"/>
                <a:cs typeface="Helvetica Neue"/>
                <a:hlinkClick xmlns:r="http://schemas.openxmlformats.org/officeDocument/2006/relationships" r:id="R681f72026f2c4b36"/>
              </a:rPr>
              <a:t>Open local replay</a:t>
            </a:r>
          </a:p>
        </p:txBody>
      </p:sp>
    </p:spTree>
    <p:extLst>
      <p:ext uri="{BB962C8B-B14F-4D97-AF65-F5344CB8AC3E}">
        <p14:creationId xmlns:p14="http://schemas.microsoft.com/office/powerpoint/2010/main" val="1053885414"/>
      </p:ext>
    </p:extLst>
  </p:cSld>
</p:sld>
</file>

<file path=ppt/slides/slide6.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9" name="Reproducible contract evidence">
            <a:extLst xmlns:a="http://schemas.openxmlformats.org/drawingml/2006/main">
              <a:ext uri="{FF2B5EF4-FFF2-40B4-BE49-F238E27FC236}">
                <a16:creationId xmlns:a16="http://schemas.microsoft.com/office/drawing/2014/main" id="{05CEDBE6-16FD-41F1-89EA-AB4632B4741D}"/>
              </a:ext>
            </a:extLst>
          </p:cNvPr>
          <p:cNvSpPr>
            <a:spLocks xmlns:a="http://schemas.openxmlformats.org/drawingml/2006/main" noGrp="1"/>
          </p:cNvSpPr>
          <p:nvPr/>
        </p:nvSpPr>
        <p:spPr>
          <a:xfrm xmlns:a="http://schemas.openxmlformats.org/drawingml/2006/main">
            <a:off x="609600" y="47625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450" b="1">
                <a:solidFill>
                  <a:srgbClr val="FAFAFA"/>
                </a:solidFill>
                <a:latin typeface="Helvetica Neue"/>
                <a:ea typeface="Helvetica Neue"/>
                <a:cs typeface="Helvetica Neue"/>
              </a:defRPr>
            </a:pPr>
            <a:r>
              <a:rPr sz="3450" b="1">
                <a:solidFill>
                  <a:srgbClr val="FAFAFA"/>
                </a:solidFill>
                <a:latin typeface="Helvetica Neue"/>
                <a:ea typeface="Helvetica Neue"/>
                <a:cs typeface="Helvetica Neue"/>
              </a:rPr>
              <a:t>Reproducible contract evidence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fbcad5f2c0745b9">
            <a:extLst>
              <a:ext uri="{96DAC541-7B7A-43D3-8B79-37D633B846F1}">
                <asvg:svgBlip xmlns:asvg="http://schemas.microsoft.com/office/drawing/2016/SVG/main" r:embed="R27305b8970b242ab"/>
              </a:ext>
            </a:extLst>
          </a:blip>
          <a:stretch xmlns:a="http://schemas.openxmlformats.org/drawingml/2006/main"/>
        </p:blipFill>
        <p:spPr>
          <a:xfrm xmlns:a="http://schemas.openxmlformats.org/drawingml/2006/main">
            <a:off x="609600" y="6200775"/>
            <a:ext cx="247650" cy="24765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323C6752-67CD-43EF-B572-4ACC5B9E533D}"/>
              </a:ext>
            </a:extLst>
          </p:cNvPr>
          <p:cNvSpPr>
            <a:spLocks xmlns:a="http://schemas.openxmlformats.org/drawingml/2006/main" noGrp="1"/>
          </p:cNvSpPr>
          <p:nvPr/>
        </p:nvSpPr>
        <p:spPr>
          <a:xfrm xmlns:a="http://schemas.openxmlformats.org/drawingml/2006/main">
            <a:off x="962025" y="61626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A4A4AD"/>
                </a:solidFill>
                <a:latin typeface="Helvetica Neue"/>
                <a:ea typeface="Helvetica Neue"/>
                <a:cs typeface="Helvetica Neue"/>
              </a:defRPr>
            </a:pPr>
            <a:r>
              <a:rPr sz="1350" b="0">
                <a:solidFill>
                  <a:srgbClr val="A4A4AD"/>
                </a:solidFill>
                <a:latin typeface="Helvetica Neue"/>
                <a:ea typeface="Helvetica Neue"/>
                <a:cs typeface="Helvetica Neue"/>
              </a:rPr>
              <a:t>Vexi Hakari</a:t>
            </a:r>
          </a:p>
        </p:txBody>
      </p:sp>
      <p:sp>
        <p:nvSpPr>
          <p:cNvPr id="4" name="6">
            <a:extLst xmlns:a="http://schemas.openxmlformats.org/drawingml/2006/main">
              <a:ext uri="{FF2B5EF4-FFF2-40B4-BE49-F238E27FC236}">
                <a16:creationId xmlns:a16="http://schemas.microsoft.com/office/drawing/2014/main" id="{19A9C301-09BA-4F8A-96C8-79A5F4DDEDCB}"/>
              </a:ext>
            </a:extLst>
          </p:cNvPr>
          <p:cNvSpPr>
            <a:spLocks xmlns:a="http://schemas.openxmlformats.org/drawingml/2006/main" noGrp="1"/>
          </p:cNvSpPr>
          <p:nvPr/>
        </p:nvSpPr>
        <p:spPr>
          <a:xfrm xmlns:a="http://schemas.openxmlformats.org/drawingml/2006/main">
            <a:off x="11049000" y="61626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350" b="0">
                <a:solidFill>
                  <a:srgbClr val="A4A4AD"/>
                </a:solidFill>
                <a:latin typeface="Helvetica Neue"/>
                <a:ea typeface="Helvetica Neue"/>
                <a:cs typeface="Helvetica Neue"/>
              </a:defRPr>
            </a:pPr>
            <a:r>
              <a:rPr sz="1350" b="0">
                <a:solidFill>
                  <a:srgbClr val="A4A4AD"/>
                </a:solidFill>
                <a:latin typeface="Helvetica Neue"/>
                <a:ea typeface="Helvetica Neue"/>
                <a:cs typeface="Helvetica Neue"/>
              </a:rPr>
              <a:t>6</a:t>
            </a:r>
          </a:p>
        </p:txBody>
      </p:sp>
      <p:sp>
        <p:nvSpPr>
          <p:cNvPr id="5" name="15">
            <a:extLst xmlns:a="http://schemas.openxmlformats.org/drawingml/2006/main">
              <a:ext uri="{FF2B5EF4-FFF2-40B4-BE49-F238E27FC236}">
                <a16:creationId xmlns:a16="http://schemas.microsoft.com/office/drawing/2014/main" id="{C8A34FAE-BA88-4C65-B873-9E93CD9E292F}"/>
              </a:ext>
            </a:extLst>
          </p:cNvPr>
          <p:cNvSpPr>
            <a:spLocks xmlns:a="http://schemas.openxmlformats.org/drawingml/2006/main" noGrp="1"/>
          </p:cNvSpPr>
          <p:nvPr/>
        </p:nvSpPr>
        <p:spPr>
          <a:xfrm xmlns:a="http://schemas.openxmlformats.org/drawingml/2006/main">
            <a:off x="762000" y="1819275"/>
            <a:ext cx="276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800" b="1">
                <a:solidFill>
                  <a:srgbClr val="37D67A"/>
                </a:solidFill>
                <a:latin typeface="Helvetica Neue"/>
                <a:ea typeface="Helvetica Neue"/>
                <a:cs typeface="Helvetica Neue"/>
              </a:defRPr>
            </a:pPr>
            <a:r>
              <a:rPr sz="7800" b="1">
                <a:solidFill>
                  <a:srgbClr val="37D67A"/>
                </a:solidFill>
                <a:latin typeface="Helvetica Neue"/>
                <a:ea typeface="Helvetica Neue"/>
                <a:cs typeface="Helvetica Neue"/>
              </a:rPr>
              <a:t>15</a:t>
            </a:r>
          </a:p>
        </p:txBody>
      </p:sp>
      <p:sp>
        <p:nvSpPr>
          <p:cNvPr id="6" name="Lifecycle steps">
            <a:extLst xmlns:a="http://schemas.openxmlformats.org/drawingml/2006/main">
              <a:ext uri="{FF2B5EF4-FFF2-40B4-BE49-F238E27FC236}">
                <a16:creationId xmlns:a16="http://schemas.microsoft.com/office/drawing/2014/main" id="{5C8A96B4-C6FF-437D-869B-9B587A1A6316}"/>
              </a:ext>
            </a:extLst>
          </p:cNvPr>
          <p:cNvSpPr>
            <a:spLocks xmlns:a="http://schemas.openxmlformats.org/drawingml/2006/main" noGrp="1"/>
          </p:cNvSpPr>
          <p:nvPr/>
        </p:nvSpPr>
        <p:spPr>
          <a:xfrm xmlns:a="http://schemas.openxmlformats.org/drawingml/2006/main">
            <a:off x="762000" y="3105150"/>
            <a:ext cx="285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A4A4AD"/>
                </a:solidFill>
                <a:latin typeface="Helvetica Neue"/>
                <a:ea typeface="Helvetica Neue"/>
                <a:cs typeface="Helvetica Neue"/>
              </a:defRPr>
            </a:pPr>
            <a:r>
              <a:rPr sz="2025" b="0">
                <a:solidFill>
                  <a:srgbClr val="A4A4AD"/>
                </a:solidFill>
                <a:latin typeface="Helvetica Neue"/>
                <a:ea typeface="Helvetica Neue"/>
                <a:cs typeface="Helvetica Neue"/>
              </a:rPr>
              <a:t>Lifecycle steps</a:t>
            </a:r>
          </a:p>
        </p:txBody>
      </p:sp>
      <p:sp>
        <p:nvSpPr>
          <p:cNvPr id="7" name="5">
            <a:extLst xmlns:a="http://schemas.openxmlformats.org/drawingml/2006/main">
              <a:ext uri="{FF2B5EF4-FFF2-40B4-BE49-F238E27FC236}">
                <a16:creationId xmlns:a16="http://schemas.microsoft.com/office/drawing/2014/main" id="{EF47C714-3333-4DE3-B0B6-4AAC67E57F41}"/>
              </a:ext>
            </a:extLst>
          </p:cNvPr>
          <p:cNvSpPr>
            <a:spLocks xmlns:a="http://schemas.openxmlformats.org/drawingml/2006/main" noGrp="1"/>
          </p:cNvSpPr>
          <p:nvPr/>
        </p:nvSpPr>
        <p:spPr>
          <a:xfrm xmlns:a="http://schemas.openxmlformats.org/drawingml/2006/main">
            <a:off x="4762500" y="1819275"/>
            <a:ext cx="276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800" b="1">
                <a:solidFill>
                  <a:srgbClr val="37D67A"/>
                </a:solidFill>
                <a:latin typeface="Helvetica Neue"/>
                <a:ea typeface="Helvetica Neue"/>
                <a:cs typeface="Helvetica Neue"/>
              </a:defRPr>
            </a:pPr>
            <a:r>
              <a:rPr sz="7800" b="1">
                <a:solidFill>
                  <a:srgbClr val="37D67A"/>
                </a:solidFill>
                <a:latin typeface="Helvetica Neue"/>
                <a:ea typeface="Helvetica Neue"/>
                <a:cs typeface="Helvetica Neue"/>
              </a:rPr>
              <a:t>5</a:t>
            </a:r>
          </a:p>
        </p:txBody>
      </p:sp>
      <p:sp>
        <p:nvSpPr>
          <p:cNvPr id="8" name="Executed scenarios">
            <a:extLst xmlns:a="http://schemas.openxmlformats.org/drawingml/2006/main">
              <a:ext uri="{FF2B5EF4-FFF2-40B4-BE49-F238E27FC236}">
                <a16:creationId xmlns:a16="http://schemas.microsoft.com/office/drawing/2014/main" id="{87729224-56B8-4BA3-AFAE-6F1C4678237A}"/>
              </a:ext>
            </a:extLst>
          </p:cNvPr>
          <p:cNvSpPr>
            <a:spLocks xmlns:a="http://schemas.openxmlformats.org/drawingml/2006/main" noGrp="1"/>
          </p:cNvSpPr>
          <p:nvPr/>
        </p:nvSpPr>
        <p:spPr>
          <a:xfrm xmlns:a="http://schemas.openxmlformats.org/drawingml/2006/main">
            <a:off x="4762500" y="3105150"/>
            <a:ext cx="285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A4A4AD"/>
                </a:solidFill>
                <a:latin typeface="Helvetica Neue"/>
                <a:ea typeface="Helvetica Neue"/>
                <a:cs typeface="Helvetica Neue"/>
              </a:defRPr>
            </a:pPr>
            <a:r>
              <a:rPr sz="2025" b="0">
                <a:solidFill>
                  <a:srgbClr val="A4A4AD"/>
                </a:solidFill>
                <a:latin typeface="Helvetica Neue"/>
                <a:ea typeface="Helvetica Neue"/>
                <a:cs typeface="Helvetica Neue"/>
              </a:rPr>
              <a:t>Executed scenarios</a:t>
            </a:r>
          </a:p>
        </p:txBody>
      </p:sp>
      <p:sp>
        <p:nvSpPr>
          <p:cNvPr id="9" name="0">
            <a:extLst xmlns:a="http://schemas.openxmlformats.org/drawingml/2006/main">
              <a:ext uri="{FF2B5EF4-FFF2-40B4-BE49-F238E27FC236}">
                <a16:creationId xmlns:a16="http://schemas.microsoft.com/office/drawing/2014/main" id="{4FEA4415-C396-473D-85C8-DF994CFD2E8D}"/>
              </a:ext>
            </a:extLst>
          </p:cNvPr>
          <p:cNvSpPr>
            <a:spLocks xmlns:a="http://schemas.openxmlformats.org/drawingml/2006/main" noGrp="1"/>
          </p:cNvSpPr>
          <p:nvPr/>
        </p:nvSpPr>
        <p:spPr>
          <a:xfrm xmlns:a="http://schemas.openxmlformats.org/drawingml/2006/main">
            <a:off x="8858250" y="1819275"/>
            <a:ext cx="276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800" b="1">
                <a:solidFill>
                  <a:srgbClr val="37D67A"/>
                </a:solidFill>
                <a:latin typeface="Helvetica Neue"/>
                <a:ea typeface="Helvetica Neue"/>
                <a:cs typeface="Helvetica Neue"/>
              </a:defRPr>
            </a:pPr>
            <a:r>
              <a:rPr sz="7800" b="1">
                <a:solidFill>
                  <a:srgbClr val="37D67A"/>
                </a:solidFill>
                <a:latin typeface="Helvetica Neue"/>
                <a:ea typeface="Helvetica Neue"/>
                <a:cs typeface="Helvetica Neue"/>
              </a:rPr>
              <a:t>0</a:t>
            </a:r>
          </a:p>
        </p:txBody>
      </p:sp>
      <p:sp>
        <p:nvSpPr>
          <p:cNvPr id="10" name="Mainnet broadcasts">
            <a:extLst xmlns:a="http://schemas.openxmlformats.org/drawingml/2006/main">
              <a:ext uri="{FF2B5EF4-FFF2-40B4-BE49-F238E27FC236}">
                <a16:creationId xmlns:a16="http://schemas.microsoft.com/office/drawing/2014/main" id="{B9A2E50C-7A94-4021-BF48-C2150A36D82F}"/>
              </a:ext>
            </a:extLst>
          </p:cNvPr>
          <p:cNvSpPr>
            <a:spLocks xmlns:a="http://schemas.openxmlformats.org/drawingml/2006/main" noGrp="1"/>
          </p:cNvSpPr>
          <p:nvPr/>
        </p:nvSpPr>
        <p:spPr>
          <a:xfrm xmlns:a="http://schemas.openxmlformats.org/drawingml/2006/main">
            <a:off x="8858250" y="3105150"/>
            <a:ext cx="285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A4A4AD"/>
                </a:solidFill>
                <a:latin typeface="Helvetica Neue"/>
                <a:ea typeface="Helvetica Neue"/>
                <a:cs typeface="Helvetica Neue"/>
              </a:defRPr>
            </a:pPr>
            <a:r>
              <a:rPr sz="2025" b="0">
                <a:solidFill>
                  <a:srgbClr val="A4A4AD"/>
                </a:solidFill>
                <a:latin typeface="Helvetica Neue"/>
                <a:ea typeface="Helvetica Neue"/>
                <a:cs typeface="Helvetica Neue"/>
              </a:rPr>
              <a:t>Mainnet broadcasts</a:t>
            </a:r>
          </a:p>
        </p:txBody>
      </p:sp>
      <p:sp>
        <p:nvSpPr>
          <p:cNvPr id="11" name="Source">
            <a:extLst xmlns:a="http://schemas.openxmlformats.org/drawingml/2006/main">
              <a:ext uri="{FF2B5EF4-FFF2-40B4-BE49-F238E27FC236}">
                <a16:creationId xmlns:a16="http://schemas.microsoft.com/office/drawing/2014/main" id="{D5B5288B-5FD6-47E8-9278-9301DCC95DBC}"/>
              </a:ext>
            </a:extLst>
          </p:cNvPr>
          <p:cNvSpPr>
            <a:spLocks xmlns:a="http://schemas.openxmlformats.org/drawingml/2006/main" noGrp="1"/>
          </p:cNvSpPr>
          <p:nvPr/>
        </p:nvSpPr>
        <p:spPr>
          <a:xfrm xmlns:a="http://schemas.openxmlformats.org/drawingml/2006/main">
            <a:off x="762000" y="4191000"/>
            <a:ext cx="190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FAFAFA"/>
                </a:solidFill>
                <a:latin typeface="Helvetica Neue"/>
                <a:ea typeface="Helvetica Neue"/>
                <a:cs typeface="Helvetica Neue"/>
              </a:defRPr>
            </a:pPr>
            <a:r>
              <a:rPr sz="2400" b="1">
                <a:solidFill>
                  <a:srgbClr val="FAFAFA"/>
                </a:solidFill>
                <a:latin typeface="Helvetica Neue"/>
                <a:ea typeface="Helvetica Neue"/>
                <a:cs typeface="Helvetica Neue"/>
              </a:rPr>
              <a:t>Source</a:t>
            </a:r>
          </a:p>
        </p:txBody>
      </p:sp>
      <p:sp>
        <p:nvSpPr>
          <p:cNvPr id="12" name="Tests">
            <a:extLst xmlns:a="http://schemas.openxmlformats.org/drawingml/2006/main">
              <a:ext uri="{FF2B5EF4-FFF2-40B4-BE49-F238E27FC236}">
                <a16:creationId xmlns:a16="http://schemas.microsoft.com/office/drawing/2014/main" id="{94A784E5-2345-4A02-AFC8-3C822E886643}"/>
              </a:ext>
            </a:extLst>
          </p:cNvPr>
          <p:cNvSpPr>
            <a:spLocks xmlns:a="http://schemas.openxmlformats.org/drawingml/2006/main" noGrp="1"/>
          </p:cNvSpPr>
          <p:nvPr/>
        </p:nvSpPr>
        <p:spPr>
          <a:xfrm xmlns:a="http://schemas.openxmlformats.org/drawingml/2006/main">
            <a:off x="3686175" y="4191000"/>
            <a:ext cx="190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FAFAFA"/>
                </a:solidFill>
                <a:latin typeface="Helvetica Neue"/>
                <a:ea typeface="Helvetica Neue"/>
                <a:cs typeface="Helvetica Neue"/>
              </a:defRPr>
            </a:pPr>
            <a:r>
              <a:rPr sz="2400" b="1">
                <a:solidFill>
                  <a:srgbClr val="FAFAFA"/>
                </a:solidFill>
                <a:latin typeface="Helvetica Neue"/>
                <a:ea typeface="Helvetica Neue"/>
                <a:cs typeface="Helvetica Neue"/>
              </a:rPr>
              <a:t>Tests</a:t>
            </a:r>
          </a:p>
        </p:txBody>
      </p:sp>
      <p:sp>
        <p:nvSpPr>
          <p:cNvPr id="13" name="JSON">
            <a:extLst xmlns:a="http://schemas.openxmlformats.org/drawingml/2006/main">
              <a:ext uri="{FF2B5EF4-FFF2-40B4-BE49-F238E27FC236}">
                <a16:creationId xmlns:a16="http://schemas.microsoft.com/office/drawing/2014/main" id="{07304A3E-D32A-40EF-8721-235D125BB4DC}"/>
              </a:ext>
            </a:extLst>
          </p:cNvPr>
          <p:cNvSpPr>
            <a:spLocks xmlns:a="http://schemas.openxmlformats.org/drawingml/2006/main" noGrp="1"/>
          </p:cNvSpPr>
          <p:nvPr/>
        </p:nvSpPr>
        <p:spPr>
          <a:xfrm xmlns:a="http://schemas.openxmlformats.org/drawingml/2006/main">
            <a:off x="6610350" y="4191000"/>
            <a:ext cx="190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FAFAFA"/>
                </a:solidFill>
                <a:latin typeface="Helvetica Neue"/>
                <a:ea typeface="Helvetica Neue"/>
                <a:cs typeface="Helvetica Neue"/>
              </a:defRPr>
            </a:pPr>
            <a:r>
              <a:rPr sz="2400" b="1">
                <a:solidFill>
                  <a:srgbClr val="FAFAFA"/>
                </a:solidFill>
                <a:latin typeface="Helvetica Neue"/>
                <a:ea typeface="Helvetica Neue"/>
                <a:cs typeface="Helvetica Neue"/>
              </a:rPr>
              <a:t>JSON</a:t>
            </a:r>
          </a:p>
        </p:txBody>
      </p:sp>
      <p:sp>
        <p:nvSpPr>
          <p:cNvPr id="14" name="Website">
            <a:extLst xmlns:a="http://schemas.openxmlformats.org/drawingml/2006/main">
              <a:ext uri="{FF2B5EF4-FFF2-40B4-BE49-F238E27FC236}">
                <a16:creationId xmlns:a16="http://schemas.microsoft.com/office/drawing/2014/main" id="{CB63B7E5-5FEE-4E88-94A3-AB800100955B}"/>
              </a:ext>
            </a:extLst>
          </p:cNvPr>
          <p:cNvSpPr>
            <a:spLocks xmlns:a="http://schemas.openxmlformats.org/drawingml/2006/main" noGrp="1"/>
          </p:cNvSpPr>
          <p:nvPr/>
        </p:nvSpPr>
        <p:spPr>
          <a:xfrm xmlns:a="http://schemas.openxmlformats.org/drawingml/2006/main">
            <a:off x="9534525" y="4191000"/>
            <a:ext cx="190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FAFAFA"/>
                </a:solidFill>
                <a:latin typeface="Helvetica Neue"/>
                <a:ea typeface="Helvetica Neue"/>
                <a:cs typeface="Helvetica Neue"/>
              </a:defRPr>
            </a:pPr>
            <a:r>
              <a:rPr sz="2400" b="1">
                <a:solidFill>
                  <a:srgbClr val="FAFAFA"/>
                </a:solidFill>
                <a:latin typeface="Helvetica Neue"/>
                <a:ea typeface="Helvetica Neue"/>
                <a:cs typeface="Helvetica Neue"/>
              </a:rPr>
              <a:t>Website</a:t>
            </a:r>
          </a:p>
        </p:txBody>
      </p:sp>
      <p:cxnSp>
        <p:nvCxnSpPr>
          <p:cNvPr id="33" name=""/>
          <p:cNvCxnSpPr>
            <a:stCxn xmlns:a="http://schemas.openxmlformats.org/drawingml/2006/main" id="11" idx="3"/>
            <a:endCxn xmlns:a="http://schemas.openxmlformats.org/drawingml/2006/main" id="12" idx="1"/>
          </p:cNvCxnSpPr>
          <p:nvPr/>
        </p:nvCxnSpPr>
        <p:spPr>
          <a:xfrm xmlns:a="http://schemas.openxmlformats.org/drawingml/2006/main">
            <a:off x="2667000" y="4500563"/>
            <a:ext cx="1019175" cy="0"/>
          </a:xfrm>
          <a:prstGeom xmlns:a="http://schemas.openxmlformats.org/drawingml/2006/main" prst="straightConnector1">
            <a:avLst/>
          </a:prstGeom>
          <a:ln xmlns:a="http://schemas.openxmlformats.org/drawingml/2006/main" w="24765">
            <a:solidFill>
              <a:srgbClr val="A4A4AD"/>
            </a:solidFill>
            <a:prstDash val="solid"/>
            <a:tailEnd type="triangle" w="med" len="med"/>
          </a:ln>
        </p:spPr>
      </p:cxnSp>
      <p:cxnSp>
        <p:nvCxnSpPr>
          <p:cNvPr id="34" name=""/>
          <p:cNvCxnSpPr>
            <a:stCxn xmlns:a="http://schemas.openxmlformats.org/drawingml/2006/main" id="12" idx="3"/>
            <a:endCxn xmlns:a="http://schemas.openxmlformats.org/drawingml/2006/main" id="13" idx="1"/>
          </p:cNvCxnSpPr>
          <p:nvPr/>
        </p:nvCxnSpPr>
        <p:spPr>
          <a:xfrm xmlns:a="http://schemas.openxmlformats.org/drawingml/2006/main">
            <a:off x="5591175" y="4500563"/>
            <a:ext cx="1019175" cy="0"/>
          </a:xfrm>
          <a:prstGeom xmlns:a="http://schemas.openxmlformats.org/drawingml/2006/main" prst="straightConnector1">
            <a:avLst/>
          </a:prstGeom>
          <a:ln xmlns:a="http://schemas.openxmlformats.org/drawingml/2006/main" w="24765">
            <a:solidFill>
              <a:srgbClr val="A4A4AD"/>
            </a:solidFill>
            <a:prstDash val="solid"/>
            <a:tailEnd type="triangle" w="med" len="med"/>
          </a:ln>
        </p:spPr>
      </p:cxnSp>
      <p:cxnSp>
        <p:nvCxnSpPr>
          <p:cNvPr id="35" name=""/>
          <p:cNvCxnSpPr>
            <a:stCxn xmlns:a="http://schemas.openxmlformats.org/drawingml/2006/main" id="13" idx="3"/>
            <a:endCxn xmlns:a="http://schemas.openxmlformats.org/drawingml/2006/main" id="14" idx="1"/>
          </p:cNvCxnSpPr>
          <p:nvPr/>
        </p:nvCxnSpPr>
        <p:spPr>
          <a:xfrm xmlns:a="http://schemas.openxmlformats.org/drawingml/2006/main">
            <a:off x="8515350" y="4500563"/>
            <a:ext cx="1019175" cy="0"/>
          </a:xfrm>
          <a:prstGeom xmlns:a="http://schemas.openxmlformats.org/drawingml/2006/main" prst="straightConnector1">
            <a:avLst/>
          </a:prstGeom>
          <a:ln xmlns:a="http://schemas.openxmlformats.org/drawingml/2006/main" w="24765">
            <a:solidFill>
              <a:srgbClr val="A4A4AD"/>
            </a:solidFill>
            <a:prstDash val="solid"/>
            <a:tailEnd type="triangle" w="med" len="med"/>
          </a:ln>
        </p:spPr>
      </p:cxnSp>
      <p:sp>
        <p:nvSpPr>
          <p:cNvPr id="18" name="github.com/vexi-v1/vexi-hakari">
            <a:extLst xmlns:a="http://schemas.openxmlformats.org/drawingml/2006/main">
              <a:ext uri="{FF2B5EF4-FFF2-40B4-BE49-F238E27FC236}">
                <a16:creationId xmlns:a16="http://schemas.microsoft.com/office/drawing/2014/main" id="{C13995C0-8A88-4183-8472-C65B5FA8C06E}"/>
              </a:ext>
            </a:extLst>
          </p:cNvPr>
          <p:cNvSpPr>
            <a:spLocks xmlns:a="http://schemas.openxmlformats.org/drawingml/2006/main" noGrp="1"/>
          </p:cNvSpPr>
          <p:nvPr/>
        </p:nvSpPr>
        <p:spPr>
          <a:xfrm xmlns:a="http://schemas.openxmlformats.org/drawingml/2006/main">
            <a:off x="762000" y="53816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37D67A"/>
                </a:solidFill>
                <a:latin typeface="Helvetica Neue"/>
                <a:ea typeface="Helvetica Neue"/>
                <a:cs typeface="Helvetica Neue"/>
              </a:defRPr>
            </a:pPr>
            <a:r>
              <a:rPr sz="2250" b="0" u="sng">
                <a:solidFill>
                  <a:srgbClr val="37D67A"/>
                </a:solidFill>
                <a:latin typeface="Helvetica Neue"/>
                <a:ea typeface="Helvetica Neue"/>
                <a:cs typeface="Helvetica Neue"/>
                <a:hlinkClick xmlns:r="http://schemas.openxmlformats.org/officeDocument/2006/relationships" r:id="Rb075a29e08814a59"/>
              </a:rPr>
              <a:t>github.com/vexi-v1/vexi-hakari</a:t>
            </a:r>
          </a:p>
        </p:txBody>
      </p:sp>
    </p:spTree>
    <p:extLst>
      <p:ext uri="{BB962C8B-B14F-4D97-AF65-F5344CB8AC3E}">
        <p14:creationId xmlns:p14="http://schemas.microsoft.com/office/powerpoint/2010/main" val="14597802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2026-09-26T20:25:14.4690000Z</dcterms:created>
  <dcterms:modified xsi:type="dcterms:W3CDTF">2026-09-26T20:25:14.4690000Z</dcterms:modified>
</coreProperties>
</file>