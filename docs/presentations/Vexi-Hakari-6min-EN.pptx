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bf71caafdc2476e" /><Relationship Type="http://schemas.openxmlformats.org/officeDocument/2006/relationships/extended-properties" Target="/docProps/app.xml" Id="Rb5ddb2b4c46d4ad2" /><Relationship Type="http://schemas.openxmlformats.org/officeDocument/2006/relationships/officeDocument" Target="/ppt/presentation.xml" Id="R43edef7696e44c28" /></Relationships>
</file>

<file path=ppt/presentation.xml><?xml version="1.0" encoding="utf-8"?>
<p:presentation xmlns:p="http://schemas.openxmlformats.org/presentationml/2006/main">
  <p:sldMasterIdLst>
    <p:sldMasterId xmlns:r="http://schemas.openxmlformats.org/officeDocument/2006/relationships" id="2147483648" r:id="Rd418a43562aa4e02"/>
  </p:sldMasterIdLst>
  <p:notesMasterIdLst>
    <p:notesMasterId xmlns:r="http://schemas.openxmlformats.org/officeDocument/2006/relationships" r:id="R2fb562a922074c6f"/>
  </p:notesMasterIdLst>
  <p:sldIdLst>
    <p:sldId xmlns:r="http://schemas.openxmlformats.org/officeDocument/2006/relationships" id="256" r:id="Rf5203ae59a834d4f"/>
    <p:sldId xmlns:r="http://schemas.openxmlformats.org/officeDocument/2006/relationships" id="257" r:id="R4a1855e41ca447ee"/>
    <p:sldId xmlns:r="http://schemas.openxmlformats.org/officeDocument/2006/relationships" id="258" r:id="Re3329c9e7bba4530"/>
    <p:sldId xmlns:r="http://schemas.openxmlformats.org/officeDocument/2006/relationships" id="259" r:id="R65eff6dd72db4eff"/>
    <p:sldId xmlns:r="http://schemas.openxmlformats.org/officeDocument/2006/relationships" id="260" r:id="R885ee17c0e5d46f6"/>
    <p:sldId xmlns:r="http://schemas.openxmlformats.org/officeDocument/2006/relationships" id="261" r:id="Rd9efdcb8f456421c"/>
    <p:sldId xmlns:r="http://schemas.openxmlformats.org/officeDocument/2006/relationships" id="262" r:id="R092fc9c805b940e3"/>
    <p:sldId xmlns:r="http://schemas.openxmlformats.org/officeDocument/2006/relationships" id="263" r:id="Rf2ad8c7119e24ead"/>
    <p:sldId xmlns:r="http://schemas.openxmlformats.org/officeDocument/2006/relationships" id="264" r:id="R2a1e04c39a634948"/>
    <p:sldId xmlns:r="http://schemas.openxmlformats.org/officeDocument/2006/relationships" id="265" r:id="R36be34a968bc4e6b"/>
    <p:sldId xmlns:r="http://schemas.openxmlformats.org/officeDocument/2006/relationships" id="266" r:id="R528b831dc0e04c4e"/>
    <p:sldId xmlns:r="http://schemas.openxmlformats.org/officeDocument/2006/relationships" id="267" r:id="R63a150b059894eb9"/>
    <p:sldId xmlns:r="http://schemas.openxmlformats.org/officeDocument/2006/relationships" id="268" r:id="R500c3d9e9d1c468d"/>
    <p:sldId xmlns:r="http://schemas.openxmlformats.org/officeDocument/2006/relationships" id="269" r:id="R6a25556f41684013"/>
    <p:sldId xmlns:r="http://schemas.openxmlformats.org/officeDocument/2006/relationships" id="270" r:id="Rd8a41f3cb78147a7"/>
    <p:sldId xmlns:r="http://schemas.openxmlformats.org/officeDocument/2006/relationships" id="271" r:id="Rcb5872d183f146de"/>
    <p:sldId xmlns:r="http://schemas.openxmlformats.org/officeDocument/2006/relationships" id="272" r:id="R1030f48cea94481c"/>
    <p:sldId xmlns:r="http://schemas.openxmlformats.org/officeDocument/2006/relationships" id="273" r:id="Rbd338d8a3845435c"/>
    <p:sldId xmlns:r="http://schemas.openxmlformats.org/officeDocument/2006/relationships" id="274" r:id="Rb26ce287bdfc41a9"/>
    <p:sldId xmlns:r="http://schemas.openxmlformats.org/officeDocument/2006/relationships" id="275" r:id="R9f66d9b6ceab46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de9a92da8f4c06" /><Relationship Type="http://schemas.openxmlformats.org/officeDocument/2006/relationships/slideMaster" Target="/ppt/slideMasters/slideMaster1.xml" Id="Rd418a43562aa4e02" /><Relationship Type="http://schemas.openxmlformats.org/officeDocument/2006/relationships/notesMaster" Target="/ppt/notesMasters/notesMaster1.xml" Id="R2fb562a922074c6f" /><Relationship Type="http://schemas.openxmlformats.org/officeDocument/2006/relationships/presProps" Target="/ppt/presProps.xml" Id="Rff90d7f69d964f73" /><Relationship Type="http://schemas.openxmlformats.org/officeDocument/2006/relationships/tableStyles" Target="/ppt/tableStyles.xml" Id="R6386553482084dbe" /><Relationship Type="http://schemas.openxmlformats.org/officeDocument/2006/relationships/slide" Target="/ppt/slides/slide1.xml" Id="Rf5203ae59a834d4f" /><Relationship Type="http://schemas.openxmlformats.org/officeDocument/2006/relationships/slide" Target="/ppt/slides/slide2.xml" Id="R4a1855e41ca447ee" /><Relationship Type="http://schemas.openxmlformats.org/officeDocument/2006/relationships/slide" Target="/ppt/slides/slide3.xml" Id="Re3329c9e7bba4530" /><Relationship Type="http://schemas.openxmlformats.org/officeDocument/2006/relationships/slide" Target="/ppt/slides/slide4.xml" Id="R65eff6dd72db4eff" /><Relationship Type="http://schemas.openxmlformats.org/officeDocument/2006/relationships/slide" Target="/ppt/slides/slide5.xml" Id="R885ee17c0e5d46f6" /><Relationship Type="http://schemas.openxmlformats.org/officeDocument/2006/relationships/slide" Target="/ppt/slides/slide6.xml" Id="Rd9efdcb8f456421c" /><Relationship Type="http://schemas.openxmlformats.org/officeDocument/2006/relationships/slide" Target="/ppt/slides/slide7.xml" Id="R092fc9c805b940e3" /><Relationship Type="http://schemas.openxmlformats.org/officeDocument/2006/relationships/slide" Target="/ppt/slides/slide8.xml" Id="Rf2ad8c7119e24ead" /><Relationship Type="http://schemas.openxmlformats.org/officeDocument/2006/relationships/slide" Target="/ppt/slides/slide9.xml" Id="R2a1e04c39a634948" /><Relationship Type="http://schemas.openxmlformats.org/officeDocument/2006/relationships/slide" Target="/ppt/slides/slide10.xml" Id="R36be34a968bc4e6b" /><Relationship Type="http://schemas.openxmlformats.org/officeDocument/2006/relationships/slide" Target="/ppt/slides/slide11.xml" Id="R528b831dc0e04c4e" /><Relationship Type="http://schemas.openxmlformats.org/officeDocument/2006/relationships/slide" Target="/ppt/slides/slide12.xml" Id="R63a150b059894eb9" /><Relationship Type="http://schemas.openxmlformats.org/officeDocument/2006/relationships/slide" Target="/ppt/slides/slide13.xml" Id="R500c3d9e9d1c468d" /><Relationship Type="http://schemas.openxmlformats.org/officeDocument/2006/relationships/slide" Target="/ppt/slides/slide14.xml" Id="R6a25556f41684013" /><Relationship Type="http://schemas.openxmlformats.org/officeDocument/2006/relationships/slide" Target="/ppt/slides/slide15.xml" Id="Rd8a41f3cb78147a7" /><Relationship Type="http://schemas.openxmlformats.org/officeDocument/2006/relationships/slide" Target="/ppt/slides/slide16.xml" Id="Rcb5872d183f146de" /><Relationship Type="http://schemas.openxmlformats.org/officeDocument/2006/relationships/slide" Target="/ppt/slides/slide17.xml" Id="R1030f48cea94481c" /><Relationship Type="http://schemas.openxmlformats.org/officeDocument/2006/relationships/slide" Target="/ppt/slides/slide18.xml" Id="Rbd338d8a3845435c" /><Relationship Type="http://schemas.openxmlformats.org/officeDocument/2006/relationships/slide" Target="/ppt/slides/slide19.xml" Id="Rb26ce287bdfc41a9" /><Relationship Type="http://schemas.openxmlformats.org/officeDocument/2006/relationships/slide" Target="/ppt/slides/slide20.xml" Id="R9f66d9b6ceab46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b5d3970fce4a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02074dd35f4699" /><Relationship Type="http://schemas.openxmlformats.org/officeDocument/2006/relationships/notesMaster" Target="/ppt/notesMasters/notesMaster1.xml" Id="R192499c551d94b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2dca5f05634ed2" /><Relationship Type="http://schemas.openxmlformats.org/officeDocument/2006/relationships/notesMaster" Target="/ppt/notesMasters/notesMaster1.xml" Id="R10d02d1f41c44b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defa9a53fb4b27" /><Relationship Type="http://schemas.openxmlformats.org/officeDocument/2006/relationships/notesMaster" Target="/ppt/notesMasters/notesMaster1.xml" Id="Rb9a0dc9bf1284f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41cb5499c746ef" /><Relationship Type="http://schemas.openxmlformats.org/officeDocument/2006/relationships/notesMaster" Target="/ppt/notesMasters/notesMaster1.xml" Id="Rd024c9f84ddd4a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f0fc6b72c94c74" /><Relationship Type="http://schemas.openxmlformats.org/officeDocument/2006/relationships/notesMaster" Target="/ppt/notesMasters/notesMaster1.xml" Id="R2414cf3cd01b4e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83d4d53f914a5b" /><Relationship Type="http://schemas.openxmlformats.org/officeDocument/2006/relationships/notesMaster" Target="/ppt/notesMasters/notesMaster1.xml" Id="R738c47b6ee4e45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a438ae21ec4e47" /><Relationship Type="http://schemas.openxmlformats.org/officeDocument/2006/relationships/notesMaster" Target="/ppt/notesMasters/notesMaster1.xml" Id="Recf85b08d7e040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aa1dc1aba942a4" /><Relationship Type="http://schemas.openxmlformats.org/officeDocument/2006/relationships/notesMaster" Target="/ppt/notesMasters/notesMaster1.xml" Id="R2058444129c244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eba9be910a4ea6" /><Relationship Type="http://schemas.openxmlformats.org/officeDocument/2006/relationships/notesMaster" Target="/ppt/notesMasters/notesMaster1.xml" Id="R72f32903978049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83c98adab64569" /><Relationship Type="http://schemas.openxmlformats.org/officeDocument/2006/relationships/notesMaster" Target="/ppt/notesMasters/notesMaster1.xml" Id="R964c1ed39dca44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283cdc703642b6" /><Relationship Type="http://schemas.openxmlformats.org/officeDocument/2006/relationships/notesMaster" Target="/ppt/notesMasters/notesMaster1.xml" Id="Rc74aa2544c454e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28c9d84455415e" /><Relationship Type="http://schemas.openxmlformats.org/officeDocument/2006/relationships/notesMaster" Target="/ppt/notesMasters/notesMaster1.xml" Id="Rd714bc20a42243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eb2f9b22f0469e" /><Relationship Type="http://schemas.openxmlformats.org/officeDocument/2006/relationships/notesMaster" Target="/ppt/notesMasters/notesMaster1.xml" Id="R19ab9ce0685d47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17f41a787d4455" /><Relationship Type="http://schemas.openxmlformats.org/officeDocument/2006/relationships/notesMaster" Target="/ppt/notesMasters/notesMaster1.xml" Id="R0cf5e7f7473741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b3bd3ddd814825" /><Relationship Type="http://schemas.openxmlformats.org/officeDocument/2006/relationships/notesMaster" Target="/ppt/notesMasters/notesMaster1.xml" Id="R5a81a14f9cf441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347000ff46e4516" /><Relationship Type="http://schemas.openxmlformats.org/officeDocument/2006/relationships/notesMaster" Target="/ppt/notesMasters/notesMaster1.xml" Id="R31a0be841ddf46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84c9381da34559" /><Relationship Type="http://schemas.openxmlformats.org/officeDocument/2006/relationships/notesMaster" Target="/ppt/notesMasters/notesMaster1.xml" Id="R02bfc86df5b24b3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b06467bec14666" /><Relationship Type="http://schemas.openxmlformats.org/officeDocument/2006/relationships/notesMaster" Target="/ppt/notesMasters/notesMaster1.xml" Id="Rd654fe709b984fe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aaf2751e09c4166" /><Relationship Type="http://schemas.openxmlformats.org/officeDocument/2006/relationships/notesMaster" Target="/ppt/notesMasters/notesMaster1.xml" Id="Rf9c5edbbce76466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9a9e5ef87564b8f" /><Relationship Type="http://schemas.openxmlformats.org/officeDocument/2006/relationships/notesMaster" Target="/ppt/notesMasters/notesMaster1.xml" Id="R0b8f5d9ee9ff40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a:t>
            </a:r>
          </a:p>
          <a:p xmlns:a="http://schemas.openxmlformats.org/drawingml/2006/main">
            <a:r>
              <a:t/>
            </a:r>
          </a:p>
          <a:p xmlns:a="http://schemas.openxmlformats.org/drawingml/2006/main">
            <a:r>
              <a:t>SCRIPT</a:t>
            </a:r>
          </a:p>
          <a:p xmlns:a="http://schemas.openxmlformats.org/drawingml/2006/main">
            <a:r>
              <a:t>Vexi Hakari connects options and spot trading to one maker wallet. Aqua handles shared strategy accounting and token transfers. A Uniswap v4 reference controls option quotes. We will follow the funds, examine refusals and finish in the working demo.</a:t>
            </a:r>
          </a:p>
          <a:p xmlns:a="http://schemas.openxmlformats.org/drawingml/2006/main">
            <a:r>
              <a:t/>
            </a:r>
          </a:p>
          <a:p xmlns:a="http://schemas.openxmlformats.org/drawingml/2006/main">
            <a:r>
              <a:t>ACTION</a:t>
            </a:r>
          </a:p>
          <a:p xmlns:a="http://schemas.openxmlformats.org/drawingml/2006/main">
            <a:r>
              <a:t>Keep the public replay open before starting. Total planned duration is six minutes.</a:t>
            </a:r>
          </a:p>
          <a:p xmlns:a="http://schemas.openxmlformats.org/drawingml/2006/main">
            <a:r>
              <a:t/>
            </a:r>
          </a:p>
          <a:p xmlns:a="http://schemas.openxmlformats.org/drawingml/2006/main">
            <a:r>
              <a:t>SOURCE AND SCOPE</a:t>
            </a:r>
          </a:p>
          <a:p xmlns:a="http://schemas.openxmlformats.org/drawingml/2006/main">
            <a:r>
              <a:t>docs/website.md; website/vexi-logo.svg</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0:15–0:40</a:t>
            </a:r>
          </a:p>
          <a:p xmlns:a="http://schemas.openxmlformats.org/drawingml/2006/main">
            <a:r>
              <a:t/>
            </a:r>
          </a:p>
          <a:p xmlns:a="http://schemas.openxmlformats.org/drawingml/2006/main">
            <a:r>
              <a:t>SCRIPT</a:t>
            </a:r>
          </a:p>
          <a:p xmlns:a="http://schemas.openxmlformats.org/drawingml/2006/main">
            <a:r>
              <a:t>Our example is an illustrative AAPL token priced in USDG. A covered call gives the buyer the right to buy one token at a four-hundred strike. Five USDG buys that right. At three-fifty the buyer walks away; at four-fifty they can pay four hundred and receive the token. A put reverses the delivery, so the writer reserves four hundred USDG.</a:t>
            </a:r>
          </a:p>
          <a:p xmlns:a="http://schemas.openxmlformats.org/drawingml/2006/main">
            <a:r>
              <a:t/>
            </a:r>
          </a:p>
          <a:p xmlns:a="http://schemas.openxmlformats.org/drawingml/2006/main">
            <a:r>
              <a:t>ACTION</a:t>
            </a:r>
          </a:p>
          <a:p xmlns:a="http://schemas.openxmlformats.org/drawingml/2006/main">
            <a:r>
              <a:t>Illustrative contract with a five-USDG premium. This is a teaching example, not the recorded eight-USDG base-premium lifecycle. 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
            </a:r>
          </a:p>
          <a:p xmlns:a="http://schemas.openxmlformats.org/drawingml/2006/main">
            <a:r>
              <a:t>SOURCE AND SCOPE</a:t>
            </a:r>
          </a:p>
          <a:p xmlns:a="http://schemas.openxmlformats.org/drawingml/2006/main">
            <a:r>
              <a:t>User-supplied HAKARI Pitch Deck.html, slides 2–3; aqua/src/book/OptionBook.sol</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0:40–1:05</a:t>
            </a:r>
          </a:p>
          <a:p xmlns:a="http://schemas.openxmlformats.org/drawingml/2006/main">
            <a:r>
              <a:t/>
            </a:r>
          </a:p>
          <a:p xmlns:a="http://schemas.openxmlformats.org/drawingml/2006/main">
            <a:r>
              <a:t>SCRIPT</a:t>
            </a:r>
          </a:p>
          <a:p xmlns:a="http://schemas.openxmlformats.org/drawingml/2006/main">
            <a:r>
              <a:t>Two problems motivate the integration. A deposit-first writer locks all ten tokens even if only two calls sell. Keeping unfilled collateral at home avoids that early transfer. Separately, a token pool can move while the underlying stock market is closed. A fixed option quote can become stale. Aqua addresses when collateral moves; the band controls whether a new quote remains available.</a:t>
            </a:r>
          </a:p>
          <a:p xmlns:a="http://schemas.openxmlformats.org/drawingml/2006/main">
            <a:r>
              <a:t/>
            </a:r>
          </a:p>
          <a:p xmlns:a="http://schemas.openxmlformats.org/drawingml/2006/main">
            <a:r>
              <a:t>ACTION</a:t>
            </a:r>
          </a:p>
          <a:p xmlns:a="http://schemas.openxmlformats.org/drawingml/2006/main">
            <a:r>
              <a:t>The deposit-first comparison is an illustrative design, not a claim about every options protocol. Price path is schematic and is not market data.</a:t>
            </a:r>
          </a:p>
          <a:p xmlns:a="http://schemas.openxmlformats.org/drawingml/2006/main">
            <a:r>
              <a:t/>
            </a:r>
          </a:p>
          <a:p xmlns:a="http://schemas.openxmlformats.org/drawingml/2006/main">
            <a:r>
              <a:t>SOURCE AND SCOPE</a:t>
            </a:r>
          </a:p>
          <a:p xmlns:a="http://schemas.openxmlformats.org/drawingml/2006/main">
            <a:r>
              <a:t>User-supplied HAKARI Pitch Deck.html, slides 4–6; docs/history.md; docs/band.md</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1:05–1:30</a:t>
            </a:r>
          </a:p>
          <a:p xmlns:a="http://schemas.openxmlformats.org/drawingml/2006/main">
            <a:r>
              <a:t/>
            </a:r>
          </a:p>
          <a:p xmlns:a="http://schemas.openxmlformats.org/drawingml/2006/main">
            <a:r>
              <a:t>SCRIPT</a:t>
            </a:r>
          </a:p>
          <a:p xmlns:a="http://schemas.openxmlformats.org/drawingml/2006/main">
            <a:r>
              <a:t>The maker keeps the assets in one wallet. Aqua registers two strategies against it: an option writer connected to the book, and a guarded canonical SwapVM router for spot. The hook records the Uniswap reference. The band wraps the public fixed premium. These are separate responsibilities: liquidity access, order accounting and quote checks.</a:t>
            </a:r>
          </a:p>
          <a:p xmlns:a="http://schemas.openxmlformats.org/drawingml/2006/main">
            <a:r>
              <a:t/>
            </a:r>
          </a:p>
          <a:p xmlns:a="http://schemas.openxmlformats.org/drawingml/2006/main">
            <a:r>
              <a:t>ACTION</a:t>
            </a:r>
          </a:p>
          <a:p xmlns:a="http://schemas.openxmlformats.org/drawingml/2006/main">
            <a:r>
              <a:t>Follow the solid token-access path and the pink reference-policy path separately.</a:t>
            </a:r>
          </a:p>
          <a:p xmlns:a="http://schemas.openxmlformats.org/drawingml/2006/main">
            <a:r>
              <a:t/>
            </a:r>
          </a:p>
          <a:p xmlns:a="http://schemas.openxmlformats.org/drawingml/2006/main">
            <a:r>
              <a:t>SOURCE AND SCOPE</a:t>
            </a:r>
          </a:p>
          <a:p xmlns:a="http://schemas.openxmlformats.org/drawingml/2006/main">
            <a:r>
              <a:t>docs/website.md; aqua/src/swapvm/ExposureGuard.sol; aqua/src/band/StabilityBandPricer.sol</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1:30–1:50</a:t>
            </a:r>
          </a:p>
          <a:p xmlns:a="http://schemas.openxmlformats.org/drawingml/2006/main">
            <a:r>
              <a:t/>
            </a:r>
          </a:p>
          <a:p xmlns:a="http://schemas.openxmlformats.org/drawingml/2006/main">
            <a:r>
              <a:t>SCRIPT</a:t>
            </a:r>
          </a:p>
          <a:p xmlns:a="http://schemas.openxmlformats.org/drawingml/2006/main">
            <a:r>
              <a:t>The initial wallet holds thirty AAPL and twenty thousand USDG. Posting ten calls promises ten AAPL. Posting ten puts at a four-hundred strike promises four thousand USDG. Nothing enters the book yet. The rest is unpromised inventory. Aqua virtual allocations refer to these same assets and must not be summed as additional deposits.</a:t>
            </a:r>
          </a:p>
          <a:p xmlns:a="http://schemas.openxmlformats.org/drawingml/2006/main">
            <a:r>
              <a:t/>
            </a:r>
          </a:p>
          <a:p xmlns:a="http://schemas.openxmlformats.org/drawingml/2006/main">
            <a:r>
              <a:t>ACTION</a:t>
            </a:r>
          </a:p>
          <a:p xmlns:a="http://schemas.openxmlformats.org/drawingml/2006/main">
            <a:r>
              <a:t>Point to the promised and free segments, then the zero book balance. No tokens moved in ship/post. 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
            </a:r>
          </a:p>
          <a:p xmlns:a="http://schemas.openxmlformats.org/drawingml/2006/main">
            <a:r>
              <a:t>SOURCE AND SCOPE</a:t>
            </a:r>
          </a:p>
          <a:p xmlns:a="http://schemas.openxmlformats.org/drawingml/2006/main">
            <a:r>
              <a:t>website/evidence/demo.json: lifecycle initial, ship, post</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1:50–2:15</a:t>
            </a:r>
          </a:p>
          <a:p xmlns:a="http://schemas.openxmlformats.org/drawingml/2006/main">
            <a:r>
              <a:t/>
            </a:r>
          </a:p>
          <a:p xmlns:a="http://schemas.openxmlformats.org/drawingml/2006/main">
            <a:r>
              <a:t>SCRIPT</a:t>
            </a:r>
          </a:p>
          <a:p xmlns:a="http://schemas.openxmlformats.org/drawingml/2006/main">
            <a:r>
              <a:t>The guard computes the outgoing token’s free inventory as wallet balance minus the writer’s promises. It scales both SwapVM reserves before the curve executes. In the guarded example, a four-hundred USDG spot trade leaves about twenty-nine AAPL. In a separate unguarded example, selling twenty-one leaves only nine against a ten-AAPL promise. A later call fill refuses. The guard only constrains participating strategies.</a:t>
            </a:r>
          </a:p>
          <a:p xmlns:a="http://schemas.openxmlformats.org/drawingml/2006/main">
            <a:r>
              <a:t/>
            </a:r>
          </a:p>
          <a:p xmlns:a="http://schemas.openxmlformats.org/drawingml/2006/main">
            <a:r>
              <a:t>ACTION</a:t>
            </a:r>
          </a:p>
          <a:p xmlns:a="http://schemas.openxmlformats.org/drawingml/2006/main">
            <a:r>
              <a:t>Compare wallet balance with the ten-AAPL promise. The two trade fixtures have different inputs and are independent, not a performance comparison. 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
            </a:r>
          </a:p>
          <a:p xmlns:a="http://schemas.openxmlformats.org/drawingml/2006/main">
            <a:r>
              <a:t>SOURCE AND SCOPE</a:t>
            </a:r>
          </a:p>
          <a:p xmlns:a="http://schemas.openxmlformats.org/drawingml/2006/main">
            <a:r>
              <a:t>website/evidence/demo.json: lifecycle spot; unguarded unguarded; aqua/src/swapvm/ExposureGuard.sol</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2:15–2:40</a:t>
            </a:r>
          </a:p>
          <a:p xmlns:a="http://schemas.openxmlformats.org/drawingml/2006/main">
            <a:r>
              <a:t/>
            </a:r>
          </a:p>
          <a:p xmlns:a="http://schemas.openxmlformats.org/drawingml/2006/main">
            <a:r>
              <a:t>SCRIPT</a:t>
            </a:r>
          </a:p>
          <a:p xmlns:a="http://schemas.openxmlformats.org/drawingml/2006/main">
            <a:r>
              <a:t>Now a buyer fills five calls and three puts. Through Aqua.pull, the writer supplies five AAPL and twelve hundred USDG directly to the book. The buyer separately pays 64.0064 USDG in premiums and receives the long positions. The book therefore holds five AAPL and 1264.0064 USDG. Remaining unfilled promises are five AAPL and twenty-eight hundred USDG.</a:t>
            </a:r>
          </a:p>
          <a:p xmlns:a="http://schemas.openxmlformats.org/drawingml/2006/main">
            <a:r>
              <a:t/>
            </a:r>
          </a:p>
          <a:p xmlns:a="http://schemas.openxmlformats.org/drawingml/2006/main">
            <a:r>
              <a:t>ACTION</a:t>
            </a:r>
          </a:p>
          <a:p xmlns:a="http://schemas.openxmlformats.org/drawingml/2006/main">
            <a:r>
              <a:t>Follow green collateral and pink premium paths. Aqua.pull is a transfer mechanism, not an intermediate custody account. 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
            </a:r>
          </a:p>
          <a:p xmlns:a="http://schemas.openxmlformats.org/drawingml/2006/main">
            <a:r>
              <a:t>SOURCE AND SCOPE</a:t>
            </a:r>
          </a:p>
          <a:p xmlns:a="http://schemas.openxmlformats.org/drawingml/2006/main">
            <a:r>
              <a:t>website/evidence/demo.json: lifecycle spot, buy; aqua/test/WebsiteEvidence.t.sol</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2:40–3:05</a:t>
            </a:r>
          </a:p>
          <a:p xmlns:a="http://schemas.openxmlformats.org/drawingml/2006/main">
            <a:r>
              <a:t/>
            </a:r>
          </a:p>
          <a:p xmlns:a="http://schemas.openxmlformats.org/drawingml/2006/main">
            <a:r>
              <a:t>SCRIPT</a:t>
            </a:r>
          </a:p>
          <a:p xmlns:a="http://schemas.openxmlformats.org/drawingml/2006/main">
            <a:r>
              <a:t>The center comes from a one-hour tick TWAP. OpenZeppelin’s oracle records before the first swap of each second. A push and undo in one transaction does not enter that observation. A second, truncated series limits each recorded move to two hundred fifty ticks. The band checks both averages. This improves the reference behavior, but a sustained move can still become the center.</a:t>
            </a:r>
          </a:p>
          <a:p xmlns:a="http://schemas.openxmlformats.org/drawingml/2006/main">
            <a:r>
              <a:t/>
            </a:r>
          </a:p>
          <a:p xmlns:a="http://schemas.openxmlformats.org/drawingml/2006/main">
            <a:r>
              <a:t>ACTION</a:t>
            </a:r>
          </a:p>
          <a:p xmlns:a="http://schemas.openxmlformats.org/drawingml/2006/main">
            <a:r>
              <a:t>Schematic observation timing. The chart is not an oracle simulation. The time-weighted mean tick converts to a geometric price average. Credit the upstream oracle.</a:t>
            </a:r>
          </a:p>
          <a:p xmlns:a="http://schemas.openxmlformats.org/drawingml/2006/main">
            <a:r>
              <a:t/>
            </a:r>
          </a:p>
          <a:p xmlns:a="http://schemas.openxmlformats.org/drawingml/2006/main">
            <a:r>
              <a:t>SOURCE AND SCOPE</a:t>
            </a:r>
          </a:p>
          <a:p xmlns:a="http://schemas.openxmlformats.org/drawingml/2006/main">
            <a:r>
              <a:t>src/HakariOracleHook.sol; test/HakariOracleHook.t.sol; docs/band.md; OpenZeppelin BaseOracleHook / Panoptic oracle</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3:05–3:30</a:t>
            </a:r>
          </a:p>
          <a:p xmlns:a="http://schemas.openxmlformats.org/drawingml/2006/main">
            <a:r>
              <a:t/>
            </a:r>
          </a:p>
          <a:p xmlns:a="http://schemas.openxmlformats.org/drawingml/2006/main">
            <a:r>
              <a:t>SCRIPT</a:t>
            </a:r>
          </a:p>
          <a:p xmlns:a="http://schemas.openxmlformats.org/drawingml/2006/main">
            <a:r>
              <a:t>This AAPL illustration adapts the recorded TSLA reference path. The rolling TWAP is around 378.23 USDG. The public band extends five percent above and below it. At plus 2.5 percent, a quote remains available. At plus 5.1 percent, the price crosses the upper edge and the buy refuses. Reference availability, liquidity and agreement between raw and truncated observations are additional checks.</a:t>
            </a:r>
          </a:p>
          <a:p xmlns:a="http://schemas.openxmlformats.org/drawingml/2006/main">
            <a:r>
              <a:t/>
            </a:r>
          </a:p>
          <a:p xmlns:a="http://schemas.openxmlformats.org/drawingml/2006/main">
            <a:r>
              <a:t>ACTION</a:t>
            </a:r>
          </a:p>
          <a:p xmlns:a="http://schemas.openxmlformats.org/drawingml/2006/main">
            <a:r>
              <a:t>Point to the plus-5.1% snapshot crossing the upper bound. These are synthetic market observations from the local EVM. 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
            </a:r>
          </a:p>
          <a:p xmlns:a="http://schemas.openxmlformats.org/drawingml/2006/main">
            <a:r>
              <a:t>SOURCE AND SCOPE</a:t>
            </a:r>
          </a:p>
          <a:p xmlns:a="http://schemas.openxmlformats.org/drawingml/2006/main">
            <a:r>
              <a:t>website/evidence/demo.json: lifecycle buy, taper, pause, recover; aqua/src/band/StabilityBandPricer.sol</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3:30–3:55</a:t>
            </a:r>
          </a:p>
          <a:p xmlns:a="http://schemas.openxmlformats.org/drawingml/2006/main">
            <a:r>
              <a:t/>
            </a:r>
          </a:p>
          <a:p xmlns:a="http://schemas.openxmlformats.org/drawingml/2006/main">
            <a:r>
              <a:t>SCRIPT</a:t>
            </a:r>
          </a:p>
          <a:p xmlns:a="http://schemas.openxmlformats.org/drawingml/2006/main">
            <a:r>
              <a:t>These are illustrative calculator curves, separate from the recorded fork. The center is four hundred and the base ask is eight USDG. The size cap falls linearly toward the edge, while the premium uplift grows quadratically. At plus 2.5 percent, the cap is twenty-five and the ask is 8.4. At the edge the cap reaches zero, so there is no executable quote. The cap applies per call, not as a cumulative trade budget.</a:t>
            </a:r>
          </a:p>
          <a:p xmlns:a="http://schemas.openxmlformats.org/drawingml/2006/main">
            <a:r>
              <a:t/>
            </a:r>
          </a:p>
          <a:p xmlns:a="http://schemas.openxmlformats.org/drawingml/2006/main">
            <a:r>
              <a:t>ACTION</a:t>
            </a:r>
          </a:p>
          <a:p xmlns:a="http://schemas.openxmlformats.org/drawingml/2006/main">
            <a:r>
              <a:t>Point to 2.5% in both charts. Rounding is toward fewer contracts and a higher ask. At ±5% there is no whole contract left. 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
            </a:r>
          </a:p>
          <a:p xmlns:a="http://schemas.openxmlformats.org/drawingml/2006/main">
            <a:r>
              <a:t>SOURCE AND SCOPE</a:t>
            </a:r>
          </a:p>
          <a:p xmlns:a="http://schemas.openxmlformats.org/drawingml/2006/main">
            <a:r>
              <a:t>website/band.mjs calculateBand; fixed example assumes readable reference, enough liquidity and raw/truncated agreement</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3:55–4:15</a:t>
            </a:r>
          </a:p>
          <a:p xmlns:a="http://schemas.openxmlformats.org/drawingml/2006/main">
            <a:r>
              <a:t/>
            </a:r>
          </a:p>
          <a:p xmlns:a="http://schemas.openxmlformats.org/drawingml/2006/main">
            <a:r>
              <a:t>SCRIPT</a:t>
            </a:r>
          </a:p>
          <a:p xmlns:a="http://schemas.openxmlformats.org/drawingml/2006/main">
            <a:r>
              <a:t>An open band is only one gate. The original quote can expire. A sustained six-percent move can become the new rolling center while the original anchor still refuses. And an unguarded strategy can consume collateral even while a small quote remains readable. A successful buy still needs the deadline, anchor, remaining inventory and actual collateral to pass.</a:t>
            </a:r>
          </a:p>
          <a:p xmlns:a="http://schemas.openxmlformats.org/drawingml/2006/main">
            <a:r>
              <a:t/>
            </a:r>
          </a:p>
          <a:p xmlns:a="http://schemas.openxmlformats.org/drawingml/2006/main">
            <a:r>
              <a:t>ACTION</a:t>
            </a:r>
          </a:p>
          <a:p xmlns:a="http://schemas.openxmlformats.org/drawingml/2006/main">
            <a:r>
              <a:t>Read each row across. A quote read is not a guarantee that a buy will fill. The book runs checks in order and may stop at the first failure. 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
            </a:r>
          </a:p>
          <a:p xmlns:a="http://schemas.openxmlformats.org/drawingml/2006/main">
            <a:r>
              <a:t>SOURCE AND SCOPE</a:t>
            </a:r>
          </a:p>
          <a:p xmlns:a="http://schemas.openxmlformats.org/drawingml/2006/main">
            <a:r>
              <a:t>website/evidence/demo.json: lifecycle pause, expired; anchor anchor-refused; unguarded unguarded; website/app.js cases</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4:15–4:40</a:t>
            </a:r>
          </a:p>
          <a:p xmlns:a="http://schemas.openxmlformats.org/drawingml/2006/main">
            <a:r>
              <a:t/>
            </a:r>
          </a:p>
          <a:p xmlns:a="http://schemas.openxmlformats.org/drawingml/2006/main">
            <a:r>
              <a:t>SCRIPT</a:t>
            </a:r>
          </a:p>
          <a:p xmlns:a="http://schemas.openxmlformats.org/drawingml/2006/main">
            <a:r>
              <a:t>At the illustrative accepted expiry price of about 378.269, the put is in the money against a four-hundred strike. The holder delivers three AAPL and receives twelve hundred USDG. The calls are out of the money. After the exercise window, close returns eight AAPL through Aqua: five unused call collateral and three exercise proceeds. A separate premium claim returns 64.0064 USDG. Book token balances then reach zero.</a:t>
            </a:r>
          </a:p>
          <a:p xmlns:a="http://schemas.openxmlformats.org/drawingml/2006/main">
            <a:r>
              <a:t/>
            </a:r>
          </a:p>
          <a:p xmlns:a="http://schemas.openxmlformats.org/drawingml/2006/main">
            <a:r>
              <a:t>ACTION</a:t>
            </a:r>
          </a:p>
          <a:p xmlns:a="http://schemas.openxmlformats.org/drawingml/2006/main">
            <a:r>
              <a:t>Follow the same lifecycle across both token charts. Close and claim are separate actions. Releasing the remaining promises is step 15. 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
            </a:r>
          </a:p>
          <a:p xmlns:a="http://schemas.openxmlformats.org/drawingml/2006/main">
            <a:r>
              <a:t>SOURCE AND SCOPE</a:t>
            </a:r>
          </a:p>
          <a:p xmlns:a="http://schemas.openxmlformats.org/drawingml/2006/main">
            <a:r>
              <a:t>website/evidence/demo.json: lifecycle settle, exercise, close, premium, release; docs/settlement.md</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4:40–5:20</a:t>
            </a:r>
          </a:p>
          <a:p xmlns:a="http://schemas.openxmlformats.org/drawingml/2006/main">
            <a:r>
              <a:t/>
            </a:r>
          </a:p>
          <a:p xmlns:a="http://schemas.openxmlformats.org/drawingml/2006/main">
            <a:r>
              <a:t>SCRIPT</a:t>
            </a:r>
          </a:p>
          <a:p xmlns:a="http://schemas.openxmlformats.org/drawingml/2006/main">
            <a:r>
              <a:t>The AAPL example follows this recorded TSLA/USDG contract replay. Step five shows the collateral and premium split. Step seven attempts a buy outside the band; the buyer keeps the same funds and positions. Step nine has an open band but an expired quote, so the maker must renew. Step fourteen claims the premiums and leaves zero tokens in the book. The page exposes the previous and current balances and recorded EVM logs for each checkpoint.</a:t>
            </a:r>
          </a:p>
          <a:p xmlns:a="http://schemas.openxmlformats.org/drawingml/2006/main">
            <a:r>
              <a:t/>
            </a:r>
          </a:p>
          <a:p xmlns:a="http://schemas.openxmlformats.org/drawingml/2006/main">
            <a:r>
              <a:t>ACTION</a:t>
            </a:r>
          </a:p>
          <a:p xmlns:a="http://schemas.openxmlformats.org/drawingml/2006/main">
            <a:r>
              <a:t>Open the replay before speaking. Select 05, 07, 09, 14, allowing roughly 10 seconds each. The slide is a fallback if the browser is unavailable. Public demo: https://vexi-v1.github.io/vexi-hakari/ . Local fallback: http://127.0.0.1:8787/ . 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
            </a:r>
          </a:p>
          <a:p xmlns:a="http://schemas.openxmlformats.org/drawingml/2006/main">
            <a:r>
              <a:t>SOURCE AND SCOPE</a:t>
            </a:r>
          </a:p>
          <a:p xmlns:a="http://schemas.openxmlformats.org/drawingml/2006/main">
            <a:r>
              <a:t>website/evidence/demo.json: lifecycle buy, pause, expired, premium; website/app.js</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5:20–6:00</a:t>
            </a:r>
          </a:p>
          <a:p xmlns:a="http://schemas.openxmlformats.org/drawingml/2006/main">
            <a:r>
              <a:t/>
            </a:r>
          </a:p>
          <a:p xmlns:a="http://schemas.openxmlformats.org/drawingml/2006/main">
            <a:r>
              <a:t>SCRIPT</a:t>
            </a:r>
          </a:p>
          <a:p xmlns:a="http://schemas.openxmlformats.org/drawingml/2006/main">
            <a:r>
              <a:t>For Aqua, this is an options writer that pulls collateral at a fill, plus a SwapVM guard for shared inventory. For Uniswap, it is an executable consumer: observations change quote size and can refuse a real buy. The public artifacts connect those mechanisms to reproducible tests. The hook and pool have testnet records; the public band stack is demonstrated on a local fork. The repository also explains the fixed five-percent policy, independent quote deadlines and anchors, and experimental settlement. The six backup pages retain the technical details, historical motivation and provenance for questions.</a:t>
            </a:r>
          </a:p>
          <a:p xmlns:a="http://schemas.openxmlformats.org/drawingml/2006/main">
            <a:r>
              <a:t/>
            </a:r>
          </a:p>
          <a:p xmlns:a="http://schemas.openxmlformats.org/drawingml/2006/main">
            <a:r>
              <a:t>ACTION</a:t>
            </a:r>
          </a:p>
          <a:p xmlns:a="http://schemas.openxmlformats.org/drawingml/2006/main">
            <a:r>
              <a:t>End the timed presentation here, at 6:00. Slides 15–20 are optional discussion pages. Source history and reproduction commands follow.</a:t>
            </a:r>
          </a:p>
          <a:p xmlns:a="http://schemas.openxmlformats.org/drawingml/2006/main">
            <a:r>
              <a:t/>
            </a:r>
          </a:p>
          <a:p xmlns:a="http://schemas.openxmlformats.org/drawingml/2006/main">
            <a:r>
              <a:t>SOURCE AND SCOPE</a:t>
            </a:r>
          </a:p>
          <a:p xmlns:a="http://schemas.openxmlformats.org/drawingml/2006/main">
            <a:r>
              <a:t>README.md; docs/extraction.md; docs/demo.md; FEEDBACK.md</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備用</a:t>
            </a:r>
          </a:p>
          <a:p xmlns:a="http://schemas.openxmlformats.org/drawingml/2006/main">
            <a:r>
              <a:t/>
            </a:r>
          </a:p>
          <a:p xmlns:a="http://schemas.openxmlformats.org/drawingml/2006/main">
            <a:r>
              <a:t>SCRIPT</a:t>
            </a:r>
          </a:p>
          <a:p xmlns:a="http://schemas.openxmlformats.org/drawingml/2006/main">
            <a:r>
              <a:t>Settlement is a separate experiment. One test rejects the expiry-ending window, then accepts the next five-minute window after a caller retries. Another rejects all six candidates. After the one-hour book grace, collateral can return and holders can claim pooled premiums by contract count. A later price or an unwind changes the economics. These rules do not establish fair expiry value.</a:t>
            </a:r>
          </a:p>
          <a:p xmlns:a="http://schemas.openxmlformats.org/drawingml/2006/main">
            <a:r>
              <a:t/>
            </a:r>
          </a:p>
          <a:p xmlns:a="http://schemas.openxmlformats.org/drawingml/2006/main">
            <a:r>
              <a:t>ACTION</a:t>
            </a:r>
          </a:p>
          <a:p xmlns:a="http://schemas.openxmlformats.org/drawingml/2006/main">
            <a:r>
              <a:t>Top and bottom rows are independent fixtures. A revert does not schedule a retry. Refunds are pooled per series by count, not each buyer’s original premium.</a:t>
            </a:r>
          </a:p>
          <a:p xmlns:a="http://schemas.openxmlformats.org/drawingml/2006/main">
            <a:r>
              <a:t/>
            </a:r>
          </a:p>
          <a:p xmlns:a="http://schemas.openxmlformats.org/drawingml/2006/main">
            <a:r>
              <a:t>SOURCE AND SCOPE</a:t>
            </a:r>
          </a:p>
          <a:p xmlns:a="http://schemas.openxmlformats.org/drawingml/2006/main">
            <a:r>
              <a:t>docs/settlement.md; website/evidence/demo.json: delayed and refund scenarios</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備用</a:t>
            </a:r>
          </a:p>
          <a:p xmlns:a="http://schemas.openxmlformats.org/drawingml/2006/main">
            <a:r>
              <a:t/>
            </a:r>
          </a:p>
          <a:p xmlns:a="http://schemas.openxmlformats.org/drawingml/2006/main">
            <a:r>
              <a:t>SCRIPT</a:t>
            </a:r>
          </a:p>
          <a:p xmlns:a="http://schemas.openxmlformats.org/drawingml/2006/main">
            <a:r>
              <a:t>A hook is part of a v4 pool key. An existing pool cannot acquire this hook, so the reference needs its own hooked pool and liquidity. Address permission bits require CREATE2 salt mining. The fork uses the deployed testnet hook runtime at its own address with the real PoolManager. The canonical Aqua and SwapVM router remain unmodified. Our contribution is the consumer and integration around these interfaces.</a:t>
            </a:r>
          </a:p>
          <a:p xmlns:a="http://schemas.openxmlformats.org/drawingml/2006/main">
            <a:r>
              <a:t/>
            </a:r>
          </a:p>
          <a:p xmlns:a="http://schemas.openxmlformats.org/drawingml/2006/main">
            <a:r>
              <a:t>ACTION</a:t>
            </a:r>
          </a:p>
          <a:p xmlns:a="http://schemas.openxmlformats.org/drawingml/2006/main">
            <a:r>
              <a:t>Explain the three integration seams. The fork creates a new reference pool, not a hook attached to the existing unhooked pool. FEEDBACK.md documents current integration findings; historical feedback is separate.</a:t>
            </a:r>
          </a:p>
          <a:p xmlns:a="http://schemas.openxmlformats.org/drawingml/2006/main">
            <a:r>
              <a:t/>
            </a:r>
          </a:p>
          <a:p xmlns:a="http://schemas.openxmlformats.org/drawingml/2006/main">
            <a:r>
              <a:t>SOURCE AND SCOPE</a:t>
            </a:r>
          </a:p>
          <a:p xmlns:a="http://schemas.openxmlformats.org/drawingml/2006/main">
            <a:r>
              <a:t>README.md; FEEDBACK.md; src/HakariOracleHook.sol; aqua/test/StabilityBandFork.t.sol</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備用</a:t>
            </a:r>
          </a:p>
          <a:p xmlns:a="http://schemas.openxmlformats.org/drawingml/2006/main">
            <a:r>
              <a:t/>
            </a:r>
          </a:p>
          <a:p xmlns:a="http://schemas.openxmlformats.org/drawingml/2006/main">
            <a:r>
              <a:t>SCRIPT</a:t>
            </a:r>
          </a:p>
          <a:p xmlns:a="http://schemas.openxmlformats.org/drawingml/2006/main">
            <a:r>
              <a:t>A maker can withdraw or revoke approval, so availability is checked at a fill. The guard constrains only participating strategies. A sustained move becomes the rolling center, and the live slot0 can be moved temporarily. Quote deadlines and original anchors are separate controls. Repeated calls can exceed the per-call cap. An undersized observation ring can lose history and pause quotes. None of these controls attests an external fair price.</a:t>
            </a:r>
          </a:p>
          <a:p xmlns:a="http://schemas.openxmlformats.org/drawingml/2006/main">
            <a:r>
              <a:t/>
            </a:r>
          </a:p>
          <a:p xmlns:a="http://schemas.openxmlformats.org/drawingml/2006/main">
            <a:r>
              <a:t>ACTION</a:t>
            </a:r>
          </a:p>
          <a:p xmlns:a="http://schemas.openxmlformats.org/drawingml/2006/main">
            <a:r>
              <a:t>Use the table for Q&amp;A. Docking can also block returns until a compatible strategy is shipped and rebound; consult the tests. Observation capacity must cover actual swap-seconds with margin, not a blanket guarantee from one number.</a:t>
            </a:r>
          </a:p>
          <a:p xmlns:a="http://schemas.openxmlformats.org/drawingml/2006/main">
            <a:r>
              <a:t/>
            </a:r>
          </a:p>
          <a:p xmlns:a="http://schemas.openxmlformats.org/drawingml/2006/main">
            <a:r>
              <a:t>SOURCE AND SCOPE</a:t>
            </a:r>
          </a:p>
          <a:p xmlns:a="http://schemas.openxmlformats.org/drawingml/2006/main">
            <a:r>
              <a:t>docs/band.md; docs/demo.md; docs/settlement.md; aqua/src/aqua/AquaWriter.sol</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備用</a:t>
            </a:r>
          </a:p>
          <a:p xmlns:a="http://schemas.openxmlformats.org/drawingml/2006/main">
            <a:r>
              <a:t/>
            </a:r>
          </a:p>
          <a:p xmlns:a="http://schemas.openxmlformats.org/drawingml/2006/main">
            <a:r>
              <a:t>SCRIPT</a:t>
            </a:r>
          </a:p>
          <a:p xmlns:a="http://schemas.openxmlformats.org/drawingml/2006/main">
            <a:r>
              <a:t>Vexi existed before the event as an options venue. Its product code remains private. During the event the team wrote the Aqua seam, inventory guard, hook, band and settlement adapter. The public extraction uses a small book and FixedPremium to make those integrations reviewable. No earlier private product code is imported. The next deployment step is the public band over the recorded testnet hooked pool.</a:t>
            </a:r>
          </a:p>
          <a:p xmlns:a="http://schemas.openxmlformats.org/drawingml/2006/main">
            <a:r>
              <a:t/>
            </a:r>
          </a:p>
          <a:p xmlns:a="http://schemas.openxmlformats.org/drawingml/2006/main">
            <a:r>
              <a:t>ACTION</a:t>
            </a:r>
          </a:p>
          <a:p xmlns:a="http://schemas.openxmlformats.org/drawingml/2006/main">
            <a:r>
              <a:t>Times are JST. These are milestones, not all commits. Do not describe the public fixed premium as Vexi’s production pricing model.</a:t>
            </a:r>
          </a:p>
          <a:p xmlns:a="http://schemas.openxmlformats.org/drawingml/2006/main">
            <a:r>
              <a:t/>
            </a:r>
          </a:p>
          <a:p xmlns:a="http://schemas.openxmlformats.org/drawingml/2006/main">
            <a:r>
              <a:t>SOURCE AND SCOPE</a:t>
            </a:r>
          </a:p>
          <a:p xmlns:a="http://schemas.openxmlformats.org/drawingml/2006/main">
            <a:r>
              <a:t>docs/history.md; docs/extraction.md; docs/ai-usage.md; README.md</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備用</a:t>
            </a:r>
          </a:p>
          <a:p xmlns:a="http://schemas.openxmlformats.org/drawingml/2006/main">
            <a:r>
              <a:t/>
            </a:r>
          </a:p>
          <a:p xmlns:a="http://schemas.openxmlformats.org/drawingml/2006/main">
            <a:r>
              <a:t>SCRIPT</a:t>
            </a:r>
          </a:p>
          <a:p xmlns:a="http://schemas.openxmlformats.org/drawingml/2006/main">
            <a:r>
              <a:t>The original study examined HIMS during the August thirtieth weekend. Its archived record compares a Friday stock close of 28.84 with a later pool observation of 54.50. A separate late-Sunday measurement estimated twelve USDG for a ten-percent round trip. These are different observations, not a synchronized comparison. They motivate skepticism about pool references. They do not demonstrate that today’s band would have prevented the event.</a:t>
            </a:r>
          </a:p>
          <a:p xmlns:a="http://schemas.openxmlformats.org/drawingml/2006/main">
            <a:r>
              <a:t/>
            </a:r>
          </a:p>
          <a:p xmlns:a="http://schemas.openxmlformats.org/drawingml/2006/main">
            <a:r>
              <a:t>ACTION</a:t>
            </a:r>
          </a:p>
          <a:p xmlns:a="http://schemas.openxmlformats.org/drawingml/2006/main">
            <a:r>
              <a:t>Historical appendix only. Stock close is a secondary-source value in the archived research. Do not read the chart as a return, a synchronized spread, or proof of protection. Omit the reference’s unverified aggregate volume and peak.</a:t>
            </a:r>
          </a:p>
          <a:p xmlns:a="http://schemas.openxmlformats.org/drawingml/2006/main">
            <a:r>
              <a:t/>
            </a:r>
          </a:p>
          <a:p xmlns:a="http://schemas.openxmlformats.org/drawingml/2006/main">
            <a:r>
              <a:t>SOURCE AND SCOPE</a:t>
            </a:r>
          </a:p>
          <a:p xmlns:a="http://schemas.openxmlformats.org/drawingml/2006/main">
            <a:r>
              <a:t>docs/history.md; archive/hakari-v1/; user-supplied HAKARI Pitch Deck.html, slide 5</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備用</a:t>
            </a:r>
          </a:p>
          <a:p xmlns:a="http://schemas.openxmlformats.org/drawingml/2006/main">
            <a:r>
              <a:t/>
            </a:r>
          </a:p>
          <a:p xmlns:a="http://schemas.openxmlformats.org/drawingml/2006/main">
            <a:r>
              <a:t>SCRIPT</a:t>
            </a:r>
          </a:p>
          <a:p xmlns:a="http://schemas.openxmlformats.org/drawingml/2006/main">
            <a:r>
              <a:t>The deliverable is one continuous fifteen-step lifecycle plus four independent adverse scenarios. Five tests generate the JSON and call trace. The website and this deck trace back to those artifacts and their source fingerprints. Execution uses a pinned local fork and synthetic accounts, with no mainnet broadcasts. The public repo contains the reproduction command and the full scope of the experiment.</a:t>
            </a:r>
          </a:p>
          <a:p xmlns:a="http://schemas.openxmlformats.org/drawingml/2006/main">
            <a:r>
              <a:t/>
            </a:r>
          </a:p>
          <a:p xmlns:a="http://schemas.openxmlformats.org/drawingml/2006/main">
            <a:r>
              <a:t>ACTION</a:t>
            </a:r>
          </a:p>
          <a:p xmlns:a="http://schemas.openxmlformats.org/drawingml/2006/main">
            <a:r>
              <a:t>Close with the repo link. Treat this as integration evidence, not organic market history or production readiness.</a:t>
            </a:r>
          </a:p>
          <a:p xmlns:a="http://schemas.openxmlformats.org/drawingml/2006/main">
            <a:r>
              <a:t/>
            </a:r>
          </a:p>
          <a:p xmlns:a="http://schemas.openxmlformats.org/drawingml/2006/main">
            <a:r>
              <a:t>Reproduce the website evidence:</a:t>
            </a:r>
          </a:p>
          <a:p xmlns:a="http://schemas.openxmlformats.org/drawingml/2006/main">
            <a:r>
              <a:t>python3 scripts/website-evidence.py</a:t>
            </a:r>
          </a:p>
          <a:p xmlns:a="http://schemas.openxmlformats.org/drawingml/2006/main">
            <a:r>
              <a:t/>
            </a:r>
          </a:p>
          <a:p xmlns:a="http://schemas.openxmlformats.org/drawingml/2006/main">
            <a:r>
              <a:t>Focused sponsor traces:</a:t>
            </a:r>
          </a:p>
          <a:p xmlns:a="http://schemas.openxmlformats.org/drawingml/2006/main">
            <a:r>
              <a:t>bash scripts/judge-demo.sh 1inch</a:t>
            </a:r>
          </a:p>
          <a:p xmlns:a="http://schemas.openxmlformats.org/drawingml/2006/main">
            <a:r>
              <a:t>bash scripts/judge-demo.sh uniswap</a:t>
            </a:r>
          </a:p>
          <a:p xmlns:a="http://schemas.openxmlformats.org/drawingml/2006/main">
            <a:r>
              <a:t>bash scripts/judge-demo.sh limits</a:t>
            </a:r>
          </a:p>
          <a:p xmlns:a="http://schemas.openxmlformats.org/drawingml/2006/main">
            <a:r>
              <a:t/>
            </a:r>
          </a:p>
          <a:p xmlns:a="http://schemas.openxmlformats.org/drawingml/2006/main">
            <a:r>
              <a:t>Current integration feedback: FEEDBACK.md. Fixed fork block: 72248228. No wallet key required.</a:t>
            </a:r>
          </a:p>
          <a:p xmlns:a="http://schemas.openxmlformats.org/drawingml/2006/main">
            <a:r>
              <a:t/>
            </a:r>
          </a:p>
          <a:p xmlns:a="http://schemas.openxmlformats.org/drawingml/2006/main">
            <a:r>
              <a:t>SOURCE AND SCOPE</a:t>
            </a:r>
          </a:p>
          <a:p xmlns:a="http://schemas.openxmlformats.org/drawingml/2006/main">
            <a:r>
              <a:t>docs/website.md; website/evidence/demo.json; scripts/website-evidence.py; scripts/build-website.py. Aqua © Degensoft Ltd 2025. Powered by SwapVM © Degensoft Ltd 2025.</a:t>
            </a:r>
          </a:p>
          <a:p xmlns:a="http://schemas.openxmlformats.org/drawingml/2006/main">
            <a:r>
              <a:t>AAPL is an illustrative token example. Quantities and price paths are adapted from the recorded TSLA/USDG local-fork fixture, not an AAPL execution record or live stock prices. The linked website replay retains its original TSLA labels. Historical HIMS evidence keeps its original asset.</a:t>
            </a:r>
          </a:p>
          <a:p xmlns:a="http://schemas.openxmlformats.org/drawingml/2006/main">
            <a:r>
              <a:t>https://github.com/vexi-v1/vexi-hakari</a:t>
            </a:r>
          </a:p>
          <a:p xmlns:a="http://schemas.openxmlformats.org/drawingml/2006/main">
            <a:r>
              <a:t>Evidence base revision: 4df6d7bf44d70195e3d9012758eeddd3b66e91d5</a:t>
            </a:r>
          </a:p>
          <a:p xmlns:a="http://schemas.openxmlformats.org/drawingml/2006/main">
            <a:r>
              <a:t>Chart values are rounded to at most six decimal places; demo.json retains exact integer strings. Recorded local EVM fork at chain 4663, block 72248228. Synthetic accounts and market history. No mainnet broadcast. Public fixed-percentage band only. Experimental settlement does not establish fair expiry value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2765ef11b044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93e941387e495d" /><Relationship Type="http://schemas.openxmlformats.org/officeDocument/2006/relationships/slideLayout" Target="/ppt/slideLayouts/slideLayout1.xml" Id="R9e6ee50939324b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6ee50939324b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8b4db209b5143bd" /><Relationship Type="http://schemas.openxmlformats.org/officeDocument/2006/relationships/image" Target="/ppt/media/image.png" Id="R533c280e822c4072" /><Relationship Type="http://schemas.openxmlformats.org/officeDocument/2006/relationships/notesSlide" Target="/ppt/notesSlides/notesSlide1.xml" Id="Rfc8fc771503b40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b52acd0b3c406d" /><Relationship Type="http://schemas.openxmlformats.org/officeDocument/2006/relationships/image" Target="/ppt/media/image2.png" Id="R6cb3eff451b24c84" /><Relationship Type="http://schemas.openxmlformats.org/officeDocument/2006/relationships/notesSlide" Target="/ppt/notesSlides/notesSlide2.xml" Id="R64209a6052b647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f6c82d122a4f8f" /><Relationship Type="http://schemas.openxmlformats.org/officeDocument/2006/relationships/image" Target="/ppt/media/image3.png" Id="R4496b4996b084a0d" /><Relationship Type="http://schemas.openxmlformats.org/officeDocument/2006/relationships/chart" Target="/ppt/slides/charts/chart1.xml" Id="R1b2dbddcfa964eab" /><Relationship Type="http://schemas.openxmlformats.org/officeDocument/2006/relationships/chart" Target="/ppt/slides/charts/chart2.xml" Id="Rb309ce8f39714406" /><Relationship Type="http://schemas.openxmlformats.org/officeDocument/2006/relationships/notesSlide" Target="/ppt/notesSlides/notesSlide3.xml" Id="Rc54e8cd976ec40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abf2ff5c617471c" /><Relationship Type="http://schemas.openxmlformats.org/officeDocument/2006/relationships/image" Target="/ppt/media/image4.png" Id="Rd8abcd4631624975" /><Relationship Type="http://schemas.openxmlformats.org/officeDocument/2006/relationships/notesSlide" Target="/ppt/notesSlides/notesSlide4.xml" Id="Rde70eb2db4164f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c1428387b24e92" /><Relationship Type="http://schemas.openxmlformats.org/officeDocument/2006/relationships/image" Target="/ppt/media/image5.png" Id="R470d8ddcf39a4b89" /><Relationship Type="http://schemas.openxmlformats.org/officeDocument/2006/relationships/chart" Target="/ppt/slides/charts/chart3.xml" Id="Rb9c16dc1465143da" /><Relationship Type="http://schemas.openxmlformats.org/officeDocument/2006/relationships/chart" Target="/ppt/slides/charts/chart4.xml" Id="R2bf910b8fc73423a" /><Relationship Type="http://schemas.openxmlformats.org/officeDocument/2006/relationships/notesSlide" Target="/ppt/notesSlides/notesSlide5.xml" Id="Re01be91b69b440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3a469335a5446b" /><Relationship Type="http://schemas.openxmlformats.org/officeDocument/2006/relationships/image" Target="/ppt/media/image6.png" Id="R8694905216c740dd" /><Relationship Type="http://schemas.openxmlformats.org/officeDocument/2006/relationships/chart" Target="/ppt/slides/charts/chart5.xml" Id="Re466c2b5d75943c1" /><Relationship Type="http://schemas.openxmlformats.org/officeDocument/2006/relationships/notesSlide" Target="/ppt/notesSlides/notesSlide6.xml" Id="Reaf6a26228e64b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4eeb7dc30e1464d" /><Relationship Type="http://schemas.openxmlformats.org/officeDocument/2006/relationships/image" Target="/ppt/media/image7.png" Id="R9fa90d22c40244a1" /><Relationship Type="http://schemas.openxmlformats.org/officeDocument/2006/relationships/notesSlide" Target="/ppt/notesSlides/notesSlide7.xml" Id="Rf1637a560cad44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8953ebab3c4a49" /><Relationship Type="http://schemas.openxmlformats.org/officeDocument/2006/relationships/image" Target="/ppt/media/image8.png" Id="Rf52bd82d8e884afd" /><Relationship Type="http://schemas.openxmlformats.org/officeDocument/2006/relationships/notesSlide" Target="/ppt/notesSlides/notesSlide8.xml" Id="R1a5e914a244942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a5aedda811d4753" /><Relationship Type="http://schemas.openxmlformats.org/officeDocument/2006/relationships/image" Target="/ppt/media/image9.png" Id="R5dc8181213244a1a" /><Relationship Type="http://schemas.openxmlformats.org/officeDocument/2006/relationships/chart" Target="/ppt/slides/charts/chart6.xml" Id="Rc926f00a86fc4514" /><Relationship Type="http://schemas.openxmlformats.org/officeDocument/2006/relationships/notesSlide" Target="/ppt/notesSlides/notesSlide9.xml" Id="R79c2d28063c343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f2523605d647eb" /><Relationship Type="http://schemas.openxmlformats.org/officeDocument/2006/relationships/image" Target="/ppt/media/image10.png" Id="R5c209adc83e640db" /><Relationship Type="http://schemas.openxmlformats.org/officeDocument/2006/relationships/chart" Target="/ppt/slides/charts/chart7.xml" Id="R94b9d1f980ad4e03" /><Relationship Type="http://schemas.openxmlformats.org/officeDocument/2006/relationships/chart" Target="/ppt/slides/charts/chart8.xml" Id="R6821e9cc80ca41db" /><Relationship Type="http://schemas.openxmlformats.org/officeDocument/2006/relationships/notesSlide" Target="/ppt/notesSlides/notesSlide10.xml" Id="R1b3b0718433546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97a104323394ca2" /><Relationship Type="http://schemas.openxmlformats.org/officeDocument/2006/relationships/image" Target="/ppt/media/image11.png" Id="R1c03e14ce29f4b8c" /><Relationship Type="http://schemas.openxmlformats.org/officeDocument/2006/relationships/notesSlide" Target="/ppt/notesSlides/notesSlide11.xml" Id="R1fa4a3edd4014d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7b763d678844d37" /><Relationship Type="http://schemas.openxmlformats.org/officeDocument/2006/relationships/image" Target="/ppt/media/image12.png" Id="R8cdf6733998f4e3e" /><Relationship Type="http://schemas.openxmlformats.org/officeDocument/2006/relationships/chart" Target="/ppt/slides/charts/chart9.xml" Id="Rce84acccfcdb4544" /><Relationship Type="http://schemas.openxmlformats.org/officeDocument/2006/relationships/chart" Target="/ppt/slides/charts/chart10.xml" Id="Re4ba92444624440b" /><Relationship Type="http://schemas.openxmlformats.org/officeDocument/2006/relationships/notesSlide" Target="/ppt/notesSlides/notesSlide12.xml" Id="R5d03c06dd02b42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585f3ac3ff648ca" /><Relationship Type="http://schemas.openxmlformats.org/officeDocument/2006/relationships/image" Target="/ppt/media/image13.png" Id="Rcfe684ed920041f5" /><Relationship Type="http://schemas.openxmlformats.org/officeDocument/2006/relationships/hyperlink" Target="https://vexi-v1.github.io/vexi-hakari/?lang=en#replay" TargetMode="External" Id="R50647a4388154be9" /><Relationship Type="http://schemas.openxmlformats.org/officeDocument/2006/relationships/notesSlide" Target="/ppt/notesSlides/notesSlide13.xml" Id="R3493c69eefa94c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8f346d3e494472a" /><Relationship Type="http://schemas.openxmlformats.org/officeDocument/2006/relationships/image" Target="/ppt/media/image14.png" Id="Rf3b762b446304d5a" /><Relationship Type="http://schemas.openxmlformats.org/officeDocument/2006/relationships/hyperlink" Target="https://github.com/vexi-v1/vexi-hakari" TargetMode="External" Id="R0d4e345c3fee4c0d" /><Relationship Type="http://schemas.openxmlformats.org/officeDocument/2006/relationships/notesSlide" Target="/ppt/notesSlides/notesSlide14.xml" Id="Re58e64a8c6a745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4c28832f56545f1" /><Relationship Type="http://schemas.openxmlformats.org/officeDocument/2006/relationships/image" Target="/ppt/media/image15.png" Id="Rfd5966d9a72a4c39" /><Relationship Type="http://schemas.openxmlformats.org/officeDocument/2006/relationships/notesSlide" Target="/ppt/notesSlides/notesSlide15.xml" Id="Rd0fb7c927d934d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366161a28234f2c" /><Relationship Type="http://schemas.openxmlformats.org/officeDocument/2006/relationships/image" Target="/ppt/media/image16.png" Id="Rfccaf24ff00040bc" /><Relationship Type="http://schemas.openxmlformats.org/officeDocument/2006/relationships/notesSlide" Target="/ppt/notesSlides/notesSlide16.xml" Id="R02e94773d8cb4a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0e4e482b3e94e2d" /><Relationship Type="http://schemas.openxmlformats.org/officeDocument/2006/relationships/image" Target="/ppt/media/image17.png" Id="R1ea11788217f42f2" /><Relationship Type="http://schemas.openxmlformats.org/officeDocument/2006/relationships/notesSlide" Target="/ppt/notesSlides/notesSlide17.xml" Id="R94707da8626449d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306e4d43cdd422a" /><Relationship Type="http://schemas.openxmlformats.org/officeDocument/2006/relationships/image" Target="/ppt/media/image18.png" Id="Rce181bcad54a4fa7" /><Relationship Type="http://schemas.openxmlformats.org/officeDocument/2006/relationships/notesSlide" Target="/ppt/notesSlides/notesSlide18.xml" Id="R4c91555d929643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030f5c2e08f4fca" /><Relationship Type="http://schemas.openxmlformats.org/officeDocument/2006/relationships/image" Target="/ppt/media/image19.png" Id="R2dce1f94e1d84077" /><Relationship Type="http://schemas.openxmlformats.org/officeDocument/2006/relationships/chart" Target="/ppt/slides/charts/chart11.xml" Id="R6c71a00f8a954519" /><Relationship Type="http://schemas.openxmlformats.org/officeDocument/2006/relationships/notesSlide" Target="/ppt/notesSlides/notesSlide19.xml" Id="Rd59d50d9f79241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18031206ade40c8" /><Relationship Type="http://schemas.openxmlformats.org/officeDocument/2006/relationships/image" Target="/ppt/media/image20.png" Id="R9a66dc1d11584177" /><Relationship Type="http://schemas.openxmlformats.org/officeDocument/2006/relationships/hyperlink" Target="https://github.com/vexi-v1/vexi-hakari" TargetMode="External" Id="R991bd7c57b5f4b34" /><Relationship Type="http://schemas.openxmlformats.org/officeDocument/2006/relationships/notesSlide" Target="/ppt/notesSlides/notesSlide20.xml" Id="R00ce241955164a0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Sold</c:v>
          </c:tx>
          <c:spPr>
            <a:solidFill xmlns:a="http://schemas.openxmlformats.org/drawingml/2006/main">
              <a:srgbClr val="37D67A"/>
            </a:solidFill>
          </c:spPr>
          <c:cat>
            <c:strRef>
              <c:f>'Chart Data'!$A$2:$A$2</c:f>
              <c:strCache>
                <c:ptCount val="1"/>
                <c:pt idx="0">
                  <c:v>10 tokens deposited</c:v>
                </c:pt>
              </c:strCache>
            </c:strRef>
          </c:cat>
          <c:val>
            <c:numRef>
              <c:f>'Chart Data'!$B$2:$B$2</c:f>
              <c:numCache>
                <c:formatCode>General</c:formatCode>
                <c:ptCount val="1"/>
                <c:pt idx="0">
                  <c:v>2</c:v>
                </c:pt>
              </c:numCache>
            </c:numRef>
          </c:val>
        </c:ser>
        <c:ser>
          <c:idx val="1"/>
          <c:order val="1"/>
          <c:tx>
            <c:v>Unsold</c:v>
          </c:tx>
          <c:spPr>
            <a:solidFill xmlns:a="http://schemas.openxmlformats.org/drawingml/2006/main">
              <a:srgbClr val="FF007A"/>
            </a:solidFill>
          </c:spPr>
          <c:cat>
            <c:strRef>
              <c:f>'Chart Data'!$C$2:$C$2</c:f>
              <c:strCache>
                <c:ptCount val="1"/>
                <c:pt idx="0">
                  <c:v>10 tokens deposited</c:v>
                </c:pt>
              </c:strCache>
            </c:strRef>
          </c:cat>
          <c:val>
            <c:numRef>
              <c:f>'Chart Data'!$D$2:$D$2</c:f>
              <c:numCache>
                <c:formatCode>General</c:formatCode>
                <c:ptCount val="1"/>
                <c:pt idx="0">
                  <c:v>8</c:v>
                </c:pt>
              </c:numCache>
            </c:numRef>
          </c:val>
        </c:ser>
        <c:dLbls>
          <c:txPr>
            <a:bodyPr xmlns:a="http://schemas.openxmlformats.org/drawingml/2006/main" anchorCtr="1"/>
            <a:lstStyle xmlns:a="http://schemas.openxmlformats.org/drawingml/2006/main"/>
            <a:p xmlns:a="http://schemas.openxmlformats.org/drawingml/2006/main">
              <a:pPr>
                <a:defRPr sz="2325" b="1">
                  <a:solidFill>
                    <a:srgbClr val="FAFAFA"/>
                  </a:solidFill>
                  <a:latin typeface="Arial"/>
                  <a:ea typeface="Arial"/>
                  <a:cs typeface="Arial"/>
                </a:defRPr>
              </a:pPr>
            </a:p>
          </c:txPr>
          <c:dLblPos val="ctr"/>
          <c:showLegendKey val="0"/>
          <c:showVal val="1"/>
          <c:showCatName val="0"/>
          <c:showSerName val="0"/>
          <c:showPercent val="0"/>
          <c:showBubbleSize val="0"/>
          <c:showLeaderLines val="0"/>
        </c:dLbls>
        <c:gapWidth val="10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10"/>
          <c:min val="0"/>
        </c:scaling>
        <c:delete val="0"/>
        <c:axPos val="b"/>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Pool price</c:v>
          </c:tx>
          <c:spPr>
            <a:solidFill xmlns:a="http://schemas.openxmlformats.org/drawingml/2006/main">
              <a:srgbClr val="FF007A"/>
            </a:solidFill>
            <a:ln xmlns:a="http://schemas.openxmlformats.org/drawingml/2006/main" w="28575">
              <a:solidFill>
                <a:srgbClr val="FF007A"/>
              </a:solidFill>
            </a:ln>
          </c:spPr>
          <c:marker>
            <c:symbol val="circle"/>
            <c:size val="6"/>
            <c:spPr>
              <a:solidFill xmlns:a="http://schemas.openxmlformats.org/drawingml/2006/main">
                <a:srgbClr val="FF007A"/>
              </a:solidFill>
            </c:spPr>
          </c:marker>
          <c:cat>
            <c:strRef>
              <c:f>'Chart Data'!$A$2:$A$5</c:f>
              <c:strCache>
                <c:ptCount val="4"/>
                <c:pt idx="0">
                  <c:v>Earlier</c:v>
                </c:pt>
                <c:pt idx="1">
                  <c:v>2</c:v>
                </c:pt>
                <c:pt idx="2">
                  <c:v>3</c:v>
                </c:pt>
                <c:pt idx="3">
                  <c:v>Later</c:v>
                </c:pt>
              </c:strCache>
            </c:strRef>
          </c:cat>
          <c:val>
            <c:numRef>
              <c:f>'Chart Data'!$B$2:$B$5</c:f>
              <c:numCache>
                <c:formatCode>General</c:formatCode>
                <c:ptCount val="4"/>
                <c:pt idx="0">
                  <c:v>100</c:v>
                </c:pt>
                <c:pt idx="1">
                  <c:v>102</c:v>
                </c:pt>
                <c:pt idx="2">
                  <c:v>110</c:v>
                </c:pt>
                <c:pt idx="3">
                  <c:v>125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130"/>
          <c:min val="95"/>
        </c:scaling>
        <c:delete val="0"/>
        <c:axPos val="l"/>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Promised</c:v>
          </c:tx>
          <c:spPr>
            <a:solidFill xmlns:a="http://schemas.openxmlformats.org/drawingml/2006/main">
              <a:srgbClr val="FF007A"/>
            </a:solidFill>
          </c:spPr>
          <c:cat>
            <c:strRef>
              <c:f>'Chart Data'!$A$2:$A$2</c:f>
              <c:strCache>
                <c:ptCount val="1"/>
                <c:pt idx="0">
                  <c:v>AAPL</c:v>
                </c:pt>
              </c:strCache>
            </c:strRef>
          </c:cat>
          <c:val>
            <c:numRef>
              <c:f>'Chart Data'!$B$2:$B$2</c:f>
              <c:numCache>
                <c:formatCode>General</c:formatCode>
                <c:ptCount val="1"/>
                <c:pt idx="0">
                  <c:v>10</c:v>
                </c:pt>
              </c:numCache>
            </c:numRef>
          </c:val>
        </c:ser>
        <c:ser>
          <c:idx val="1"/>
          <c:order val="1"/>
          <c:tx>
            <c:v>Free</c:v>
          </c:tx>
          <c:spPr>
            <a:solidFill xmlns:a="http://schemas.openxmlformats.org/drawingml/2006/main">
              <a:srgbClr val="37D67A"/>
            </a:solidFill>
          </c:spPr>
          <c:cat>
            <c:strRef>
              <c:f>'Chart Data'!$C$2:$C$2</c:f>
              <c:strCache>
                <c:ptCount val="1"/>
                <c:pt idx="0">
                  <c:v>AAPL</c:v>
                </c:pt>
              </c:strCache>
            </c:strRef>
          </c:cat>
          <c:val>
            <c:numRef>
              <c:f>'Chart Data'!$D$2:$D$2</c:f>
              <c:numCache>
                <c:formatCode>General</c:formatCode>
                <c:ptCount val="1"/>
                <c:pt idx="0">
                  <c:v>20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AFAFA"/>
                  </a:solidFill>
                  <a:latin typeface="Arial"/>
                  <a:ea typeface="Arial"/>
                  <a:cs typeface="Arial"/>
                </a:defRPr>
              </a:pPr>
            </a:p>
          </c:txPr>
          <c:dLblPos val="ctr"/>
          <c:showLegendKey val="0"/>
          <c:showVal val="1"/>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30"/>
          <c:min val="0"/>
        </c:scaling>
        <c:delete val="0"/>
        <c:axPos val="b"/>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Promised</c:v>
          </c:tx>
          <c:spPr>
            <a:solidFill xmlns:a="http://schemas.openxmlformats.org/drawingml/2006/main">
              <a:srgbClr val="FF007A"/>
            </a:solidFill>
          </c:spPr>
          <c:cat>
            <c:strRef>
              <c:f>'Chart Data'!$A$2:$A$2</c:f>
              <c:strCache>
                <c:ptCount val="1"/>
                <c:pt idx="0">
                  <c:v>USDG</c:v>
                </c:pt>
              </c:strCache>
            </c:strRef>
          </c:cat>
          <c:val>
            <c:numRef>
              <c:f>'Chart Data'!$B$2:$B$2</c:f>
              <c:numCache>
                <c:formatCode>0,"k"</c:formatCode>
                <c:ptCount val="1"/>
                <c:pt idx="0">
                  <c:v>4000</c:v>
                </c:pt>
              </c:numCache>
            </c:numRef>
          </c:val>
        </c:ser>
        <c:ser>
          <c:idx val="1"/>
          <c:order val="1"/>
          <c:tx>
            <c:v>Free</c:v>
          </c:tx>
          <c:spPr>
            <a:solidFill xmlns:a="http://schemas.openxmlformats.org/drawingml/2006/main">
              <a:srgbClr val="37D67A"/>
            </a:solidFill>
          </c:spPr>
          <c:cat>
            <c:strRef>
              <c:f>'Chart Data'!$C$2:$C$2</c:f>
              <c:strCache>
                <c:ptCount val="1"/>
                <c:pt idx="0">
                  <c:v>USDG</c:v>
                </c:pt>
              </c:strCache>
            </c:strRef>
          </c:cat>
          <c:val>
            <c:numRef>
              <c:f>'Chart Data'!$D$2:$D$2</c:f>
              <c:numCache>
                <c:formatCode>0,"k"</c:formatCode>
                <c:ptCount val="1"/>
                <c:pt idx="0">
                  <c:v>16000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AFAFA"/>
                  </a:solidFill>
                  <a:latin typeface="Arial"/>
                  <a:ea typeface="Arial"/>
                  <a:cs typeface="Arial"/>
                </a:defRPr>
              </a:pPr>
            </a:p>
          </c:txPr>
          <c:dLblPos val="ctr"/>
          <c:showLegendKey val="0"/>
          <c:showVal val="1"/>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20000"/>
          <c:min val="0"/>
        </c:scaling>
        <c:delete val="0"/>
        <c:axPos val="b"/>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Wallet AAPL</c:v>
          </c:tx>
          <c:spPr>
            <a:solidFill xmlns:a="http://schemas.openxmlformats.org/drawingml/2006/main">
              <a:srgbClr val="37D67A"/>
            </a:solidFill>
          </c:spPr>
          <c:cat>
            <c:strRef>
              <c:f>'Chart Data'!$A$2:$A$3</c:f>
              <c:strCache>
                <c:ptCount val="2"/>
                <c:pt idx="0">
                  <c:v>Guarded swap</c:v>
                </c:pt>
                <c:pt idx="1">
                  <c:v>Unguarded swap</c:v>
                </c:pt>
              </c:strCache>
            </c:strRef>
          </c:cat>
          <c:val>
            <c:numRef>
              <c:f>'Chart Data'!$B$2:$B$3</c:f>
              <c:numCache>
                <c:formatCode>0.00</c:formatCode>
                <c:ptCount val="2"/>
                <c:pt idx="0">
                  <c:v>29.047619</c:v>
                </c:pt>
                <c:pt idx="1">
                  <c:v>9</c:v>
                </c:pt>
              </c:numCache>
            </c:numRef>
          </c:val>
        </c:ser>
        <c:ser>
          <c:idx val="1"/>
          <c:order val="1"/>
          <c:tx>
            <c:v>Promised AAPL</c:v>
          </c:tx>
          <c:spPr>
            <a:solidFill xmlns:a="http://schemas.openxmlformats.org/drawingml/2006/main">
              <a:srgbClr val="FF007A"/>
            </a:solidFill>
          </c:spPr>
          <c:cat>
            <c:strRef>
              <c:f>'Chart Data'!$C$2:$C$3</c:f>
              <c:strCache>
                <c:ptCount val="2"/>
                <c:pt idx="0">
                  <c:v>Guarded swap</c:v>
                </c:pt>
                <c:pt idx="1">
                  <c:v>Unguarded swap</c:v>
                </c:pt>
              </c:strCache>
            </c:strRef>
          </c:cat>
          <c:val>
            <c:numRef>
              <c:f>'Chart Data'!$D$2:$D$3</c:f>
              <c:numCache>
                <c:formatCode>General</c:formatCode>
                <c:ptCount val="2"/>
                <c:pt idx="0">
                  <c:v>10</c:v>
                </c:pt>
                <c:pt idx="1">
                  <c:v>10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FAFAFA"/>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35"/>
          <c:min val="0"/>
        </c:scaling>
        <c:delete val="0"/>
        <c:axPos val="l"/>
        <c:majorGridlines>
          <c:spPr>
            <a:ln xmlns:a="http://schemas.openxmlformats.org/drawingml/2006/main" w="6668">
              <a:solidFill>
                <a:srgbClr val="33333D"/>
              </a:solidFill>
            </a:ln>
          </c:spPr>
        </c:majorGridlines>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majorUnit val="10"/>
      </c:valAx>
      <c:spPr>
        <a:solidFill xmlns:a="http://schemas.openxmlformats.org/drawingml/2006/main">
          <a:srgbClr val="08080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legend>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Reference</c:v>
          </c:tx>
          <c:spPr>
            <a:solidFill xmlns:a="http://schemas.openxmlformats.org/drawingml/2006/main">
              <a:srgbClr val="FAFAFA"/>
            </a:solidFill>
            <a:ln xmlns:a="http://schemas.openxmlformats.org/drawingml/2006/main" w="28575">
              <a:solidFill>
                <a:srgbClr val="FAFAFA"/>
              </a:solidFill>
            </a:ln>
          </c:spPr>
          <c:marker>
            <c:symbol val="circle"/>
            <c:size val="6"/>
            <c:spPr>
              <a:solidFill xmlns:a="http://schemas.openxmlformats.org/drawingml/2006/main">
                <a:srgbClr val="FAFAFA"/>
              </a:solidFill>
            </c:spPr>
          </c:marker>
          <c:cat>
            <c:strRef>
              <c:f>'Chart Data'!$A$2:$A$5</c:f>
              <c:strCache>
                <c:ptCount val="4"/>
                <c:pt idx="0">
                  <c:v>Start</c:v>
                </c:pt>
                <c:pt idx="1">
                  <c:v>+2.5%</c:v>
                </c:pt>
                <c:pt idx="2">
                  <c:v>+5.1%</c:v>
                </c:pt>
                <c:pt idx="3">
                  <c:v>Return</c:v>
                </c:pt>
              </c:strCache>
            </c:strRef>
          </c:cat>
          <c:val>
            <c:numRef>
              <c:f>'Chart Data'!$B$2:$B$5</c:f>
              <c:numCache>
                <c:formatCode>0</c:formatCode>
                <c:ptCount val="4"/>
                <c:pt idx="0">
                  <c:v>378.297368</c:v>
                </c:pt>
                <c:pt idx="1">
                  <c:v>387.687067</c:v>
                </c:pt>
                <c:pt idx="2">
                  <c:v>397.521081</c:v>
                </c:pt>
                <c:pt idx="3">
                  <c:v>378.297368</c:v>
                </c:pt>
              </c:numCache>
            </c:numRef>
          </c:val>
          <c:smooth val="0"/>
        </c:ser>
        <c:ser>
          <c:idx val="1"/>
          <c:order val="1"/>
          <c:tx>
            <c:v>TWAP</c:v>
          </c:tx>
          <c:spPr>
            <a:solidFill xmlns:a="http://schemas.openxmlformats.org/drawingml/2006/main">
              <a:srgbClr val="37D67A"/>
            </a:solidFill>
            <a:ln xmlns:a="http://schemas.openxmlformats.org/drawingml/2006/main" w="28575">
              <a:solidFill>
                <a:srgbClr val="37D67A"/>
              </a:solidFill>
            </a:ln>
          </c:spPr>
          <c:marker>
            <c:symbol val="circle"/>
            <c:size val="6"/>
            <c:spPr>
              <a:solidFill xmlns:a="http://schemas.openxmlformats.org/drawingml/2006/main">
                <a:srgbClr val="37D67A"/>
              </a:solidFill>
            </c:spPr>
          </c:marker>
          <c:cat>
            <c:strRef>
              <c:f>'Chart Data'!$C$2:$C$5</c:f>
              <c:strCache>
                <c:ptCount val="4"/>
                <c:pt idx="0">
                  <c:v>Start</c:v>
                </c:pt>
                <c:pt idx="1">
                  <c:v>+2.5%</c:v>
                </c:pt>
                <c:pt idx="2">
                  <c:v>+5.1%</c:v>
                </c:pt>
                <c:pt idx="3">
                  <c:v>Return</c:v>
                </c:pt>
              </c:strCache>
            </c:strRef>
          </c:cat>
          <c:val>
            <c:numRef>
              <c:f>'Chart Data'!$D$2:$D$5</c:f>
              <c:numCache>
                <c:formatCode>0</c:formatCode>
                <c:ptCount val="4"/>
                <c:pt idx="0">
                  <c:v>378.231285</c:v>
                </c:pt>
                <c:pt idx="1">
                  <c:v>378.231285</c:v>
                </c:pt>
                <c:pt idx="2">
                  <c:v>378.231285</c:v>
                </c:pt>
                <c:pt idx="3">
                  <c:v>378.231285</c:v>
                </c:pt>
              </c:numCache>
            </c:numRef>
          </c:val>
          <c:smooth val="0"/>
        </c:ser>
        <c:ser>
          <c:idx val="2"/>
          <c:order val="2"/>
          <c:tx>
            <c:v>+5%</c:v>
          </c:tx>
          <c:spPr>
            <a:ln xmlns:a="http://schemas.openxmlformats.org/drawingml/2006/main" w="19050">
              <a:solidFill>
                <a:srgbClr val="FF5470"/>
              </a:solidFill>
            </a:ln>
          </c:spPr>
          <c:marker>
            <c:symbol val="none"/>
          </c:marker>
          <c:cat>
            <c:strRef>
              <c:f>'Chart Data'!$E$2:$E$5</c:f>
              <c:strCache>
                <c:ptCount val="4"/>
                <c:pt idx="0">
                  <c:v>Start</c:v>
                </c:pt>
                <c:pt idx="1">
                  <c:v>+2.5%</c:v>
                </c:pt>
                <c:pt idx="2">
                  <c:v>+5.1%</c:v>
                </c:pt>
                <c:pt idx="3">
                  <c:v>Return</c:v>
                </c:pt>
              </c:strCache>
            </c:strRef>
          </c:cat>
          <c:val>
            <c:numRef>
              <c:f>'Chart Data'!$F$2:$F$5</c:f>
              <c:numCache>
                <c:formatCode>0</c:formatCode>
                <c:ptCount val="4"/>
                <c:pt idx="0">
                  <c:v>397.142849</c:v>
                </c:pt>
                <c:pt idx="1">
                  <c:v>397.142849</c:v>
                </c:pt>
                <c:pt idx="2">
                  <c:v>397.142849</c:v>
                </c:pt>
                <c:pt idx="3">
                  <c:v>397.142849</c:v>
                </c:pt>
              </c:numCache>
            </c:numRef>
          </c:val>
          <c:smooth val="0"/>
        </c:ser>
        <c:ser>
          <c:idx val="3"/>
          <c:order val="3"/>
          <c:tx>
            <c:v>−5%</c:v>
          </c:tx>
          <c:spPr>
            <a:ln xmlns:a="http://schemas.openxmlformats.org/drawingml/2006/main" w="19050">
              <a:solidFill>
                <a:srgbClr val="FF5470"/>
              </a:solidFill>
            </a:ln>
          </c:spPr>
          <c:marker>
            <c:symbol val="none"/>
          </c:marker>
          <c:cat>
            <c:strRef>
              <c:f>'Chart Data'!$G$2:$G$5</c:f>
              <c:strCache>
                <c:ptCount val="4"/>
                <c:pt idx="0">
                  <c:v>Start</c:v>
                </c:pt>
                <c:pt idx="1">
                  <c:v>+2.5%</c:v>
                </c:pt>
                <c:pt idx="2">
                  <c:v>+5.1%</c:v>
                </c:pt>
                <c:pt idx="3">
                  <c:v>Return</c:v>
                </c:pt>
              </c:strCache>
            </c:strRef>
          </c:cat>
          <c:val>
            <c:numRef>
              <c:f>'Chart Data'!$H$2:$H$5</c:f>
              <c:numCache>
                <c:formatCode>0</c:formatCode>
                <c:ptCount val="4"/>
                <c:pt idx="0">
                  <c:v>359.319721</c:v>
                </c:pt>
                <c:pt idx="1">
                  <c:v>359.319721</c:v>
                </c:pt>
                <c:pt idx="2">
                  <c:v>359.319721</c:v>
                </c:pt>
                <c:pt idx="3">
                  <c:v>359.319721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405"/>
          <c:min val="350"/>
        </c:scaling>
        <c:delete val="0"/>
        <c:axPos val="l"/>
        <c:majorGridlines>
          <c:spPr>
            <a:ln xmlns:a="http://schemas.openxmlformats.org/drawingml/2006/main" w="5715">
              <a:solidFill>
                <a:srgbClr val="33333D"/>
              </a:solidFill>
            </a:ln>
          </c:spPr>
        </c:majorGridlines>
        <c:numFmt formatCode="0"/>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majorUnit val="10"/>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Size cap</c:v>
          </c:tx>
          <c:spPr>
            <a:solidFill xmlns:a="http://schemas.openxmlformats.org/drawingml/2006/main">
              <a:srgbClr val="37D67A"/>
            </a:solidFill>
            <a:ln xmlns:a="http://schemas.openxmlformats.org/drawingml/2006/main" w="28575">
              <a:solidFill>
                <a:srgbClr val="37D67A"/>
              </a:solidFill>
            </a:ln>
          </c:spPr>
          <c:marker>
            <c:symbol val="circle"/>
            <c:size val="6"/>
            <c:spPr>
              <a:solidFill xmlns:a="http://schemas.openxmlformats.org/drawingml/2006/main">
                <a:srgbClr val="37D67A"/>
              </a:solidFill>
            </c:spPr>
          </c:marker>
          <c:cat>
            <c:strRef>
              <c:f>'Chart Data'!$A$2:$A$6</c:f>
              <c:strCache>
                <c:ptCount val="5"/>
                <c:pt idx="0">
                  <c:v>−5%</c:v>
                </c:pt>
                <c:pt idx="1">
                  <c:v>−2.5%</c:v>
                </c:pt>
                <c:pt idx="2">
                  <c:v>0%</c:v>
                </c:pt>
                <c:pt idx="3">
                  <c:v>+2.5%</c:v>
                </c:pt>
                <c:pt idx="4">
                  <c:v>+5%</c:v>
                </c:pt>
              </c:strCache>
            </c:strRef>
          </c:cat>
          <c:val>
            <c:numRef>
              <c:f>'Chart Data'!$B$2:$B$6</c:f>
              <c:numCache>
                <c:formatCode>General</c:formatCode>
                <c:ptCount val="5"/>
                <c:pt idx="0">
                  <c:v>0</c:v>
                </c:pt>
                <c:pt idx="1">
                  <c:v>25</c:v>
                </c:pt>
                <c:pt idx="2">
                  <c:v>50</c:v>
                </c:pt>
                <c:pt idx="3">
                  <c:v>25</c:v>
                </c:pt>
                <c:pt idx="4">
                  <c:v>0</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5715">
              <a:solidFill>
                <a:srgbClr val="33333D"/>
              </a:solidFill>
            </a:ln>
          </c:spPr>
        </c:majorGridlines>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majorUnit val="25"/>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varyColors val="0"/>
        <c:ser>
          <c:idx val="0"/>
          <c:order val="0"/>
          <c:tx>
            <c:v>Ask</c:v>
          </c:tx>
          <c:spPr>
            <a:solidFill xmlns:a="http://schemas.openxmlformats.org/drawingml/2006/main">
              <a:srgbClr val="FF007A"/>
            </a:solidFill>
            <a:ln xmlns:a="http://schemas.openxmlformats.org/drawingml/2006/main" w="28575">
              <a:solidFill>
                <a:srgbClr val="FF007A"/>
              </a:solidFill>
            </a:ln>
          </c:spPr>
          <c:marker>
            <c:symbol val="circle"/>
            <c:size val="6"/>
            <c:spPr>
              <a:solidFill xmlns:a="http://schemas.openxmlformats.org/drawingml/2006/main">
                <a:srgbClr val="FF007A"/>
              </a:solidFill>
            </c:spPr>
          </c:marker>
          <c:cat>
            <c:strRef>
              <c:f>'Chart Data'!$A$2:$A$11</c:f>
              <c:strCache>
                <c:ptCount val="10"/>
                <c:pt idx="0">
                  <c:v>0%</c:v>
                </c:pt>
                <c:pt idx="1">
                  <c:v>0.5%</c:v>
                </c:pt>
                <c:pt idx="2">
                  <c:v>1%</c:v>
                </c:pt>
                <c:pt idx="3">
                  <c:v>1.5%</c:v>
                </c:pt>
                <c:pt idx="4">
                  <c:v>2%</c:v>
                </c:pt>
                <c:pt idx="5">
                  <c:v>2.5%</c:v>
                </c:pt>
                <c:pt idx="6">
                  <c:v>3%</c:v>
                </c:pt>
                <c:pt idx="7">
                  <c:v>3.5%</c:v>
                </c:pt>
                <c:pt idx="8">
                  <c:v>4%</c:v>
                </c:pt>
                <c:pt idx="9">
                  <c:v>4.5%</c:v>
                </c:pt>
              </c:strCache>
            </c:strRef>
          </c:cat>
          <c:val>
            <c:numRef>
              <c:f>'Chart Data'!$B$2:$B$11</c:f>
              <c:numCache>
                <c:formatCode>0.0</c:formatCode>
                <c:ptCount val="10"/>
                <c:pt idx="0">
                  <c:v>8</c:v>
                </c:pt>
                <c:pt idx="1">
                  <c:v>8.016</c:v>
                </c:pt>
                <c:pt idx="2">
                  <c:v>8.064</c:v>
                </c:pt>
                <c:pt idx="3">
                  <c:v>8.144</c:v>
                </c:pt>
                <c:pt idx="4">
                  <c:v>8.256</c:v>
                </c:pt>
                <c:pt idx="5">
                  <c:v>8.4</c:v>
                </c:pt>
                <c:pt idx="6">
                  <c:v>8.576</c:v>
                </c:pt>
                <c:pt idx="7">
                  <c:v>8.784</c:v>
                </c:pt>
                <c:pt idx="8">
                  <c:v>9.024</c:v>
                </c:pt>
                <c:pt idx="9">
                  <c:v>9.296</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200">
                <a:solidFill>
                  <a:srgbClr val="A8A8B2"/>
                </a:solidFill>
                <a:latin typeface="Arial"/>
                <a:ea typeface="Arial"/>
                <a:cs typeface="Arial"/>
              </a:defRPr>
            </a:pPr>
          </a:p>
        </c:txPr>
        <c:crossAx val="48672768"/>
      </c:catAx>
      <c:valAx>
        <c:axId val="48672768"/>
        <c:scaling>
          <c:orientation val="minMax"/>
          <c:max val="9.6"/>
          <c:min val="8"/>
        </c:scaling>
        <c:delete val="0"/>
        <c:axPos val="l"/>
        <c:majorGridlines>
          <c:spPr>
            <a:ln xmlns:a="http://schemas.openxmlformats.org/drawingml/2006/main" w="5715">
              <a:solidFill>
                <a:srgbClr val="33333D"/>
              </a:solidFill>
            </a:ln>
          </c:spPr>
        </c:majorGridlines>
        <c:numFmt formatCode="0.0"/>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majorUnit val="0.4"/>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AAPL</c:v>
          </c:tx>
          <c:spPr>
            <a:solidFill xmlns:a="http://schemas.openxmlformats.org/drawingml/2006/main">
              <a:srgbClr val="37D67A"/>
            </a:solidFill>
          </c:spPr>
          <c:cat>
            <c:strRef>
              <c:f>'Chart Data'!$A$2:$A$5</c:f>
              <c:strCache>
                <c:ptCount val="4"/>
                <c:pt idx="0">
                  <c:v>Fill</c:v>
                </c:pt>
                <c:pt idx="1">
                  <c:v>Exercise</c:v>
                </c:pt>
                <c:pt idx="2">
                  <c:v>Close</c:v>
                </c:pt>
                <c:pt idx="3">
                  <c:v>Claim</c:v>
                </c:pt>
              </c:strCache>
            </c:strRef>
          </c:cat>
          <c:val>
            <c:numRef>
              <c:f>'Chart Data'!$B$2:$B$5</c:f>
              <c:numCache>
                <c:formatCode>General</c:formatCode>
                <c:ptCount val="4"/>
                <c:pt idx="0">
                  <c:v>5</c:v>
                </c:pt>
                <c:pt idx="1">
                  <c:v>8</c:v>
                </c:pt>
                <c:pt idx="2">
                  <c:v>0</c:v>
                </c:pt>
                <c:pt idx="3">
                  <c:v>0</c:v>
                </c:pt>
              </c:numCache>
            </c:numRef>
          </c:val>
        </c:ser>
        <c:dLbls>
          <c:txPr>
            <a:bodyPr xmlns:a="http://schemas.openxmlformats.org/drawingml/2006/main" anchorCtr="1"/>
            <a:lstStyle xmlns:a="http://schemas.openxmlformats.org/drawingml/2006/main"/>
            <a:p xmlns:a="http://schemas.openxmlformats.org/drawingml/2006/main">
              <a:pPr>
                <a:defRPr sz="1650">
                  <a:solidFill>
                    <a:srgbClr val="FAFAFA"/>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10"/>
          <c:min val="0"/>
        </c:scaling>
        <c:delete val="0"/>
        <c:axPos val="l"/>
        <c:majorGridlines>
          <c:spPr>
            <a:ln xmlns:a="http://schemas.openxmlformats.org/drawingml/2006/main" w="5715">
              <a:solidFill>
                <a:srgbClr val="33333D"/>
              </a:solidFill>
            </a:ln>
          </c:spPr>
        </c:majorGridlines>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majorUnit val="5"/>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USDG</c:v>
          </c:tx>
          <c:spPr>
            <a:solidFill xmlns:a="http://schemas.openxmlformats.org/drawingml/2006/main">
              <a:srgbClr val="FF007A"/>
            </a:solidFill>
          </c:spPr>
          <c:cat>
            <c:strRef>
              <c:f>'Chart Data'!$A$2:$A$5</c:f>
              <c:strCache>
                <c:ptCount val="4"/>
                <c:pt idx="0">
                  <c:v>Fill</c:v>
                </c:pt>
                <c:pt idx="1">
                  <c:v>Exercise</c:v>
                </c:pt>
                <c:pt idx="2">
                  <c:v>Close</c:v>
                </c:pt>
                <c:pt idx="3">
                  <c:v>Claim</c:v>
                </c:pt>
              </c:strCache>
            </c:strRef>
          </c:cat>
          <c:val>
            <c:numRef>
              <c:f>'Chart Data'!$B$2:$B$5</c:f>
              <c:numCache>
                <c:formatCode>0.00</c:formatCode>
                <c:ptCount val="4"/>
                <c:pt idx="0">
                  <c:v>1264.0064</c:v>
                </c:pt>
                <c:pt idx="1">
                  <c:v>64.0064</c:v>
                </c:pt>
                <c:pt idx="2">
                  <c:v>64.0064</c:v>
                </c:pt>
                <c:pt idx="3">
                  <c:v>0</c:v>
                </c:pt>
              </c:numCache>
            </c:numRef>
          </c:val>
        </c:ser>
        <c:dLbls>
          <c:txPr>
            <a:bodyPr xmlns:a="http://schemas.openxmlformats.org/drawingml/2006/main" anchorCtr="1"/>
            <a:lstStyle xmlns:a="http://schemas.openxmlformats.org/drawingml/2006/main"/>
            <a:p xmlns:a="http://schemas.openxmlformats.org/drawingml/2006/main">
              <a:pPr>
                <a:defRPr sz="1650">
                  <a:solidFill>
                    <a:srgbClr val="FAFAFA"/>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1500"/>
          <c:min val="0"/>
        </c:scaling>
        <c:delete val="0"/>
        <c:axPos val="l"/>
        <c:majorGridlines>
          <c:spPr>
            <a:ln xmlns:a="http://schemas.openxmlformats.org/drawingml/2006/main" w="5715">
              <a:solidFill>
                <a:srgbClr val="33333D"/>
              </a:solidFill>
            </a:ln>
          </c:spPr>
        </c:majorGridlines>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majorUnit val="500"/>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USDG / USD per token</c:v>
          </c:tx>
          <c:spPr>
            <a:solidFill xmlns:a="http://schemas.openxmlformats.org/drawingml/2006/main">
              <a:srgbClr val="FF007A"/>
            </a:solidFill>
          </c:spPr>
          <c:cat>
            <c:strRef>
              <c:f>'Chart Data'!$A$2:$A$3</c:f>
              <c:strCache>
                <c:ptCount val="2"/>
                <c:pt idx="0">
                  <c:v>Stock close / USD</c:v>
                </c:pt>
                <c:pt idx="1">
                  <c:v>Pool snapshot / USDG</c:v>
                </c:pt>
              </c:strCache>
            </c:strRef>
          </c:cat>
          <c:val>
            <c:numRef>
              <c:f>'Chart Data'!$B$2:$B$3</c:f>
              <c:numCache>
                <c:formatCode>General</c:formatCode>
                <c:ptCount val="2"/>
                <c:pt idx="0">
                  <c:v>28.84</c:v>
                </c:pt>
                <c:pt idx="1">
                  <c:v>54.5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FAFAFA"/>
                  </a:solidFill>
                  <a:latin typeface="Arial"/>
                  <a:ea typeface="Arial"/>
                  <a:cs typeface="Arial"/>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5715">
              <a:solidFill>
                <a:srgbClr val="33333D"/>
              </a:solidFill>
            </a:ln>
          </c:spPr>
        </c:majorGridlines>
        <c:numFmt formatCode="General"/>
        <c:majorTickMark val="none"/>
        <c:minorTickMark val="none"/>
        <c:spPr>
          <a:ln xmlns:a="http://schemas.openxmlformats.org/drawingml/2006/main" w="9525">
            <a:solidFill>
              <a:srgbClr val="33333D"/>
            </a:solidFill>
          </a:ln>
        </c:spPr>
        <c:txPr>
          <a:bodyPr xmlns:a="http://schemas.openxmlformats.org/drawingml/2006/main" anchorCtr="1"/>
          <a:lstStyle xmlns:a="http://schemas.openxmlformats.org/drawingml/2006/main"/>
          <a:p xmlns:a="http://schemas.openxmlformats.org/drawingml/2006/main">
            <a:pPr>
              <a:defRPr sz="1500">
                <a:solidFill>
                  <a:srgbClr val="A8A8B2"/>
                </a:solidFill>
                <a:latin typeface="Arial"/>
                <a:ea typeface="Arial"/>
                <a:cs typeface="Arial"/>
              </a:defRPr>
            </a:pPr>
          </a:p>
        </c:txPr>
        <c:crossAx val="48650112"/>
        <c:crossBetween val="between"/>
        <c:majorUnit val="20"/>
      </c:valAx>
      <c:spPr>
        <a:solidFill xmlns:a="http://schemas.openxmlformats.org/drawingml/2006/main">
          <a:srgbClr val="08080A"/>
        </a:solidFill>
        <a:ln xmlns:a="http://schemas.openxmlformats.org/drawingml/2006/main" w="0">
          <a:noFill/>
        </a:ln>
      </c:spPr>
    </c:plotArea>
    <c:plotVisOnly val="1"/>
  </c:chart>
  <c:spPr>
    <a:solidFill xmlns:a="http://schemas.openxmlformats.org/drawingml/2006/main">
      <a:srgbClr val="08080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33c280e822c4072"/>
          <a:stretch xmlns:a="http://schemas.openxmlformats.org/drawingml/2006/main"/>
        </p:blipFill>
        <p:spPr>
          <a:xfrm xmlns:a="http://schemas.openxmlformats.org/drawingml/2006/main">
            <a:off x="9201150" y="1628775"/>
            <a:ext cx="2000250" cy="2000250"/>
          </a:xfrm>
          <a:prstGeom xmlns:a="http://schemas.openxmlformats.org/drawingml/2006/main" prst="rect">
            <a:avLst/>
          </a:prstGeom>
        </p:spPr>
      </p:pic>
      <p:sp>
        <p:nvSpPr>
          <p:cNvPr id="2" name="Vexi Hakari">
            <a:extLst xmlns:a="http://schemas.openxmlformats.org/drawingml/2006/main">
              <a:ext uri="{FF2B5EF4-FFF2-40B4-BE49-F238E27FC236}">
                <a16:creationId xmlns:a16="http://schemas.microsoft.com/office/drawing/2014/main" id="{E76FDAA5-579A-4BC8-B612-B781E76F5C93}"/>
              </a:ext>
            </a:extLst>
          </p:cNvPr>
          <p:cNvSpPr>
            <a:spLocks xmlns:a="http://schemas.openxmlformats.org/drawingml/2006/main" noGrp="1"/>
          </p:cNvSpPr>
          <p:nvPr/>
        </p:nvSpPr>
        <p:spPr>
          <a:xfrm xmlns:a="http://schemas.openxmlformats.org/drawingml/2006/main">
            <a:off x="609600" y="1362075"/>
            <a:ext cx="84201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6450" b="1">
                <a:solidFill>
                  <a:srgbClr val="FAFAFA"/>
                </a:solidFill>
                <a:latin typeface="Arial"/>
                <a:ea typeface="Arial"/>
                <a:cs typeface="Arial"/>
              </a:defRPr>
            </a:pPr>
            <a:r>
              <a:rPr sz="6450" b="1">
                <a:solidFill>
                  <a:srgbClr val="FAFAFA"/>
                </a:solidFill>
                <a:latin typeface="Arial"/>
                <a:ea typeface="Arial"/>
                <a:cs typeface="Arial"/>
              </a:rPr>
              <a:t>Vexi Hakari</a:t>
            </a:r>
          </a:p>
        </p:txBody>
      </p:sp>
      <p:sp>
        <p:nvSpPr>
          <p:cNvPr id="3" name="Shared liquidity for options + spot">
            <a:extLst xmlns:a="http://schemas.openxmlformats.org/drawingml/2006/main">
              <a:ext uri="{FF2B5EF4-FFF2-40B4-BE49-F238E27FC236}">
                <a16:creationId xmlns:a16="http://schemas.microsoft.com/office/drawing/2014/main" id="{C1A06353-D6BF-44B4-893B-76AD4243B9B7}"/>
              </a:ext>
            </a:extLst>
          </p:cNvPr>
          <p:cNvSpPr>
            <a:spLocks xmlns:a="http://schemas.openxmlformats.org/drawingml/2006/main" noGrp="1"/>
          </p:cNvSpPr>
          <p:nvPr/>
        </p:nvSpPr>
        <p:spPr>
          <a:xfrm xmlns:a="http://schemas.openxmlformats.org/drawingml/2006/main">
            <a:off x="647700" y="2857500"/>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37D67A"/>
                </a:solidFill>
                <a:latin typeface="Arial"/>
                <a:ea typeface="Arial"/>
                <a:cs typeface="Arial"/>
              </a:defRPr>
            </a:pPr>
            <a:r>
              <a:rPr sz="3225" b="1">
                <a:solidFill>
                  <a:srgbClr val="37D67A"/>
                </a:solidFill>
                <a:latin typeface="Arial"/>
                <a:ea typeface="Arial"/>
                <a:cs typeface="Arial"/>
              </a:rPr>
              <a:t>Shared liquidity for options + spot</a:t>
            </a:r>
          </a:p>
        </p:txBody>
      </p:sp>
      <p:sp>
        <p:nvSpPr>
          <p:cNvPr id="4" name="Aqua accounting. Uniswap v4 quote checks.">
            <a:extLst xmlns:a="http://schemas.openxmlformats.org/drawingml/2006/main">
              <a:ext uri="{FF2B5EF4-FFF2-40B4-BE49-F238E27FC236}">
                <a16:creationId xmlns:a16="http://schemas.microsoft.com/office/drawing/2014/main" id="{5AFC138D-15E0-4CE3-A83E-74ACA8B65F64}"/>
              </a:ext>
            </a:extLst>
          </p:cNvPr>
          <p:cNvSpPr>
            <a:spLocks xmlns:a="http://schemas.openxmlformats.org/drawingml/2006/main" noGrp="1"/>
          </p:cNvSpPr>
          <p:nvPr/>
        </p:nvSpPr>
        <p:spPr>
          <a:xfrm xmlns:a="http://schemas.openxmlformats.org/drawingml/2006/main">
            <a:off x="647700" y="3781425"/>
            <a:ext cx="9429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A8A8B2"/>
                </a:solidFill>
                <a:latin typeface="Arial"/>
                <a:ea typeface="Arial"/>
                <a:cs typeface="Arial"/>
              </a:defRPr>
            </a:pPr>
            <a:r>
              <a:rPr sz="2100" b="0">
                <a:solidFill>
                  <a:srgbClr val="A8A8B2"/>
                </a:solidFill>
                <a:latin typeface="Arial"/>
                <a:ea typeface="Arial"/>
                <a:cs typeface="Arial"/>
              </a:rPr>
              <a:t>Aqua accounting. Uniswap v4 quote checks.</a:t>
            </a:r>
          </a:p>
        </p:txBody>
      </p:sp>
      <p:sp>
        <p:nvSpPr>
          <p:cNvPr id="5" name="6-minute protocol demo / AAPL example">
            <a:extLst xmlns:a="http://schemas.openxmlformats.org/drawingml/2006/main">
              <a:ext uri="{FF2B5EF4-FFF2-40B4-BE49-F238E27FC236}">
                <a16:creationId xmlns:a16="http://schemas.microsoft.com/office/drawing/2014/main" id="{299A52D7-C44A-4E62-BF8B-509184EAADDC}"/>
              </a:ext>
            </a:extLst>
          </p:cNvPr>
          <p:cNvSpPr>
            <a:spLocks xmlns:a="http://schemas.openxmlformats.org/drawingml/2006/main" noGrp="1"/>
          </p:cNvSpPr>
          <p:nvPr/>
        </p:nvSpPr>
        <p:spPr>
          <a:xfrm xmlns:a="http://schemas.openxmlformats.org/drawingml/2006/main">
            <a:off x="647700" y="5391150"/>
            <a:ext cx="828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FAFAFA"/>
                </a:solidFill>
                <a:latin typeface="Arial"/>
                <a:ea typeface="Arial"/>
                <a:cs typeface="Arial"/>
              </a:defRPr>
            </a:pPr>
            <a:r>
              <a:rPr sz="1875" b="0">
                <a:solidFill>
                  <a:srgbClr val="FAFAFA"/>
                </a:solidFill>
                <a:latin typeface="Arial"/>
                <a:ea typeface="Arial"/>
                <a:cs typeface="Arial"/>
              </a:rPr>
              <a:t>6-minute protocol demo / AAPL example</a:t>
            </a:r>
          </a:p>
        </p:txBody>
      </p:sp>
      <p:sp>
        <p:nvSpPr>
          <p:cNvPr id="6" name="ETHGlobal Tokyo 2026">
            <a:extLst xmlns:a="http://schemas.openxmlformats.org/drawingml/2006/main">
              <a:ext uri="{FF2B5EF4-FFF2-40B4-BE49-F238E27FC236}">
                <a16:creationId xmlns:a16="http://schemas.microsoft.com/office/drawing/2014/main" id="{EE196FE7-509C-4118-89C5-984CED5821BC}"/>
              </a:ext>
            </a:extLst>
          </p:cNvPr>
          <p:cNvSpPr>
            <a:spLocks xmlns:a="http://schemas.openxmlformats.org/drawingml/2006/main" noGrp="1"/>
          </p:cNvSpPr>
          <p:nvPr/>
        </p:nvSpPr>
        <p:spPr>
          <a:xfrm xmlns:a="http://schemas.openxmlformats.org/drawingml/2006/main">
            <a:off x="647700" y="5972175"/>
            <a:ext cx="904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ETHGlobal Tokyo 2026</a:t>
            </a:r>
          </a:p>
        </p:txBody>
      </p:sp>
    </p:spTree>
    <p:extLst>
      <p:ext uri="{BB962C8B-B14F-4D97-AF65-F5344CB8AC3E}">
        <p14:creationId xmlns:p14="http://schemas.microsoft.com/office/powerpoint/2010/main" val="1944093900"/>
      </p:ext>
    </p:extLst>
  </p:cSld>
</p:sld>
</file>

<file path=ppt/slides/slide2.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7" name="Covered calls and cash-secured puts">
            <a:extLst xmlns:a="http://schemas.openxmlformats.org/drawingml/2006/main">
              <a:ext uri="{FF2B5EF4-FFF2-40B4-BE49-F238E27FC236}">
                <a16:creationId xmlns:a16="http://schemas.microsoft.com/office/drawing/2014/main" id="{9D137881-B81C-4798-AC2B-D05632A0E589}"/>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Covered calls and cash-secured puts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cb3eff451b24c84"/>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E04B5E55-E0F9-43C1-B09D-38CC8E5F538E}"/>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APL example / illustrative amounts">
            <a:extLst xmlns:a="http://schemas.openxmlformats.org/drawingml/2006/main">
              <a:ext uri="{FF2B5EF4-FFF2-40B4-BE49-F238E27FC236}">
                <a16:creationId xmlns:a16="http://schemas.microsoft.com/office/drawing/2014/main" id="{678B2B24-1C0E-4C2D-8DB4-6C52EF2CCA64}"/>
              </a:ext>
            </a:extLst>
          </p:cNvPr>
          <p:cNvSpPr>
            <a:spLocks xmlns:a="http://schemas.openxmlformats.org/drawingml/2006/main" noGrp="1"/>
          </p:cNvSpPr>
          <p:nvPr/>
        </p:nvSpPr>
        <p:spPr>
          <a:xfrm xmlns:a="http://schemas.openxmlformats.org/drawingml/2006/main">
            <a:off x="3905250" y="61531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AAPL example / illustrative amounts</a:t>
            </a:r>
          </a:p>
        </p:txBody>
      </p:sp>
      <p:sp>
        <p:nvSpPr>
          <p:cNvPr id="5" name="2">
            <a:extLst xmlns:a="http://schemas.openxmlformats.org/drawingml/2006/main">
              <a:ext uri="{FF2B5EF4-FFF2-40B4-BE49-F238E27FC236}">
                <a16:creationId xmlns:a16="http://schemas.microsoft.com/office/drawing/2014/main" id="{ADFAB06D-A311-4B68-AD1C-F0E6C9343BF0}"/>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2</a:t>
            </a:r>
          </a:p>
        </p:txBody>
      </p:sp>
      <p:sp>
        <p:nvSpPr>
          <p:cNvPr id="6" name="1 AAPL">
            <a:extLst xmlns:a="http://schemas.openxmlformats.org/drawingml/2006/main">
              <a:ext uri="{FF2B5EF4-FFF2-40B4-BE49-F238E27FC236}">
                <a16:creationId xmlns:a16="http://schemas.microsoft.com/office/drawing/2014/main" id="{223F4603-BD41-449C-9C5A-484ED91DC21E}"/>
              </a:ext>
            </a:extLst>
          </p:cNvPr>
          <p:cNvSpPr>
            <a:spLocks xmlns:a="http://schemas.openxmlformats.org/drawingml/2006/main" noGrp="1"/>
          </p:cNvSpPr>
          <p:nvPr/>
        </p:nvSpPr>
        <p:spPr>
          <a:xfrm xmlns:a="http://schemas.openxmlformats.org/drawingml/2006/main">
            <a:off x="666750" y="1533525"/>
            <a:ext cx="342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525" b="1">
                <a:solidFill>
                  <a:srgbClr val="37D67A"/>
                </a:solidFill>
                <a:latin typeface="Arial"/>
                <a:ea typeface="Arial"/>
                <a:cs typeface="Arial"/>
              </a:defRPr>
            </a:pPr>
            <a:r>
              <a:rPr sz="3525" b="1">
                <a:solidFill>
                  <a:srgbClr val="37D67A"/>
                </a:solidFill>
                <a:latin typeface="Arial"/>
                <a:ea typeface="Arial"/>
                <a:cs typeface="Arial"/>
              </a:rPr>
              <a:t>1 AAPL</a:t>
            </a:r>
          </a:p>
        </p:txBody>
      </p:sp>
      <p:sp>
        <p:nvSpPr>
          <p:cNvPr id="7" name="Strike 400 USDG">
            <a:extLst xmlns:a="http://schemas.openxmlformats.org/drawingml/2006/main">
              <a:ext uri="{FF2B5EF4-FFF2-40B4-BE49-F238E27FC236}">
                <a16:creationId xmlns:a16="http://schemas.microsoft.com/office/drawing/2014/main" id="{4EB066B9-EE59-456B-8C0B-700F67B35446}"/>
              </a:ext>
            </a:extLst>
          </p:cNvPr>
          <p:cNvSpPr>
            <a:spLocks xmlns:a="http://schemas.openxmlformats.org/drawingml/2006/main" noGrp="1"/>
          </p:cNvSpPr>
          <p:nvPr/>
        </p:nvSpPr>
        <p:spPr>
          <a:xfrm xmlns:a="http://schemas.openxmlformats.org/drawingml/2006/main">
            <a:off x="4419600" y="1571625"/>
            <a:ext cx="6572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75" b="1">
                <a:solidFill>
                  <a:srgbClr val="FAFAFA"/>
                </a:solidFill>
                <a:latin typeface="Arial"/>
                <a:ea typeface="Arial"/>
                <a:cs typeface="Arial"/>
              </a:defRPr>
            </a:pPr>
            <a:r>
              <a:rPr sz="3075" b="1">
                <a:solidFill>
                  <a:srgbClr val="FAFAFA"/>
                </a:solidFill>
                <a:latin typeface="Arial"/>
                <a:ea typeface="Arial"/>
                <a:cs typeface="Arial"/>
              </a:rPr>
              <a:t>Strike 400 USDG</a:t>
            </a:r>
          </a:p>
        </p:txBody>
      </p:sp>
      <p:sp>
        <p:nvSpPr>
          <p:cNvPr id="8" name="Alice / writer">
            <a:extLst xmlns:a="http://schemas.openxmlformats.org/drawingml/2006/main">
              <a:ext uri="{FF2B5EF4-FFF2-40B4-BE49-F238E27FC236}">
                <a16:creationId xmlns:a16="http://schemas.microsoft.com/office/drawing/2014/main" id="{53E48711-8FB5-429A-9735-8A90DC96A112}"/>
              </a:ext>
            </a:extLst>
          </p:cNvPr>
          <p:cNvSpPr>
            <a:spLocks xmlns:a="http://schemas.openxmlformats.org/drawingml/2006/main" noGrp="1"/>
          </p:cNvSpPr>
          <p:nvPr/>
        </p:nvSpPr>
        <p:spPr>
          <a:xfrm xmlns:a="http://schemas.openxmlformats.org/drawingml/2006/main">
            <a:off x="666750" y="2809875"/>
            <a:ext cx="2838450" cy="828675"/>
          </a:xfrm>
          <a:prstGeom xmlns:a="http://schemas.openxmlformats.org/drawingml/2006/main" prst="rect">
            <a:avLst/>
          </a:prstGeom>
          <a:solidFill xmlns:a="http://schemas.openxmlformats.org/drawingml/2006/main">
            <a:srgbClr val="08080A"/>
          </a:solidFill>
          <a:ln xmlns:a="http://schemas.openxmlformats.org/drawingml/2006/main" w="14288">
            <a:solidFill>
              <a:srgbClr val="FAFAF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250" b="1">
                <a:solidFill>
                  <a:srgbClr val="FAFAFA"/>
                </a:solidFill>
                <a:latin typeface="Arial"/>
                <a:ea typeface="Arial"/>
                <a:cs typeface="Arial"/>
              </a:defRPr>
            </a:pPr>
            <a:r>
              <a:rPr sz="2250" b="1">
                <a:solidFill>
                  <a:srgbClr val="FAFAFA"/>
                </a:solidFill>
                <a:latin typeface="Arial"/>
                <a:ea typeface="Arial"/>
                <a:cs typeface="Arial"/>
              </a:rPr>
              <a:t>Alice / writer</a:t>
            </a:r>
          </a:p>
        </p:txBody>
      </p:sp>
      <p:sp>
        <p:nvSpPr>
          <p:cNvPr id="9" name="Bob / buyer">
            <a:extLst xmlns:a="http://schemas.openxmlformats.org/drawingml/2006/main">
              <a:ext uri="{FF2B5EF4-FFF2-40B4-BE49-F238E27FC236}">
                <a16:creationId xmlns:a16="http://schemas.microsoft.com/office/drawing/2014/main" id="{2604740D-D737-4DEF-B858-E9A5F39885A4}"/>
              </a:ext>
            </a:extLst>
          </p:cNvPr>
          <p:cNvSpPr>
            <a:spLocks xmlns:a="http://schemas.openxmlformats.org/drawingml/2006/main" noGrp="1"/>
          </p:cNvSpPr>
          <p:nvPr/>
        </p:nvSpPr>
        <p:spPr>
          <a:xfrm xmlns:a="http://schemas.openxmlformats.org/drawingml/2006/main">
            <a:off x="8382000" y="2809875"/>
            <a:ext cx="3143250" cy="828675"/>
          </a:xfrm>
          <a:prstGeom xmlns:a="http://schemas.openxmlformats.org/drawingml/2006/main" prst="rect">
            <a:avLst/>
          </a:prstGeom>
          <a:solidFill xmlns:a="http://schemas.openxmlformats.org/drawingml/2006/main">
            <a:srgbClr val="08080A"/>
          </a:solidFill>
          <a:ln xmlns:a="http://schemas.openxmlformats.org/drawingml/2006/main" w="14288">
            <a:solidFill>
              <a:srgbClr val="FF00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250" b="1">
                <a:solidFill>
                  <a:srgbClr val="FF007A"/>
                </a:solidFill>
                <a:latin typeface="Arial"/>
                <a:ea typeface="Arial"/>
                <a:cs typeface="Arial"/>
              </a:defRPr>
            </a:pPr>
            <a:r>
              <a:rPr sz="2250" b="1">
                <a:solidFill>
                  <a:srgbClr val="FF007A"/>
                </a:solidFill>
                <a:latin typeface="Arial"/>
                <a:ea typeface="Arial"/>
                <a:cs typeface="Arial"/>
              </a:rPr>
              <a:t>Bob / buyer</a:t>
            </a:r>
          </a:p>
        </p:txBody>
      </p:sp>
      <p:cxnSp>
        <p:nvCxnSpPr>
          <p:cNvPr id="26" name=""/>
          <p:cNvCxnSpPr>
            <a:stCxn xmlns:a="http://schemas.openxmlformats.org/drawingml/2006/main" id="9" idx="1"/>
            <a:endCxn xmlns:a="http://schemas.openxmlformats.org/drawingml/2006/main" id="8" idx="3"/>
          </p:cNvCxnSpPr>
          <p:nvPr/>
        </p:nvCxnSpPr>
        <p:spPr>
          <a:xfrm xmlns:a="http://schemas.openxmlformats.org/drawingml/2006/main" flipH="1">
            <a:off x="3505200" y="3224213"/>
            <a:ext cx="4876800" cy="0"/>
          </a:xfrm>
          <a:prstGeom xmlns:a="http://schemas.openxmlformats.org/drawingml/2006/main" prst="straightConnector1">
            <a:avLst/>
          </a:prstGeom>
          <a:ln xmlns:a="http://schemas.openxmlformats.org/drawingml/2006/main" w="22860">
            <a:solidFill>
              <a:srgbClr val="FF007A"/>
            </a:solidFill>
            <a:prstDash val="solid"/>
            <a:tailEnd type="triangle" w="med" len="med"/>
          </a:ln>
        </p:spPr>
      </p:cxnSp>
      <p:sp>
        <p:nvSpPr>
          <p:cNvPr id="11" name="5 USDG premium today">
            <a:extLst xmlns:a="http://schemas.openxmlformats.org/drawingml/2006/main">
              <a:ext uri="{FF2B5EF4-FFF2-40B4-BE49-F238E27FC236}">
                <a16:creationId xmlns:a16="http://schemas.microsoft.com/office/drawing/2014/main" id="{8B2D1BD1-E724-42EF-A64C-DDE55C02FE10}"/>
              </a:ext>
            </a:extLst>
          </p:cNvPr>
          <p:cNvSpPr>
            <a:spLocks xmlns:a="http://schemas.openxmlformats.org/drawingml/2006/main" noGrp="1"/>
          </p:cNvSpPr>
          <p:nvPr/>
        </p:nvSpPr>
        <p:spPr>
          <a:xfrm xmlns:a="http://schemas.openxmlformats.org/drawingml/2006/main">
            <a:off x="3924300" y="2590800"/>
            <a:ext cx="4095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FF007A"/>
                </a:solidFill>
                <a:latin typeface="Arial"/>
                <a:ea typeface="Arial"/>
                <a:cs typeface="Arial"/>
              </a:defRPr>
            </a:pPr>
            <a:r>
              <a:rPr sz="2100" b="0">
                <a:solidFill>
                  <a:srgbClr val="FF007A"/>
                </a:solidFill>
                <a:latin typeface="Arial"/>
                <a:ea typeface="Arial"/>
                <a:cs typeface="Arial"/>
              </a:rPr>
              <a:t>5 USDG premium today</a:t>
            </a:r>
          </a:p>
        </p:txBody>
      </p:sp>
      <p:sp>
        <p:nvSpPr>
          <p:cNvPr id="12" name="350">
            <a:extLst xmlns:a="http://schemas.openxmlformats.org/drawingml/2006/main">
              <a:ext uri="{FF2B5EF4-FFF2-40B4-BE49-F238E27FC236}">
                <a16:creationId xmlns:a16="http://schemas.microsoft.com/office/drawing/2014/main" id="{C6D47413-6AE2-43F4-BD80-B13FC2DB0722}"/>
              </a:ext>
            </a:extLst>
          </p:cNvPr>
          <p:cNvSpPr>
            <a:spLocks xmlns:a="http://schemas.openxmlformats.org/drawingml/2006/main" noGrp="1"/>
          </p:cNvSpPr>
          <p:nvPr/>
        </p:nvSpPr>
        <p:spPr>
          <a:xfrm xmlns:a="http://schemas.openxmlformats.org/drawingml/2006/main">
            <a:off x="676275" y="41719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525" b="1">
                <a:solidFill>
                  <a:srgbClr val="FAFAFA"/>
                </a:solidFill>
                <a:latin typeface="Arial"/>
                <a:ea typeface="Arial"/>
                <a:cs typeface="Arial"/>
              </a:defRPr>
            </a:pPr>
            <a:r>
              <a:rPr sz="3525" b="1">
                <a:solidFill>
                  <a:srgbClr val="FAFAFA"/>
                </a:solidFill>
                <a:latin typeface="Arial"/>
                <a:ea typeface="Arial"/>
                <a:cs typeface="Arial"/>
              </a:rPr>
              <a:t>350</a:t>
            </a:r>
          </a:p>
        </p:txBody>
      </p:sp>
      <p:sp>
        <p:nvSpPr>
          <p:cNvPr id="13" name="No exercise">
            <a:extLst xmlns:a="http://schemas.openxmlformats.org/drawingml/2006/main">
              <a:ext uri="{FF2B5EF4-FFF2-40B4-BE49-F238E27FC236}">
                <a16:creationId xmlns:a16="http://schemas.microsoft.com/office/drawing/2014/main" id="{EF9F30CD-6160-4487-9601-6F44825FC8FE}"/>
              </a:ext>
            </a:extLst>
          </p:cNvPr>
          <p:cNvSpPr>
            <a:spLocks xmlns:a="http://schemas.openxmlformats.org/drawingml/2006/main" noGrp="1"/>
          </p:cNvSpPr>
          <p:nvPr/>
        </p:nvSpPr>
        <p:spPr>
          <a:xfrm xmlns:a="http://schemas.openxmlformats.org/drawingml/2006/main">
            <a:off x="676275" y="4857750"/>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A8A8B2"/>
                </a:solidFill>
                <a:latin typeface="Arial"/>
                <a:ea typeface="Arial"/>
                <a:cs typeface="Arial"/>
              </a:defRPr>
            </a:pPr>
            <a:r>
              <a:rPr sz="2175" b="0">
                <a:solidFill>
                  <a:srgbClr val="A8A8B2"/>
                </a:solidFill>
                <a:latin typeface="Arial"/>
                <a:ea typeface="Arial"/>
                <a:cs typeface="Arial"/>
              </a:rPr>
              <a:t>No exercise</a:t>
            </a:r>
          </a:p>
        </p:txBody>
      </p:sp>
      <p:sp>
        <p:nvSpPr>
          <p:cNvPr id="14" name="450">
            <a:extLst xmlns:a="http://schemas.openxmlformats.org/drawingml/2006/main">
              <a:ext uri="{FF2B5EF4-FFF2-40B4-BE49-F238E27FC236}">
                <a16:creationId xmlns:a16="http://schemas.microsoft.com/office/drawing/2014/main" id="{888E71A9-455E-4F8C-A067-9871014F3831}"/>
              </a:ext>
            </a:extLst>
          </p:cNvPr>
          <p:cNvSpPr>
            <a:spLocks xmlns:a="http://schemas.openxmlformats.org/drawingml/2006/main" noGrp="1"/>
          </p:cNvSpPr>
          <p:nvPr/>
        </p:nvSpPr>
        <p:spPr>
          <a:xfrm xmlns:a="http://schemas.openxmlformats.org/drawingml/2006/main">
            <a:off x="6238875" y="417195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525" b="1">
                <a:solidFill>
                  <a:srgbClr val="37D67A"/>
                </a:solidFill>
                <a:latin typeface="Arial"/>
                <a:ea typeface="Arial"/>
                <a:cs typeface="Arial"/>
              </a:defRPr>
            </a:pPr>
            <a:r>
              <a:rPr sz="3525" b="1">
                <a:solidFill>
                  <a:srgbClr val="37D67A"/>
                </a:solidFill>
                <a:latin typeface="Arial"/>
                <a:ea typeface="Arial"/>
                <a:cs typeface="Arial"/>
              </a:rPr>
              <a:t>450</a:t>
            </a:r>
          </a:p>
        </p:txBody>
      </p:sp>
      <p:sp>
        <p:nvSpPr>
          <p:cNvPr id="15" name="400 USDG buys 1 AAPL">
            <a:extLst xmlns:a="http://schemas.openxmlformats.org/drawingml/2006/main">
              <a:ext uri="{FF2B5EF4-FFF2-40B4-BE49-F238E27FC236}">
                <a16:creationId xmlns:a16="http://schemas.microsoft.com/office/drawing/2014/main" id="{F30A7E05-D7D1-4145-A29F-1CE93817CFB2}"/>
              </a:ext>
            </a:extLst>
          </p:cNvPr>
          <p:cNvSpPr>
            <a:spLocks xmlns:a="http://schemas.openxmlformats.org/drawingml/2006/main" noGrp="1"/>
          </p:cNvSpPr>
          <p:nvPr/>
        </p:nvSpPr>
        <p:spPr>
          <a:xfrm xmlns:a="http://schemas.openxmlformats.org/drawingml/2006/main">
            <a:off x="6238875" y="4857750"/>
            <a:ext cx="53435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37D67A"/>
                </a:solidFill>
                <a:latin typeface="Arial"/>
                <a:ea typeface="Arial"/>
                <a:cs typeface="Arial"/>
              </a:defRPr>
            </a:pPr>
            <a:r>
              <a:rPr sz="2175" b="0">
                <a:solidFill>
                  <a:srgbClr val="37D67A"/>
                </a:solidFill>
                <a:latin typeface="Arial"/>
                <a:ea typeface="Arial"/>
                <a:cs typeface="Arial"/>
              </a:rPr>
              <a:t>400 USDG buys 1 AAPL</a:t>
            </a:r>
          </a:p>
        </p:txBody>
      </p:sp>
      <p:sp>
        <p:nvSpPr>
          <p:cNvPr id="16" name="Call writer reserves AAPL. Put writer reserves strike × quan">
            <a:extLst xmlns:a="http://schemas.openxmlformats.org/drawingml/2006/main">
              <a:ext uri="{FF2B5EF4-FFF2-40B4-BE49-F238E27FC236}">
                <a16:creationId xmlns:a16="http://schemas.microsoft.com/office/drawing/2014/main" id="{9D4FAF7B-0964-4EF4-9444-EA10EC9449DD}"/>
              </a:ext>
            </a:extLst>
          </p:cNvPr>
          <p:cNvSpPr>
            <a:spLocks xmlns:a="http://schemas.openxmlformats.org/drawingml/2006/main" noGrp="1"/>
          </p:cNvSpPr>
          <p:nvPr/>
        </p:nvSpPr>
        <p:spPr>
          <a:xfrm xmlns:a="http://schemas.openxmlformats.org/drawingml/2006/main">
            <a:off x="666750" y="57626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8A8B2"/>
                </a:solidFill>
                <a:latin typeface="Arial"/>
                <a:ea typeface="Arial"/>
                <a:cs typeface="Arial"/>
              </a:defRPr>
            </a:pPr>
            <a:r>
              <a:rPr sz="1725" b="0">
                <a:solidFill>
                  <a:srgbClr val="A8A8B2"/>
                </a:solidFill>
                <a:latin typeface="Arial"/>
                <a:ea typeface="Arial"/>
                <a:cs typeface="Arial"/>
              </a:rPr>
              <a:t>Call writer reserves AAPL. Put writer reserves strike × quantity in USDG.</a:t>
            </a:r>
          </a:p>
        </p:txBody>
      </p:sp>
    </p:spTree>
    <p:extLst>
      <p:ext uri="{BB962C8B-B14F-4D97-AF65-F5344CB8AC3E}">
        <p14:creationId xmlns:p14="http://schemas.microsoft.com/office/powerpoint/2010/main" val="337895430"/>
      </p:ext>
    </p:extLst>
  </p:cSld>
</p:sld>
</file>

<file path=ppt/slides/slide3.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7" name="Idle collateral and stale quotes">
            <a:extLst xmlns:a="http://schemas.openxmlformats.org/drawingml/2006/main">
              <a:ext uri="{FF2B5EF4-FFF2-40B4-BE49-F238E27FC236}">
                <a16:creationId xmlns:a16="http://schemas.microsoft.com/office/drawing/2014/main" id="{81436C24-7F7A-4507-BDCC-E4F32D8FCD42}"/>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Idle collateral and stale quotes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496b4996b084a0d"/>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2FC5EBDA-22A9-4BCC-A546-950D5B16CBC1}"/>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3">
            <a:extLst xmlns:a="http://schemas.openxmlformats.org/drawingml/2006/main">
              <a:ext uri="{FF2B5EF4-FFF2-40B4-BE49-F238E27FC236}">
                <a16:creationId xmlns:a16="http://schemas.microsoft.com/office/drawing/2014/main" id="{85AD8814-49C2-4D27-90B7-0277AEA45E65}"/>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3</a:t>
            </a:r>
          </a:p>
        </p:txBody>
      </p:sp>
      <p:sp>
        <p:nvSpPr>
          <p:cNvPr id="5" name="Collateral before a buyer">
            <a:extLst xmlns:a="http://schemas.openxmlformats.org/drawingml/2006/main">
              <a:ext uri="{FF2B5EF4-FFF2-40B4-BE49-F238E27FC236}">
                <a16:creationId xmlns:a16="http://schemas.microsoft.com/office/drawing/2014/main" id="{ED993D77-E049-446F-AD3A-C3CC07BA0C46}"/>
              </a:ext>
            </a:extLst>
          </p:cNvPr>
          <p:cNvSpPr>
            <a:spLocks xmlns:a="http://schemas.openxmlformats.org/drawingml/2006/main" noGrp="1"/>
          </p:cNvSpPr>
          <p:nvPr/>
        </p:nvSpPr>
        <p:spPr>
          <a:xfrm xmlns:a="http://schemas.openxmlformats.org/drawingml/2006/main">
            <a:off x="647700" y="1514475"/>
            <a:ext cx="538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Collateral before a buyer</a:t>
            </a:r>
          </a:p>
        </p:txBody>
      </p:sp>
      <p:sp>
        <p:nvSpPr>
          <p:cNvPr id="6" name="Pool moves, quote stays fixed">
            <a:extLst xmlns:a="http://schemas.openxmlformats.org/drawingml/2006/main">
              <a:ext uri="{FF2B5EF4-FFF2-40B4-BE49-F238E27FC236}">
                <a16:creationId xmlns:a16="http://schemas.microsoft.com/office/drawing/2014/main" id="{4EF3A0D2-AA92-4A76-8068-76EDA1F651C3}"/>
              </a:ext>
            </a:extLst>
          </p:cNvPr>
          <p:cNvSpPr>
            <a:spLocks xmlns:a="http://schemas.openxmlformats.org/drawingml/2006/main" noGrp="1"/>
          </p:cNvSpPr>
          <p:nvPr/>
        </p:nvSpPr>
        <p:spPr>
          <a:xfrm xmlns:a="http://schemas.openxmlformats.org/drawingml/2006/main">
            <a:off x="6657975" y="1514475"/>
            <a:ext cx="4905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Pool moves, quote stays fixed</a:t>
            </a:r>
          </a:p>
        </p:txBody>
      </p:sp>
      <p:graphicFrame>
        <p:nvGraphicFramePr>
          <p:cNvPr id="23" name="Chart"/>
          <p:cNvGraphicFramePr/>
          <p:nvPr/>
        </p:nvGraphicFramePr>
        <p:xfrm>
          <a:off xmlns:a="http://schemas.openxmlformats.org/drawingml/2006/main" x="657225" y="2219325"/>
          <a:ext xmlns:a="http://schemas.openxmlformats.org/drawingml/2006/main" cx="4962525" cy="2505075"/>
        </p:xfrm>
        <a:graphic xmlns:a="http://schemas.openxmlformats.org/drawingml/2006/main">
          <a:graphicData uri="http://schemas.openxmlformats.org/drawingml/2006/chart">
            <c:chart xmlns:r="http://schemas.openxmlformats.org/officeDocument/2006/relationships" xmlns:c="http://schemas.openxmlformats.org/drawingml/2006/chart" r:id="R1b2dbddcfa964eab"/>
          </a:graphicData>
        </a:graphic>
      </p:graphicFrame>
      <p:sp>
        <p:nvSpPr>
          <p:cNvPr id="8" name="━">
            <a:extLst xmlns:a="http://schemas.openxmlformats.org/drawingml/2006/main">
              <a:ext uri="{FF2B5EF4-FFF2-40B4-BE49-F238E27FC236}">
                <a16:creationId xmlns:a16="http://schemas.microsoft.com/office/drawing/2014/main" id="{DB890F1D-BB4B-4EDE-8149-BDFF519C64D8}"/>
              </a:ext>
            </a:extLst>
          </p:cNvPr>
          <p:cNvSpPr>
            <a:spLocks xmlns:a="http://schemas.openxmlformats.org/drawingml/2006/main" noGrp="1"/>
          </p:cNvSpPr>
          <p:nvPr/>
        </p:nvSpPr>
        <p:spPr>
          <a:xfrm xmlns:a="http://schemas.openxmlformats.org/drawingml/2006/main">
            <a:off x="762000" y="45529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37D67A"/>
                </a:solidFill>
                <a:latin typeface="Arial"/>
                <a:ea typeface="Arial"/>
                <a:cs typeface="Arial"/>
              </a:defRPr>
            </a:pPr>
            <a:r>
              <a:rPr sz="1875" b="1">
                <a:solidFill>
                  <a:srgbClr val="37D67A"/>
                </a:solidFill>
                <a:latin typeface="Arial"/>
                <a:ea typeface="Arial"/>
                <a:cs typeface="Arial"/>
              </a:rPr>
              <a:t>━</a:t>
            </a:r>
          </a:p>
        </p:txBody>
      </p:sp>
      <p:sp>
        <p:nvSpPr>
          <p:cNvPr id="9" name="Sold">
            <a:extLst xmlns:a="http://schemas.openxmlformats.org/drawingml/2006/main">
              <a:ext uri="{FF2B5EF4-FFF2-40B4-BE49-F238E27FC236}">
                <a16:creationId xmlns:a16="http://schemas.microsoft.com/office/drawing/2014/main" id="{7CF197B2-8B90-471B-AF2A-58C4F9DC9A9A}"/>
              </a:ext>
            </a:extLst>
          </p:cNvPr>
          <p:cNvSpPr>
            <a:spLocks xmlns:a="http://schemas.openxmlformats.org/drawingml/2006/main" noGrp="1"/>
          </p:cNvSpPr>
          <p:nvPr/>
        </p:nvSpPr>
        <p:spPr>
          <a:xfrm xmlns:a="http://schemas.openxmlformats.org/drawingml/2006/main">
            <a:off x="1162050" y="4552950"/>
            <a:ext cx="1924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Sold</a:t>
            </a:r>
          </a:p>
        </p:txBody>
      </p:sp>
      <p:sp>
        <p:nvSpPr>
          <p:cNvPr id="10" name="━">
            <a:extLst xmlns:a="http://schemas.openxmlformats.org/drawingml/2006/main">
              <a:ext uri="{FF2B5EF4-FFF2-40B4-BE49-F238E27FC236}">
                <a16:creationId xmlns:a16="http://schemas.microsoft.com/office/drawing/2014/main" id="{44A17C3B-AF29-4887-BB21-63A11272C4B6}"/>
              </a:ext>
            </a:extLst>
          </p:cNvPr>
          <p:cNvSpPr>
            <a:spLocks xmlns:a="http://schemas.openxmlformats.org/drawingml/2006/main" noGrp="1"/>
          </p:cNvSpPr>
          <p:nvPr/>
        </p:nvSpPr>
        <p:spPr>
          <a:xfrm xmlns:a="http://schemas.openxmlformats.org/drawingml/2006/main">
            <a:off x="3143250" y="45529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007A"/>
                </a:solidFill>
                <a:latin typeface="Arial"/>
                <a:ea typeface="Arial"/>
                <a:cs typeface="Arial"/>
              </a:defRPr>
            </a:pPr>
            <a:r>
              <a:rPr sz="1875" b="1">
                <a:solidFill>
                  <a:srgbClr val="FF007A"/>
                </a:solidFill>
                <a:latin typeface="Arial"/>
                <a:ea typeface="Arial"/>
                <a:cs typeface="Arial"/>
              </a:rPr>
              <a:t>━</a:t>
            </a:r>
          </a:p>
        </p:txBody>
      </p:sp>
      <p:sp>
        <p:nvSpPr>
          <p:cNvPr id="11" name="Unsold">
            <a:extLst xmlns:a="http://schemas.openxmlformats.org/drawingml/2006/main">
              <a:ext uri="{FF2B5EF4-FFF2-40B4-BE49-F238E27FC236}">
                <a16:creationId xmlns:a16="http://schemas.microsoft.com/office/drawing/2014/main" id="{73277FB7-F399-4DF8-B561-B88629832F69}"/>
              </a:ext>
            </a:extLst>
          </p:cNvPr>
          <p:cNvSpPr>
            <a:spLocks xmlns:a="http://schemas.openxmlformats.org/drawingml/2006/main" noGrp="1"/>
          </p:cNvSpPr>
          <p:nvPr/>
        </p:nvSpPr>
        <p:spPr>
          <a:xfrm xmlns:a="http://schemas.openxmlformats.org/drawingml/2006/main">
            <a:off x="3543300" y="4552950"/>
            <a:ext cx="1924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Unsold</a:t>
            </a:r>
          </a:p>
        </p:txBody>
      </p:sp>
      <p:graphicFrame>
        <p:nvGraphicFramePr>
          <p:cNvPr id="28" name="Chart"/>
          <p:cNvGraphicFramePr/>
          <p:nvPr/>
        </p:nvGraphicFramePr>
        <p:xfrm>
          <a:off xmlns:a="http://schemas.openxmlformats.org/drawingml/2006/main" x="6477000" y="2238375"/>
          <a:ext xmlns:a="http://schemas.openxmlformats.org/drawingml/2006/main" cx="4972050" cy="2505075"/>
        </p:xfrm>
        <a:graphic xmlns:a="http://schemas.openxmlformats.org/drawingml/2006/main">
          <a:graphicData uri="http://schemas.openxmlformats.org/drawingml/2006/chart">
            <c:chart xmlns:r="http://schemas.openxmlformats.org/officeDocument/2006/relationships" xmlns:c="http://schemas.openxmlformats.org/drawingml/2006/chart" r:id="Rb309ce8f39714406"/>
          </a:graphicData>
        </a:graphic>
      </p:graphicFrame>
      <p:sp>
        <p:nvSpPr>
          <p:cNvPr id="13" name="Illustrative deposit-first model">
            <a:extLst xmlns:a="http://schemas.openxmlformats.org/drawingml/2006/main">
              <a:ext uri="{FF2B5EF4-FFF2-40B4-BE49-F238E27FC236}">
                <a16:creationId xmlns:a16="http://schemas.microsoft.com/office/drawing/2014/main" id="{A50355FD-57A3-4620-AE85-5F99FF8DAD86}"/>
              </a:ext>
            </a:extLst>
          </p:cNvPr>
          <p:cNvSpPr>
            <a:spLocks xmlns:a="http://schemas.openxmlformats.org/drawingml/2006/main" noGrp="1"/>
          </p:cNvSpPr>
          <p:nvPr/>
        </p:nvSpPr>
        <p:spPr>
          <a:xfrm xmlns:a="http://schemas.openxmlformats.org/drawingml/2006/main">
            <a:off x="676275" y="518160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8A8B2"/>
                </a:solidFill>
                <a:latin typeface="Arial"/>
                <a:ea typeface="Arial"/>
                <a:cs typeface="Arial"/>
              </a:defRPr>
            </a:pPr>
            <a:r>
              <a:rPr sz="1800" b="0">
                <a:solidFill>
                  <a:srgbClr val="A8A8B2"/>
                </a:solidFill>
                <a:latin typeface="Arial"/>
                <a:ea typeface="Arial"/>
                <a:cs typeface="Arial"/>
              </a:rPr>
              <a:t>Illustrative deposit-first model</a:t>
            </a:r>
          </a:p>
        </p:txBody>
      </p:sp>
      <p:sp>
        <p:nvSpPr>
          <p:cNvPr id="14" name="Schematic price path">
            <a:extLst xmlns:a="http://schemas.openxmlformats.org/drawingml/2006/main">
              <a:ext uri="{FF2B5EF4-FFF2-40B4-BE49-F238E27FC236}">
                <a16:creationId xmlns:a16="http://schemas.microsoft.com/office/drawing/2014/main" id="{7E6F0B64-D0A9-4D35-8EE8-CA1A409366A4}"/>
              </a:ext>
            </a:extLst>
          </p:cNvPr>
          <p:cNvSpPr>
            <a:spLocks xmlns:a="http://schemas.openxmlformats.org/drawingml/2006/main" noGrp="1"/>
          </p:cNvSpPr>
          <p:nvPr/>
        </p:nvSpPr>
        <p:spPr>
          <a:xfrm xmlns:a="http://schemas.openxmlformats.org/drawingml/2006/main">
            <a:off x="6791325" y="518160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8A8B2"/>
                </a:solidFill>
                <a:latin typeface="Arial"/>
                <a:ea typeface="Arial"/>
                <a:cs typeface="Arial"/>
              </a:defRPr>
            </a:pPr>
            <a:r>
              <a:rPr sz="1800" b="0">
                <a:solidFill>
                  <a:srgbClr val="A8A8B2"/>
                </a:solidFill>
                <a:latin typeface="Arial"/>
                <a:ea typeface="Arial"/>
                <a:cs typeface="Arial"/>
              </a:rPr>
              <a:t>Schematic price path</a:t>
            </a:r>
          </a:p>
        </p:txBody>
      </p:sp>
      <p:sp>
        <p:nvSpPr>
          <p:cNvPr id="15" name="Aqua: transfer at fill">
            <a:extLst xmlns:a="http://schemas.openxmlformats.org/drawingml/2006/main">
              <a:ext uri="{FF2B5EF4-FFF2-40B4-BE49-F238E27FC236}">
                <a16:creationId xmlns:a16="http://schemas.microsoft.com/office/drawing/2014/main" id="{7FA5240E-3036-47E2-8D60-C39A7B6CC18D}"/>
              </a:ext>
            </a:extLst>
          </p:cNvPr>
          <p:cNvSpPr>
            <a:spLocks xmlns:a="http://schemas.openxmlformats.org/drawingml/2006/main" noGrp="1"/>
          </p:cNvSpPr>
          <p:nvPr/>
        </p:nvSpPr>
        <p:spPr>
          <a:xfrm xmlns:a="http://schemas.openxmlformats.org/drawingml/2006/main">
            <a:off x="666750" y="5743575"/>
            <a:ext cx="5343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37D67A"/>
                </a:solidFill>
                <a:latin typeface="Arial"/>
                <a:ea typeface="Arial"/>
                <a:cs typeface="Arial"/>
              </a:defRPr>
            </a:pPr>
            <a:r>
              <a:rPr sz="2100" b="1">
                <a:solidFill>
                  <a:srgbClr val="37D67A"/>
                </a:solidFill>
                <a:latin typeface="Arial"/>
                <a:ea typeface="Arial"/>
                <a:cs typeface="Arial"/>
              </a:rPr>
              <a:t>Aqua: transfer at fill</a:t>
            </a:r>
          </a:p>
        </p:txBody>
      </p:sp>
      <p:sp>
        <p:nvSpPr>
          <p:cNvPr id="16" name="Band: recheck each quote">
            <a:extLst xmlns:a="http://schemas.openxmlformats.org/drawingml/2006/main">
              <a:ext uri="{FF2B5EF4-FFF2-40B4-BE49-F238E27FC236}">
                <a16:creationId xmlns:a16="http://schemas.microsoft.com/office/drawing/2014/main" id="{FEBE98DB-7D47-4720-AB8B-AF7ABCA0DC91}"/>
              </a:ext>
            </a:extLst>
          </p:cNvPr>
          <p:cNvSpPr>
            <a:spLocks xmlns:a="http://schemas.openxmlformats.org/drawingml/2006/main" noGrp="1"/>
          </p:cNvSpPr>
          <p:nvPr/>
        </p:nvSpPr>
        <p:spPr>
          <a:xfrm xmlns:a="http://schemas.openxmlformats.org/drawingml/2006/main">
            <a:off x="6657975" y="5743575"/>
            <a:ext cx="48672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37D67A"/>
                </a:solidFill>
                <a:latin typeface="Arial"/>
                <a:ea typeface="Arial"/>
                <a:cs typeface="Arial"/>
              </a:defRPr>
            </a:pPr>
            <a:r>
              <a:rPr sz="2100" b="1">
                <a:solidFill>
                  <a:srgbClr val="37D67A"/>
                </a:solidFill>
                <a:latin typeface="Arial"/>
                <a:ea typeface="Arial"/>
                <a:cs typeface="Arial"/>
              </a:rPr>
              <a:t>Band: recheck each quote</a:t>
            </a:r>
          </a:p>
        </p:txBody>
      </p:sp>
    </p:spTree>
    <p:extLst>
      <p:ext uri="{BB962C8B-B14F-4D97-AF65-F5344CB8AC3E}">
        <p14:creationId xmlns:p14="http://schemas.microsoft.com/office/powerpoint/2010/main" val="125558721"/>
      </p:ext>
    </p:extLst>
  </p:cSld>
</p:sld>
</file>

<file path=ppt/slides/slide4.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22" name="The public integration">
            <a:extLst xmlns:a="http://schemas.openxmlformats.org/drawingml/2006/main">
              <a:ext uri="{FF2B5EF4-FFF2-40B4-BE49-F238E27FC236}">
                <a16:creationId xmlns:a16="http://schemas.microsoft.com/office/drawing/2014/main" id="{4A62D34E-ED2D-4678-9433-3DEADCA815B8}"/>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The public integration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8abcd4631624975"/>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C8C860C5-5F10-4C2A-ADCB-5AA932D71A12}"/>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4">
            <a:extLst xmlns:a="http://schemas.openxmlformats.org/drawingml/2006/main">
              <a:ext uri="{FF2B5EF4-FFF2-40B4-BE49-F238E27FC236}">
                <a16:creationId xmlns:a16="http://schemas.microsoft.com/office/drawing/2014/main" id="{606DA53A-DF00-44BE-896C-61B090219A1D}"/>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4</a:t>
            </a:r>
          </a:p>
        </p:txBody>
      </p:sp>
      <p:sp>
        <p:nvSpPr>
          <p:cNvPr id="5" name="Maker wallet">
            <a:extLst xmlns:a="http://schemas.openxmlformats.org/drawingml/2006/main">
              <a:ext uri="{FF2B5EF4-FFF2-40B4-BE49-F238E27FC236}">
                <a16:creationId xmlns:a16="http://schemas.microsoft.com/office/drawing/2014/main" id="{F9227302-33EE-49E1-AE45-35E468406647}"/>
              </a:ext>
            </a:extLst>
          </p:cNvPr>
          <p:cNvSpPr>
            <a:spLocks xmlns:a="http://schemas.openxmlformats.org/drawingml/2006/main" noGrp="1"/>
          </p:cNvSpPr>
          <p:nvPr/>
        </p:nvSpPr>
        <p:spPr>
          <a:xfrm xmlns:a="http://schemas.openxmlformats.org/drawingml/2006/main">
            <a:off x="609600" y="2781300"/>
            <a:ext cx="2381250" cy="1257300"/>
          </a:xfrm>
          <a:prstGeom xmlns:a="http://schemas.openxmlformats.org/drawingml/2006/main" prst="rect">
            <a:avLst/>
          </a:prstGeom>
          <a:solidFill xmlns:a="http://schemas.openxmlformats.org/drawingml/2006/main">
            <a:srgbClr val="08080A"/>
          </a:solidFill>
          <a:ln xmlns:a="http://schemas.openxmlformats.org/drawingml/2006/main" w="14288">
            <a:solidFill>
              <a:srgbClr val="FAFAF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325" b="1">
                <a:solidFill>
                  <a:srgbClr val="FAFAFA"/>
                </a:solidFill>
                <a:latin typeface="Arial"/>
                <a:ea typeface="Arial"/>
                <a:cs typeface="Arial"/>
              </a:defRPr>
            </a:pPr>
            <a:r>
              <a:rPr sz="2325" b="1">
                <a:solidFill>
                  <a:srgbClr val="FAFAFA"/>
                </a:solidFill>
                <a:latin typeface="Arial"/>
                <a:ea typeface="Arial"/>
                <a:cs typeface="Arial"/>
              </a:rPr>
              <a:t>Maker wallet</a:t>
            </a:r>
          </a:p>
        </p:txBody>
      </p:sp>
      <p:sp>
        <p:nvSpPr>
          <p:cNvPr id="6" name="Aqua">
            <a:extLst xmlns:a="http://schemas.openxmlformats.org/drawingml/2006/main">
              <a:ext uri="{FF2B5EF4-FFF2-40B4-BE49-F238E27FC236}">
                <a16:creationId xmlns:a16="http://schemas.microsoft.com/office/drawing/2014/main" id="{3088AB5B-A876-4AF4-AAAD-3730DF7333D7}"/>
              </a:ext>
            </a:extLst>
          </p:cNvPr>
          <p:cNvSpPr>
            <a:spLocks xmlns:a="http://schemas.openxmlformats.org/drawingml/2006/main" noGrp="1"/>
          </p:cNvSpPr>
          <p:nvPr/>
        </p:nvSpPr>
        <p:spPr>
          <a:xfrm xmlns:a="http://schemas.openxmlformats.org/drawingml/2006/main">
            <a:off x="4143375" y="2933700"/>
            <a:ext cx="1885950" cy="95250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550" b="1">
                <a:solidFill>
                  <a:srgbClr val="37D67A"/>
                </a:solidFill>
                <a:latin typeface="Arial"/>
                <a:ea typeface="Arial"/>
                <a:cs typeface="Arial"/>
              </a:defRPr>
            </a:pPr>
            <a:r>
              <a:rPr sz="2550" b="1">
                <a:solidFill>
                  <a:srgbClr val="37D67A"/>
                </a:solidFill>
                <a:latin typeface="Arial"/>
                <a:ea typeface="Arial"/>
                <a:cs typeface="Arial"/>
              </a:rPr>
              <a:t>Aqua</a:t>
            </a:r>
          </a:p>
        </p:txBody>
      </p:sp>
      <p:sp>
        <p:nvSpPr>
          <p:cNvPr id="7" name="Writer">
            <a:extLst xmlns:a="http://schemas.openxmlformats.org/drawingml/2006/main">
              <a:ext uri="{FF2B5EF4-FFF2-40B4-BE49-F238E27FC236}">
                <a16:creationId xmlns:a16="http://schemas.microsoft.com/office/drawing/2014/main" id="{4714FEC9-853D-47D4-AD5C-5BDDF609985C}"/>
              </a:ext>
            </a:extLst>
          </p:cNvPr>
          <p:cNvSpPr>
            <a:spLocks xmlns:a="http://schemas.openxmlformats.org/drawingml/2006/main" noGrp="1"/>
          </p:cNvSpPr>
          <p:nvPr/>
        </p:nvSpPr>
        <p:spPr>
          <a:xfrm xmlns:a="http://schemas.openxmlformats.org/drawingml/2006/main">
            <a:off x="7239000" y="2324100"/>
            <a:ext cx="1762125" cy="78105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100" b="1">
                <a:solidFill>
                  <a:srgbClr val="37D67A"/>
                </a:solidFill>
                <a:latin typeface="Arial"/>
                <a:ea typeface="Arial"/>
                <a:cs typeface="Arial"/>
              </a:defRPr>
            </a:pPr>
            <a:r>
              <a:rPr sz="2100" b="1">
                <a:solidFill>
                  <a:srgbClr val="37D67A"/>
                </a:solidFill>
                <a:latin typeface="Arial"/>
                <a:ea typeface="Arial"/>
                <a:cs typeface="Arial"/>
              </a:rPr>
              <a:t>Writer</a:t>
            </a:r>
          </a:p>
        </p:txBody>
      </p:sp>
      <p:sp>
        <p:nvSpPr>
          <p:cNvPr id="8" name="Book">
            <a:extLst xmlns:a="http://schemas.openxmlformats.org/drawingml/2006/main">
              <a:ext uri="{FF2B5EF4-FFF2-40B4-BE49-F238E27FC236}">
                <a16:creationId xmlns:a16="http://schemas.microsoft.com/office/drawing/2014/main" id="{0038941D-6A8D-46A3-9FB3-9E0E79ED88F3}"/>
              </a:ext>
            </a:extLst>
          </p:cNvPr>
          <p:cNvSpPr>
            <a:spLocks xmlns:a="http://schemas.openxmlformats.org/drawingml/2006/main" noGrp="1"/>
          </p:cNvSpPr>
          <p:nvPr/>
        </p:nvSpPr>
        <p:spPr>
          <a:xfrm xmlns:a="http://schemas.openxmlformats.org/drawingml/2006/main">
            <a:off x="9906000" y="2324100"/>
            <a:ext cx="1714500" cy="78105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250" b="1">
                <a:solidFill>
                  <a:srgbClr val="37D67A"/>
                </a:solidFill>
                <a:latin typeface="Arial"/>
                <a:ea typeface="Arial"/>
                <a:cs typeface="Arial"/>
              </a:defRPr>
            </a:pPr>
            <a:r>
              <a:rPr sz="2250" b="1">
                <a:solidFill>
                  <a:srgbClr val="37D67A"/>
                </a:solidFill>
                <a:latin typeface="Arial"/>
                <a:ea typeface="Arial"/>
                <a:cs typeface="Arial"/>
              </a:rPr>
              <a:t>Book</a:t>
            </a:r>
          </a:p>
        </p:txBody>
      </p:sp>
      <p:sp>
        <p:nvSpPr>
          <p:cNvPr id="9" name="SwapVM">
            <a:extLst xmlns:a="http://schemas.openxmlformats.org/drawingml/2006/main">
              <a:ext uri="{FF2B5EF4-FFF2-40B4-BE49-F238E27FC236}">
                <a16:creationId xmlns:a16="http://schemas.microsoft.com/office/drawing/2014/main" id="{B05C3D24-9BF3-4B53-934C-B6DC5D8A75F1}"/>
              </a:ext>
            </a:extLst>
          </p:cNvPr>
          <p:cNvSpPr>
            <a:spLocks xmlns:a="http://schemas.openxmlformats.org/drawingml/2006/main" noGrp="1"/>
          </p:cNvSpPr>
          <p:nvPr/>
        </p:nvSpPr>
        <p:spPr>
          <a:xfrm xmlns:a="http://schemas.openxmlformats.org/drawingml/2006/main">
            <a:off x="7239000" y="4476750"/>
            <a:ext cx="1762125" cy="781050"/>
          </a:xfrm>
          <a:prstGeom xmlns:a="http://schemas.openxmlformats.org/drawingml/2006/main" prst="rect">
            <a:avLst/>
          </a:prstGeom>
          <a:solidFill xmlns:a="http://schemas.openxmlformats.org/drawingml/2006/main">
            <a:srgbClr val="08080A"/>
          </a:solidFill>
          <a:ln xmlns:a="http://schemas.openxmlformats.org/drawingml/2006/main" w="14288">
            <a:solidFill>
              <a:srgbClr val="FAFAF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100" b="1">
                <a:solidFill>
                  <a:srgbClr val="FAFAFA"/>
                </a:solidFill>
                <a:latin typeface="Arial"/>
                <a:ea typeface="Arial"/>
                <a:cs typeface="Arial"/>
              </a:defRPr>
            </a:pPr>
            <a:r>
              <a:rPr sz="2100" b="1">
                <a:solidFill>
                  <a:srgbClr val="FAFAFA"/>
                </a:solidFill>
                <a:latin typeface="Arial"/>
                <a:ea typeface="Arial"/>
                <a:cs typeface="Arial"/>
              </a:rPr>
              <a:t>SwapVM</a:t>
            </a:r>
          </a:p>
        </p:txBody>
      </p:sp>
      <p:sp>
        <p:nvSpPr>
          <p:cNvPr id="10" name="Guard">
            <a:extLst xmlns:a="http://schemas.openxmlformats.org/drawingml/2006/main">
              <a:ext uri="{FF2B5EF4-FFF2-40B4-BE49-F238E27FC236}">
                <a16:creationId xmlns:a16="http://schemas.microsoft.com/office/drawing/2014/main" id="{DCF2AB1A-2073-4D78-9F4A-B9D686C7FEE2}"/>
              </a:ext>
            </a:extLst>
          </p:cNvPr>
          <p:cNvSpPr>
            <a:spLocks xmlns:a="http://schemas.openxmlformats.org/drawingml/2006/main" noGrp="1"/>
          </p:cNvSpPr>
          <p:nvPr/>
        </p:nvSpPr>
        <p:spPr>
          <a:xfrm xmlns:a="http://schemas.openxmlformats.org/drawingml/2006/main">
            <a:off x="9906000" y="4476750"/>
            <a:ext cx="1714500" cy="78105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250" b="1">
                <a:solidFill>
                  <a:srgbClr val="37D67A"/>
                </a:solidFill>
                <a:latin typeface="Arial"/>
                <a:ea typeface="Arial"/>
                <a:cs typeface="Arial"/>
              </a:defRPr>
            </a:pPr>
            <a:r>
              <a:rPr sz="2250" b="1">
                <a:solidFill>
                  <a:srgbClr val="37D67A"/>
                </a:solidFill>
                <a:latin typeface="Arial"/>
                <a:ea typeface="Arial"/>
                <a:cs typeface="Arial"/>
              </a:rPr>
              <a:t>Guard</a:t>
            </a:r>
          </a:p>
        </p:txBody>
      </p:sp>
      <p:sp>
        <p:nvSpPr>
          <p:cNvPr id="11" name="v4 hook&#10;+ band">
            <a:extLst xmlns:a="http://schemas.openxmlformats.org/drawingml/2006/main">
              <a:ext uri="{FF2B5EF4-FFF2-40B4-BE49-F238E27FC236}">
                <a16:creationId xmlns:a16="http://schemas.microsoft.com/office/drawing/2014/main" id="{B10999F2-8EDC-4428-9C3A-5FECC52AEB0E}"/>
              </a:ext>
            </a:extLst>
          </p:cNvPr>
          <p:cNvSpPr>
            <a:spLocks xmlns:a="http://schemas.openxmlformats.org/drawingml/2006/main" noGrp="1"/>
          </p:cNvSpPr>
          <p:nvPr/>
        </p:nvSpPr>
        <p:spPr>
          <a:xfrm xmlns:a="http://schemas.openxmlformats.org/drawingml/2006/main">
            <a:off x="9906000" y="1304925"/>
            <a:ext cx="1714500" cy="781050"/>
          </a:xfrm>
          <a:prstGeom xmlns:a="http://schemas.openxmlformats.org/drawingml/2006/main" prst="rect">
            <a:avLst/>
          </a:prstGeom>
          <a:solidFill xmlns:a="http://schemas.openxmlformats.org/drawingml/2006/main">
            <a:srgbClr val="08080A"/>
          </a:solidFill>
          <a:ln xmlns:a="http://schemas.openxmlformats.org/drawingml/2006/main" w="14288">
            <a:solidFill>
              <a:srgbClr val="FF00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1875" b="1">
                <a:solidFill>
                  <a:srgbClr val="FF007A"/>
                </a:solidFill>
                <a:latin typeface="Arial"/>
                <a:ea typeface="Arial"/>
                <a:cs typeface="Arial"/>
              </a:defRPr>
            </a:pPr>
            <a:r>
              <a:rPr sz="1875" b="1">
                <a:solidFill>
                  <a:srgbClr val="FF007A"/>
                </a:solidFill>
                <a:latin typeface="Arial"/>
                <a:ea typeface="Arial"/>
                <a:cs typeface="Arial"/>
              </a:rPr>
              <a:t>v4 hook</a:t>
            </a:r>
          </a:p>
          <a:p xmlns:a="http://schemas.openxmlformats.org/drawingml/2006/main">
            <a:pPr algn="ctr">
              <a:defRPr sz="1875" b="1">
                <a:solidFill>
                  <a:srgbClr val="FF007A"/>
                </a:solidFill>
                <a:latin typeface="Arial"/>
                <a:ea typeface="Arial"/>
                <a:cs typeface="Arial"/>
              </a:defRPr>
            </a:pPr>
            <a:r>
              <a:rPr sz="1875" b="1">
                <a:solidFill>
                  <a:srgbClr val="FF007A"/>
                </a:solidFill>
                <a:latin typeface="Arial"/>
                <a:ea typeface="Arial"/>
                <a:cs typeface="Arial"/>
              </a:rPr>
              <a:t>+ band</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2990850" y="3409950"/>
            <a:ext cx="1152525" cy="0"/>
          </a:xfrm>
          <a:prstGeom xmlns:a="http://schemas.openxmlformats.org/drawingml/2006/main" prst="straightConnector1">
            <a:avLst/>
          </a:prstGeom>
          <a:ln xmlns:a="http://schemas.openxmlformats.org/drawingml/2006/main" w="22860">
            <a:solidFill>
              <a:srgbClr val="37D67A"/>
            </a:solidFill>
            <a:prstDash val="solid"/>
            <a:tailEnd type="triangle" w="med" len="med"/>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flipV="1">
            <a:off x="6029325" y="2714625"/>
            <a:ext cx="1209675" cy="695325"/>
          </a:xfrm>
          <a:prstGeom xmlns:a="http://schemas.openxmlformats.org/drawingml/2006/main" prst="bentConnector3">
            <a:avLst>
              <a:gd name="adj1" fmla="val 50000"/>
            </a:avLst>
          </a:prstGeom>
          <a:ln xmlns:a="http://schemas.openxmlformats.org/drawingml/2006/main" w="22860">
            <a:solidFill>
              <a:srgbClr val="37D67A"/>
            </a:solidFill>
            <a:prstDash val="solid"/>
            <a:tailEnd type="triangle" w="med" len="med"/>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9001125" y="2714625"/>
            <a:ext cx="904875" cy="0"/>
          </a:xfrm>
          <a:prstGeom xmlns:a="http://schemas.openxmlformats.org/drawingml/2006/main" prst="straightConnector1">
            <a:avLst/>
          </a:prstGeom>
          <a:ln xmlns:a="http://schemas.openxmlformats.org/drawingml/2006/main" w="22860">
            <a:solidFill>
              <a:srgbClr val="37D67A"/>
            </a:solidFill>
            <a:prstDash val="solid"/>
            <a:tailEnd type="triangle" w="med" len="med"/>
          </a:ln>
        </p:spPr>
      </p:cxnSp>
      <p:cxnSp>
        <p:nvCxnSpPr>
          <p:cNvPr id="36" name=""/>
          <p:cNvCxnSpPr>
            <a:stCxn xmlns:a="http://schemas.openxmlformats.org/drawingml/2006/main" id="6" idx="2"/>
            <a:endCxn xmlns:a="http://schemas.openxmlformats.org/drawingml/2006/main" id="9" idx="1"/>
          </p:cNvCxnSpPr>
          <p:nvPr/>
        </p:nvCxnSpPr>
        <p:spPr>
          <a:xfrm xmlns:a="http://schemas.openxmlformats.org/drawingml/2006/main">
            <a:off x="5086350" y="3886200"/>
            <a:ext cx="2152650" cy="981075"/>
          </a:xfrm>
          <a:prstGeom xmlns:a="http://schemas.openxmlformats.org/drawingml/2006/main" prst="bentConnector5">
            <a:avLst>
              <a:gd name="adj1" fmla="val 0"/>
              <a:gd name="adj2" fmla="val 23301"/>
              <a:gd name="adj3" fmla="val 89381"/>
            </a:avLst>
          </a:prstGeom>
          <a:ln xmlns:a="http://schemas.openxmlformats.org/drawingml/2006/main" w="22860">
            <a:solidFill>
              <a:srgbClr val="37D67A"/>
            </a:solidFill>
            <a:prstDash val="solid"/>
            <a:tailEnd type="triangle" w="med" len="med"/>
          </a:ln>
        </p:spPr>
      </p:cxnSp>
      <p:cxnSp>
        <p:nvCxnSpPr>
          <p:cNvPr id="37" name=""/>
          <p:cNvCxnSpPr>
            <a:stCxn xmlns:a="http://schemas.openxmlformats.org/drawingml/2006/main" id="9" idx="3"/>
            <a:endCxn xmlns:a="http://schemas.openxmlformats.org/drawingml/2006/main" id="10" idx="1"/>
          </p:cNvCxnSpPr>
          <p:nvPr/>
        </p:nvCxnSpPr>
        <p:spPr>
          <a:xfrm xmlns:a="http://schemas.openxmlformats.org/drawingml/2006/main">
            <a:off x="9001125" y="4867275"/>
            <a:ext cx="904875" cy="0"/>
          </a:xfrm>
          <a:prstGeom xmlns:a="http://schemas.openxmlformats.org/drawingml/2006/main" prst="straightConnector1">
            <a:avLst/>
          </a:prstGeom>
          <a:ln xmlns:a="http://schemas.openxmlformats.org/drawingml/2006/main" w="22860">
            <a:solidFill>
              <a:srgbClr val="37D67A"/>
            </a:solidFill>
            <a:prstDash val="solid"/>
            <a:tailEnd type="triangle" w="med" len="med"/>
          </a:ln>
        </p:spPr>
      </p:cxnSp>
      <p:cxnSp>
        <p:nvCxnSpPr>
          <p:cNvPr id="38" name=""/>
          <p:cNvCxnSpPr>
            <a:stCxn xmlns:a="http://schemas.openxmlformats.org/drawingml/2006/main" id="11" idx="2"/>
            <a:endCxn xmlns:a="http://schemas.openxmlformats.org/drawingml/2006/main" id="8" idx="0"/>
          </p:cNvCxnSpPr>
          <p:nvPr/>
        </p:nvCxnSpPr>
        <p:spPr>
          <a:xfrm xmlns:a="http://schemas.openxmlformats.org/drawingml/2006/main">
            <a:off x="10763250" y="2085975"/>
            <a:ext cx="0" cy="238125"/>
          </a:xfrm>
          <a:prstGeom xmlns:a="http://schemas.openxmlformats.org/drawingml/2006/main" prst="straightConnector1">
            <a:avLst/>
          </a:prstGeom>
          <a:ln xmlns:a="http://schemas.openxmlformats.org/drawingml/2006/main" w="22860">
            <a:solidFill>
              <a:srgbClr val="FF007A"/>
            </a:solidFill>
            <a:prstDash val="solid"/>
            <a:tailEnd type="triangle" w="med" len="med"/>
          </a:ln>
        </p:spPr>
      </p:cxnSp>
      <p:sp>
        <p:nvSpPr>
          <p:cNvPr id="18" name="Asset access">
            <a:extLst xmlns:a="http://schemas.openxmlformats.org/drawingml/2006/main">
              <a:ext uri="{FF2B5EF4-FFF2-40B4-BE49-F238E27FC236}">
                <a16:creationId xmlns:a16="http://schemas.microsoft.com/office/drawing/2014/main" id="{E13C2319-80DF-4FFE-A143-5E894D8B73B8}"/>
              </a:ext>
            </a:extLst>
          </p:cNvPr>
          <p:cNvSpPr>
            <a:spLocks xmlns:a="http://schemas.openxmlformats.org/drawingml/2006/main" noGrp="1"/>
          </p:cNvSpPr>
          <p:nvPr/>
        </p:nvSpPr>
        <p:spPr>
          <a:xfrm xmlns:a="http://schemas.openxmlformats.org/drawingml/2006/main">
            <a:off x="4038600" y="24003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A8A8B2"/>
                </a:solidFill>
                <a:latin typeface="Arial"/>
                <a:ea typeface="Arial"/>
                <a:cs typeface="Arial"/>
              </a:defRPr>
            </a:pPr>
            <a:r>
              <a:rPr sz="1650" b="0">
                <a:solidFill>
                  <a:srgbClr val="A8A8B2"/>
                </a:solidFill>
                <a:latin typeface="Arial"/>
                <a:ea typeface="Arial"/>
                <a:cs typeface="Arial"/>
              </a:rPr>
              <a:t>Asset access</a:t>
            </a:r>
          </a:p>
        </p:txBody>
      </p:sp>
      <p:sp>
        <p:nvSpPr>
          <p:cNvPr id="19" name="Options">
            <a:extLst xmlns:a="http://schemas.openxmlformats.org/drawingml/2006/main">
              <a:ext uri="{FF2B5EF4-FFF2-40B4-BE49-F238E27FC236}">
                <a16:creationId xmlns:a16="http://schemas.microsoft.com/office/drawing/2014/main" id="{FE2129AD-FFCA-4DC1-B7ED-8AF3231A0FB8}"/>
              </a:ext>
            </a:extLst>
          </p:cNvPr>
          <p:cNvSpPr>
            <a:spLocks xmlns:a="http://schemas.openxmlformats.org/drawingml/2006/main" noGrp="1"/>
          </p:cNvSpPr>
          <p:nvPr/>
        </p:nvSpPr>
        <p:spPr>
          <a:xfrm xmlns:a="http://schemas.openxmlformats.org/drawingml/2006/main">
            <a:off x="7239000" y="32766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A8A8B2"/>
                </a:solidFill>
                <a:latin typeface="Arial"/>
                <a:ea typeface="Arial"/>
                <a:cs typeface="Arial"/>
              </a:defRPr>
            </a:pPr>
            <a:r>
              <a:rPr sz="1800" b="0">
                <a:solidFill>
                  <a:srgbClr val="A8A8B2"/>
                </a:solidFill>
                <a:latin typeface="Arial"/>
                <a:ea typeface="Arial"/>
                <a:cs typeface="Arial"/>
              </a:rPr>
              <a:t>Options</a:t>
            </a:r>
          </a:p>
        </p:txBody>
      </p:sp>
      <p:sp>
        <p:nvSpPr>
          <p:cNvPr id="20" name="Spot">
            <a:extLst xmlns:a="http://schemas.openxmlformats.org/drawingml/2006/main">
              <a:ext uri="{FF2B5EF4-FFF2-40B4-BE49-F238E27FC236}">
                <a16:creationId xmlns:a16="http://schemas.microsoft.com/office/drawing/2014/main" id="{025C9F3C-3C80-46CF-9083-14C36AB9DDD5}"/>
              </a:ext>
            </a:extLst>
          </p:cNvPr>
          <p:cNvSpPr>
            <a:spLocks xmlns:a="http://schemas.openxmlformats.org/drawingml/2006/main" noGrp="1"/>
          </p:cNvSpPr>
          <p:nvPr/>
        </p:nvSpPr>
        <p:spPr>
          <a:xfrm xmlns:a="http://schemas.openxmlformats.org/drawingml/2006/main">
            <a:off x="7239000" y="5410200"/>
            <a:ext cx="438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A8A8B2"/>
                </a:solidFill>
                <a:latin typeface="Arial"/>
                <a:ea typeface="Arial"/>
                <a:cs typeface="Arial"/>
              </a:defRPr>
            </a:pPr>
            <a:r>
              <a:rPr sz="1800" b="0">
                <a:solidFill>
                  <a:srgbClr val="A8A8B2"/>
                </a:solidFill>
                <a:latin typeface="Arial"/>
                <a:ea typeface="Arial"/>
                <a:cs typeface="Arial"/>
              </a:rPr>
              <a:t>Spot</a:t>
            </a:r>
          </a:p>
        </p:txBody>
      </p:sp>
      <p:sp>
        <p:nvSpPr>
          <p:cNvPr id="21" name="One inventory, shared strategy accounting">
            <a:extLst xmlns:a="http://schemas.openxmlformats.org/drawingml/2006/main">
              <a:ext uri="{FF2B5EF4-FFF2-40B4-BE49-F238E27FC236}">
                <a16:creationId xmlns:a16="http://schemas.microsoft.com/office/drawing/2014/main" id="{07500FD4-7094-453A-B0AC-9BFE5700D1CF}"/>
              </a:ext>
            </a:extLst>
          </p:cNvPr>
          <p:cNvSpPr>
            <a:spLocks xmlns:a="http://schemas.openxmlformats.org/drawingml/2006/main" noGrp="1"/>
          </p:cNvSpPr>
          <p:nvPr/>
        </p:nvSpPr>
        <p:spPr>
          <a:xfrm xmlns:a="http://schemas.openxmlformats.org/drawingml/2006/main">
            <a:off x="609600" y="5553075"/>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37D67A"/>
                </a:solidFill>
                <a:latin typeface="Arial"/>
                <a:ea typeface="Arial"/>
                <a:cs typeface="Arial"/>
              </a:defRPr>
            </a:pPr>
            <a:r>
              <a:rPr sz="2025" b="0">
                <a:solidFill>
                  <a:srgbClr val="37D67A"/>
                </a:solidFill>
                <a:latin typeface="Arial"/>
                <a:ea typeface="Arial"/>
                <a:cs typeface="Arial"/>
              </a:rPr>
              <a:t>One inventory, shared strategy accounting</a:t>
            </a:r>
          </a:p>
        </p:txBody>
      </p:sp>
    </p:spTree>
    <p:extLst>
      <p:ext uri="{BB962C8B-B14F-4D97-AF65-F5344CB8AC3E}">
        <p14:creationId xmlns:p14="http://schemas.microsoft.com/office/powerpoint/2010/main" val="293560068"/>
      </p:ext>
    </p:extLst>
  </p:cSld>
</p:sld>
</file>

<file path=ppt/slides/slide5.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9" name="Promises stay in the maker wallet">
            <a:extLst xmlns:a="http://schemas.openxmlformats.org/drawingml/2006/main">
              <a:ext uri="{FF2B5EF4-FFF2-40B4-BE49-F238E27FC236}">
                <a16:creationId xmlns:a16="http://schemas.microsoft.com/office/drawing/2014/main" id="{9AE260FB-6482-44D9-93CB-BBC9EF43B60C}"/>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Promises stay in the maker wallet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70d8ddcf39a4b89"/>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D365996D-6550-4279-A56F-971E4860DE3C}"/>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APL example / illustrative amounts">
            <a:extLst xmlns:a="http://schemas.openxmlformats.org/drawingml/2006/main">
              <a:ext uri="{FF2B5EF4-FFF2-40B4-BE49-F238E27FC236}">
                <a16:creationId xmlns:a16="http://schemas.microsoft.com/office/drawing/2014/main" id="{31613FF2-0DE1-4E2C-B57D-12CFBF03A223}"/>
              </a:ext>
            </a:extLst>
          </p:cNvPr>
          <p:cNvSpPr>
            <a:spLocks xmlns:a="http://schemas.openxmlformats.org/drawingml/2006/main" noGrp="1"/>
          </p:cNvSpPr>
          <p:nvPr/>
        </p:nvSpPr>
        <p:spPr>
          <a:xfrm xmlns:a="http://schemas.openxmlformats.org/drawingml/2006/main">
            <a:off x="3905250" y="61531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AAPL example / illustrative amounts</a:t>
            </a:r>
          </a:p>
        </p:txBody>
      </p:sp>
      <p:sp>
        <p:nvSpPr>
          <p:cNvPr id="5" name="5">
            <a:extLst xmlns:a="http://schemas.openxmlformats.org/drawingml/2006/main">
              <a:ext uri="{FF2B5EF4-FFF2-40B4-BE49-F238E27FC236}">
                <a16:creationId xmlns:a16="http://schemas.microsoft.com/office/drawing/2014/main" id="{7D06C247-7BD4-4536-81EA-3BF254973CE3}"/>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5</a:t>
            </a:r>
          </a:p>
        </p:txBody>
      </p:sp>
      <p:sp>
        <p:nvSpPr>
          <p:cNvPr id="6" name="10 calls">
            <a:extLst xmlns:a="http://schemas.openxmlformats.org/drawingml/2006/main">
              <a:ext uri="{FF2B5EF4-FFF2-40B4-BE49-F238E27FC236}">
                <a16:creationId xmlns:a16="http://schemas.microsoft.com/office/drawing/2014/main" id="{6E8D128F-3E05-479B-A7AF-869B7904F62A}"/>
              </a:ext>
            </a:extLst>
          </p:cNvPr>
          <p:cNvSpPr>
            <a:spLocks xmlns:a="http://schemas.openxmlformats.org/drawingml/2006/main" noGrp="1"/>
          </p:cNvSpPr>
          <p:nvPr/>
        </p:nvSpPr>
        <p:spPr>
          <a:xfrm xmlns:a="http://schemas.openxmlformats.org/drawingml/2006/main">
            <a:off x="714375" y="1495425"/>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10 calls</a:t>
            </a:r>
          </a:p>
        </p:txBody>
      </p:sp>
      <p:sp>
        <p:nvSpPr>
          <p:cNvPr id="7" name="10 puts at strike 400">
            <a:extLst xmlns:a="http://schemas.openxmlformats.org/drawingml/2006/main">
              <a:ext uri="{FF2B5EF4-FFF2-40B4-BE49-F238E27FC236}">
                <a16:creationId xmlns:a16="http://schemas.microsoft.com/office/drawing/2014/main" id="{D3CD9554-CA7D-49DB-B64E-8FA6A1392B98}"/>
              </a:ext>
            </a:extLst>
          </p:cNvPr>
          <p:cNvSpPr>
            <a:spLocks xmlns:a="http://schemas.openxmlformats.org/drawingml/2006/main" noGrp="1"/>
          </p:cNvSpPr>
          <p:nvPr/>
        </p:nvSpPr>
        <p:spPr>
          <a:xfrm xmlns:a="http://schemas.openxmlformats.org/drawingml/2006/main">
            <a:off x="4857750" y="1495425"/>
            <a:ext cx="4333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10 puts at strike 400</a:t>
            </a:r>
          </a:p>
        </p:txBody>
      </p:sp>
      <p:graphicFrame>
        <p:nvGraphicFramePr>
          <p:cNvPr id="26" name="Chart"/>
          <p:cNvGraphicFramePr/>
          <p:nvPr/>
        </p:nvGraphicFramePr>
        <p:xfrm>
          <a:off xmlns:a="http://schemas.openxmlformats.org/drawingml/2006/main" x="609600" y="2276475"/>
          <a:ext xmlns:a="http://schemas.openxmlformats.org/drawingml/2006/main" cx="3714750" cy="2647950"/>
        </p:xfrm>
        <a:graphic xmlns:a="http://schemas.openxmlformats.org/drawingml/2006/main">
          <a:graphicData uri="http://schemas.openxmlformats.org/drawingml/2006/chart">
            <c:chart xmlns:r="http://schemas.openxmlformats.org/officeDocument/2006/relationships" xmlns:c="http://schemas.openxmlformats.org/drawingml/2006/chart" r:id="Rb9c16dc1465143da"/>
          </a:graphicData>
        </a:graphic>
      </p:graphicFrame>
      <p:graphicFrame>
        <p:nvGraphicFramePr>
          <p:cNvPr id="27" name="Chart"/>
          <p:cNvGraphicFramePr/>
          <p:nvPr/>
        </p:nvGraphicFramePr>
        <p:xfrm>
          <a:off xmlns:a="http://schemas.openxmlformats.org/drawingml/2006/main" x="4743450" y="2276475"/>
          <a:ext xmlns:a="http://schemas.openxmlformats.org/drawingml/2006/main" cx="3714750" cy="2647950"/>
        </p:xfrm>
        <a:graphic xmlns:a="http://schemas.openxmlformats.org/drawingml/2006/main">
          <a:graphicData uri="http://schemas.openxmlformats.org/drawingml/2006/chart">
            <c:chart xmlns:r="http://schemas.openxmlformats.org/officeDocument/2006/relationships" xmlns:c="http://schemas.openxmlformats.org/drawingml/2006/chart" r:id="R2bf910b8fc73423a"/>
          </a:graphicData>
        </a:graphic>
      </p:graphicFrame>
      <p:sp>
        <p:nvSpPr>
          <p:cNvPr id="10" name="30 AAPL">
            <a:extLst xmlns:a="http://schemas.openxmlformats.org/drawingml/2006/main">
              <a:ext uri="{FF2B5EF4-FFF2-40B4-BE49-F238E27FC236}">
                <a16:creationId xmlns:a16="http://schemas.microsoft.com/office/drawing/2014/main" id="{1C04E622-FF34-4D6C-908E-BE47BB6C7931}"/>
              </a:ext>
            </a:extLst>
          </p:cNvPr>
          <p:cNvSpPr>
            <a:spLocks xmlns:a="http://schemas.openxmlformats.org/drawingml/2006/main" noGrp="1"/>
          </p:cNvSpPr>
          <p:nvPr/>
        </p:nvSpPr>
        <p:spPr>
          <a:xfrm xmlns:a="http://schemas.openxmlformats.org/drawingml/2006/main">
            <a:off x="685800" y="2009775"/>
            <a:ext cx="3714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37D67A"/>
                </a:solidFill>
                <a:latin typeface="Arial"/>
                <a:ea typeface="Arial"/>
                <a:cs typeface="Arial"/>
              </a:defRPr>
            </a:pPr>
            <a:r>
              <a:rPr sz="2850" b="1">
                <a:solidFill>
                  <a:srgbClr val="37D67A"/>
                </a:solidFill>
                <a:latin typeface="Arial"/>
                <a:ea typeface="Arial"/>
                <a:cs typeface="Arial"/>
              </a:rPr>
              <a:t>30 AAPL</a:t>
            </a:r>
          </a:p>
        </p:txBody>
      </p:sp>
      <p:sp>
        <p:nvSpPr>
          <p:cNvPr id="11" name="20,000 USDG">
            <a:extLst xmlns:a="http://schemas.openxmlformats.org/drawingml/2006/main">
              <a:ext uri="{FF2B5EF4-FFF2-40B4-BE49-F238E27FC236}">
                <a16:creationId xmlns:a16="http://schemas.microsoft.com/office/drawing/2014/main" id="{778461C7-8611-46F2-AFD9-F1393707B593}"/>
              </a:ext>
            </a:extLst>
          </p:cNvPr>
          <p:cNvSpPr>
            <a:spLocks xmlns:a="http://schemas.openxmlformats.org/drawingml/2006/main" noGrp="1"/>
          </p:cNvSpPr>
          <p:nvPr/>
        </p:nvSpPr>
        <p:spPr>
          <a:xfrm xmlns:a="http://schemas.openxmlformats.org/drawingml/2006/main">
            <a:off x="4810125" y="2009775"/>
            <a:ext cx="38957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37D67A"/>
                </a:solidFill>
                <a:latin typeface="Arial"/>
                <a:ea typeface="Arial"/>
                <a:cs typeface="Arial"/>
              </a:defRPr>
            </a:pPr>
            <a:r>
              <a:rPr sz="2850" b="1">
                <a:solidFill>
                  <a:srgbClr val="37D67A"/>
                </a:solidFill>
                <a:latin typeface="Arial"/>
                <a:ea typeface="Arial"/>
                <a:cs typeface="Arial"/>
              </a:rPr>
              <a:t>20,000 USDG</a:t>
            </a:r>
          </a:p>
        </p:txBody>
      </p:sp>
      <p:sp>
        <p:nvSpPr>
          <p:cNvPr id="12" name="0">
            <a:extLst xmlns:a="http://schemas.openxmlformats.org/drawingml/2006/main">
              <a:ext uri="{FF2B5EF4-FFF2-40B4-BE49-F238E27FC236}">
                <a16:creationId xmlns:a16="http://schemas.microsoft.com/office/drawing/2014/main" id="{C478E66C-823A-4FE5-9B34-B64CE042D9DE}"/>
              </a:ext>
            </a:extLst>
          </p:cNvPr>
          <p:cNvSpPr>
            <a:spLocks xmlns:a="http://schemas.openxmlformats.org/drawingml/2006/main" noGrp="1"/>
          </p:cNvSpPr>
          <p:nvPr/>
        </p:nvSpPr>
        <p:spPr>
          <a:xfrm xmlns:a="http://schemas.openxmlformats.org/drawingml/2006/main">
            <a:off x="9544050" y="2428875"/>
            <a:ext cx="1905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400" b="1">
                <a:solidFill>
                  <a:srgbClr val="FAFAFA"/>
                </a:solidFill>
                <a:latin typeface="Arial"/>
                <a:ea typeface="Arial"/>
                <a:cs typeface="Arial"/>
              </a:defRPr>
            </a:pPr>
            <a:r>
              <a:rPr sz="8400" b="1">
                <a:solidFill>
                  <a:srgbClr val="FAFAFA"/>
                </a:solidFill>
                <a:latin typeface="Arial"/>
                <a:ea typeface="Arial"/>
                <a:cs typeface="Arial"/>
              </a:rPr>
              <a:t>0</a:t>
            </a:r>
          </a:p>
        </p:txBody>
      </p:sp>
      <p:sp>
        <p:nvSpPr>
          <p:cNvPr id="13" name="Book tokens">
            <a:extLst xmlns:a="http://schemas.openxmlformats.org/drawingml/2006/main">
              <a:ext uri="{FF2B5EF4-FFF2-40B4-BE49-F238E27FC236}">
                <a16:creationId xmlns:a16="http://schemas.microsoft.com/office/drawing/2014/main" id="{BA83B15A-D180-47C1-8050-3679538DDABE}"/>
              </a:ext>
            </a:extLst>
          </p:cNvPr>
          <p:cNvSpPr>
            <a:spLocks xmlns:a="http://schemas.openxmlformats.org/drawingml/2006/main" noGrp="1"/>
          </p:cNvSpPr>
          <p:nvPr/>
        </p:nvSpPr>
        <p:spPr>
          <a:xfrm xmlns:a="http://schemas.openxmlformats.org/drawingml/2006/main">
            <a:off x="9172575" y="4076700"/>
            <a:ext cx="228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A8A8B2"/>
                </a:solidFill>
                <a:latin typeface="Arial"/>
                <a:ea typeface="Arial"/>
                <a:cs typeface="Arial"/>
              </a:defRPr>
            </a:pPr>
            <a:r>
              <a:rPr sz="1950" b="0">
                <a:solidFill>
                  <a:srgbClr val="A8A8B2"/>
                </a:solidFill>
                <a:latin typeface="Arial"/>
                <a:ea typeface="Arial"/>
                <a:cs typeface="Arial"/>
              </a:rPr>
              <a:t>Book tokens</a:t>
            </a:r>
          </a:p>
        </p:txBody>
      </p:sp>
      <p:sp>
        <p:nvSpPr>
          <p:cNvPr id="14" name="━">
            <a:extLst xmlns:a="http://schemas.openxmlformats.org/drawingml/2006/main">
              <a:ext uri="{FF2B5EF4-FFF2-40B4-BE49-F238E27FC236}">
                <a16:creationId xmlns:a16="http://schemas.microsoft.com/office/drawing/2014/main" id="{B6911AF9-3CAA-4BDB-A894-A1946231CBC9}"/>
              </a:ext>
            </a:extLst>
          </p:cNvPr>
          <p:cNvSpPr>
            <a:spLocks xmlns:a="http://schemas.openxmlformats.org/drawingml/2006/main" noGrp="1"/>
          </p:cNvSpPr>
          <p:nvPr/>
        </p:nvSpPr>
        <p:spPr>
          <a:xfrm xmlns:a="http://schemas.openxmlformats.org/drawingml/2006/main">
            <a:off x="904875" y="5000625"/>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007A"/>
                </a:solidFill>
                <a:latin typeface="Arial"/>
                <a:ea typeface="Arial"/>
                <a:cs typeface="Arial"/>
              </a:defRPr>
            </a:pPr>
            <a:r>
              <a:rPr sz="1875" b="1">
                <a:solidFill>
                  <a:srgbClr val="FF007A"/>
                </a:solidFill>
                <a:latin typeface="Arial"/>
                <a:ea typeface="Arial"/>
                <a:cs typeface="Arial"/>
              </a:rPr>
              <a:t>━</a:t>
            </a:r>
          </a:p>
        </p:txBody>
      </p:sp>
      <p:sp>
        <p:nvSpPr>
          <p:cNvPr id="15" name="Promised">
            <a:extLst xmlns:a="http://schemas.openxmlformats.org/drawingml/2006/main">
              <a:ext uri="{FF2B5EF4-FFF2-40B4-BE49-F238E27FC236}">
                <a16:creationId xmlns:a16="http://schemas.microsoft.com/office/drawing/2014/main" id="{143B6D9A-441A-4DEA-B829-821078013A85}"/>
              </a:ext>
            </a:extLst>
          </p:cNvPr>
          <p:cNvSpPr>
            <a:spLocks xmlns:a="http://schemas.openxmlformats.org/drawingml/2006/main" noGrp="1"/>
          </p:cNvSpPr>
          <p:nvPr/>
        </p:nvSpPr>
        <p:spPr>
          <a:xfrm xmlns:a="http://schemas.openxmlformats.org/drawingml/2006/main">
            <a:off x="1304925" y="5000625"/>
            <a:ext cx="2686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Promised</a:t>
            </a:r>
          </a:p>
        </p:txBody>
      </p:sp>
      <p:sp>
        <p:nvSpPr>
          <p:cNvPr id="16" name="━">
            <a:extLst xmlns:a="http://schemas.openxmlformats.org/drawingml/2006/main">
              <a:ext uri="{FF2B5EF4-FFF2-40B4-BE49-F238E27FC236}">
                <a16:creationId xmlns:a16="http://schemas.microsoft.com/office/drawing/2014/main" id="{81A4FF3B-6C8D-4462-92C9-A1E916F059E5}"/>
              </a:ext>
            </a:extLst>
          </p:cNvPr>
          <p:cNvSpPr>
            <a:spLocks xmlns:a="http://schemas.openxmlformats.org/drawingml/2006/main" noGrp="1"/>
          </p:cNvSpPr>
          <p:nvPr/>
        </p:nvSpPr>
        <p:spPr>
          <a:xfrm xmlns:a="http://schemas.openxmlformats.org/drawingml/2006/main">
            <a:off x="4048125" y="5000625"/>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37D67A"/>
                </a:solidFill>
                <a:latin typeface="Arial"/>
                <a:ea typeface="Arial"/>
                <a:cs typeface="Arial"/>
              </a:defRPr>
            </a:pPr>
            <a:r>
              <a:rPr sz="1875" b="1">
                <a:solidFill>
                  <a:srgbClr val="37D67A"/>
                </a:solidFill>
                <a:latin typeface="Arial"/>
                <a:ea typeface="Arial"/>
                <a:cs typeface="Arial"/>
              </a:rPr>
              <a:t>━</a:t>
            </a:r>
          </a:p>
        </p:txBody>
      </p:sp>
      <p:sp>
        <p:nvSpPr>
          <p:cNvPr id="17" name="Unpromised">
            <a:extLst xmlns:a="http://schemas.openxmlformats.org/drawingml/2006/main">
              <a:ext uri="{FF2B5EF4-FFF2-40B4-BE49-F238E27FC236}">
                <a16:creationId xmlns:a16="http://schemas.microsoft.com/office/drawing/2014/main" id="{6B3138F6-347F-4814-B1E6-C85C3D3E628C}"/>
              </a:ext>
            </a:extLst>
          </p:cNvPr>
          <p:cNvSpPr>
            <a:spLocks xmlns:a="http://schemas.openxmlformats.org/drawingml/2006/main" noGrp="1"/>
          </p:cNvSpPr>
          <p:nvPr/>
        </p:nvSpPr>
        <p:spPr>
          <a:xfrm xmlns:a="http://schemas.openxmlformats.org/drawingml/2006/main">
            <a:off x="4448175" y="5000625"/>
            <a:ext cx="2686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Unpromised</a:t>
            </a:r>
          </a:p>
        </p:txBody>
      </p:sp>
      <p:sp>
        <p:nvSpPr>
          <p:cNvPr id="18" name="Ship + post: no transfer. Virtual balances are not extra ass">
            <a:extLst xmlns:a="http://schemas.openxmlformats.org/drawingml/2006/main">
              <a:ext uri="{FF2B5EF4-FFF2-40B4-BE49-F238E27FC236}">
                <a16:creationId xmlns:a16="http://schemas.microsoft.com/office/drawing/2014/main" id="{E56687BE-CDE7-4683-B123-CFA0E4D9C852}"/>
              </a:ext>
            </a:extLst>
          </p:cNvPr>
          <p:cNvSpPr>
            <a:spLocks xmlns:a="http://schemas.openxmlformats.org/drawingml/2006/main" noGrp="1"/>
          </p:cNvSpPr>
          <p:nvPr/>
        </p:nvSpPr>
        <p:spPr>
          <a:xfrm xmlns:a="http://schemas.openxmlformats.org/drawingml/2006/main">
            <a:off x="685800" y="56388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8A8B2"/>
                </a:solidFill>
                <a:latin typeface="Arial"/>
                <a:ea typeface="Arial"/>
                <a:cs typeface="Arial"/>
              </a:defRPr>
            </a:pPr>
            <a:r>
              <a:rPr sz="1800" b="0">
                <a:solidFill>
                  <a:srgbClr val="A8A8B2"/>
                </a:solidFill>
                <a:latin typeface="Arial"/>
                <a:ea typeface="Arial"/>
                <a:cs typeface="Arial"/>
              </a:rPr>
              <a:t>Ship + post: no transfer. Virtual balances are not extra assets.</a:t>
            </a:r>
          </a:p>
        </p:txBody>
      </p:sp>
    </p:spTree>
    <p:extLst>
      <p:ext uri="{BB962C8B-B14F-4D97-AF65-F5344CB8AC3E}">
        <p14:creationId xmlns:p14="http://schemas.microsoft.com/office/powerpoint/2010/main" val="589590889"/>
      </p:ext>
    </p:extLst>
  </p:cSld>
</p:sld>
</file>

<file path=ppt/slides/slide6.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3" name="The spot guard protects unfilled promises">
            <a:extLst xmlns:a="http://schemas.openxmlformats.org/drawingml/2006/main">
              <a:ext uri="{FF2B5EF4-FFF2-40B4-BE49-F238E27FC236}">
                <a16:creationId xmlns:a16="http://schemas.microsoft.com/office/drawing/2014/main" id="{C6D697B8-E0FA-422D-870E-E15B091677EF}"/>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The spot guard protects unfilled promises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694905216c740dd"/>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973EFE56-263F-42F1-8965-0BC472173B67}"/>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APL example / illustrative amounts">
            <a:extLst xmlns:a="http://schemas.openxmlformats.org/drawingml/2006/main">
              <a:ext uri="{FF2B5EF4-FFF2-40B4-BE49-F238E27FC236}">
                <a16:creationId xmlns:a16="http://schemas.microsoft.com/office/drawing/2014/main" id="{D79A2A3E-029E-4980-BC07-478B2770C83A}"/>
              </a:ext>
            </a:extLst>
          </p:cNvPr>
          <p:cNvSpPr>
            <a:spLocks xmlns:a="http://schemas.openxmlformats.org/drawingml/2006/main" noGrp="1"/>
          </p:cNvSpPr>
          <p:nvPr/>
        </p:nvSpPr>
        <p:spPr>
          <a:xfrm xmlns:a="http://schemas.openxmlformats.org/drawingml/2006/main">
            <a:off x="3905250" y="61531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AAPL example / illustrative amounts</a:t>
            </a:r>
          </a:p>
        </p:txBody>
      </p:sp>
      <p:sp>
        <p:nvSpPr>
          <p:cNvPr id="5" name="6">
            <a:extLst xmlns:a="http://schemas.openxmlformats.org/drawingml/2006/main">
              <a:ext uri="{FF2B5EF4-FFF2-40B4-BE49-F238E27FC236}">
                <a16:creationId xmlns:a16="http://schemas.microsoft.com/office/drawing/2014/main" id="{73B2EA65-CEBC-40D4-AC62-3A3A4C404CE8}"/>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6</a:t>
            </a:r>
          </a:p>
        </p:txBody>
      </p:sp>
      <p:sp>
        <p:nvSpPr>
          <p:cNvPr id="6" name="free = wallet − promised">
            <a:extLst xmlns:a="http://schemas.openxmlformats.org/drawingml/2006/main">
              <a:ext uri="{FF2B5EF4-FFF2-40B4-BE49-F238E27FC236}">
                <a16:creationId xmlns:a16="http://schemas.microsoft.com/office/drawing/2014/main" id="{6009E1FA-0B79-4A96-8BCF-D2076AEE4E3B}"/>
              </a:ext>
            </a:extLst>
          </p:cNvPr>
          <p:cNvSpPr>
            <a:spLocks xmlns:a="http://schemas.openxmlformats.org/drawingml/2006/main" noGrp="1"/>
          </p:cNvSpPr>
          <p:nvPr/>
        </p:nvSpPr>
        <p:spPr>
          <a:xfrm xmlns:a="http://schemas.openxmlformats.org/drawingml/2006/main">
            <a:off x="666750" y="14192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700" b="1">
                <a:solidFill>
                  <a:srgbClr val="37D67A"/>
                </a:solidFill>
                <a:latin typeface="Arial"/>
                <a:ea typeface="Arial"/>
                <a:cs typeface="Arial"/>
              </a:defRPr>
            </a:pPr>
            <a:r>
              <a:rPr sz="2700" b="1">
                <a:solidFill>
                  <a:srgbClr val="37D67A"/>
                </a:solidFill>
                <a:latin typeface="Arial"/>
                <a:ea typeface="Arial"/>
                <a:cs typeface="Arial"/>
              </a:rPr>
              <a:t>free = wallet − promised</a:t>
            </a:r>
          </a:p>
        </p:txBody>
      </p:sp>
      <p:graphicFrame>
        <p:nvGraphicFramePr>
          <p:cNvPr id="19" name="Chart"/>
          <p:cNvGraphicFramePr/>
          <p:nvPr/>
        </p:nvGraphicFramePr>
        <p:xfrm>
          <a:off xmlns:a="http://schemas.openxmlformats.org/drawingml/2006/main" x="628650" y="2381250"/>
          <a:ext xmlns:a="http://schemas.openxmlformats.org/drawingml/2006/main" cx="7353300" cy="3124200"/>
        </p:xfrm>
        <a:graphic xmlns:a="http://schemas.openxmlformats.org/drawingml/2006/main">
          <a:graphicData uri="http://schemas.openxmlformats.org/drawingml/2006/chart">
            <c:chart xmlns:r="http://schemas.openxmlformats.org/officeDocument/2006/relationships" xmlns:c="http://schemas.openxmlformats.org/drawingml/2006/chart" r:id="Re466c2b5d75943c1"/>
          </a:graphicData>
        </a:graphic>
      </p:graphicFrame>
      <p:sp>
        <p:nvSpPr>
          <p:cNvPr id="8" name="29.05 &gt; 10">
            <a:extLst xmlns:a="http://schemas.openxmlformats.org/drawingml/2006/main">
              <a:ext uri="{FF2B5EF4-FFF2-40B4-BE49-F238E27FC236}">
                <a16:creationId xmlns:a16="http://schemas.microsoft.com/office/drawing/2014/main" id="{5F0F072B-21B3-4867-826B-0DD5634307DC}"/>
              </a:ext>
            </a:extLst>
          </p:cNvPr>
          <p:cNvSpPr>
            <a:spLocks xmlns:a="http://schemas.openxmlformats.org/drawingml/2006/main" noGrp="1"/>
          </p:cNvSpPr>
          <p:nvPr/>
        </p:nvSpPr>
        <p:spPr>
          <a:xfrm xmlns:a="http://schemas.openxmlformats.org/drawingml/2006/main">
            <a:off x="8715375" y="2362200"/>
            <a:ext cx="285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37D67A"/>
                </a:solidFill>
                <a:latin typeface="Arial"/>
                <a:ea typeface="Arial"/>
                <a:cs typeface="Arial"/>
              </a:defRPr>
            </a:pPr>
            <a:r>
              <a:rPr sz="3000" b="1">
                <a:solidFill>
                  <a:srgbClr val="37D67A"/>
                </a:solidFill>
                <a:latin typeface="Arial"/>
                <a:ea typeface="Arial"/>
                <a:cs typeface="Arial"/>
              </a:rPr>
              <a:t>29.05 &gt; 10</a:t>
            </a:r>
          </a:p>
        </p:txBody>
      </p:sp>
      <p:sp>
        <p:nvSpPr>
          <p:cNvPr id="9" name="Promise preserved">
            <a:extLst xmlns:a="http://schemas.openxmlformats.org/drawingml/2006/main">
              <a:ext uri="{FF2B5EF4-FFF2-40B4-BE49-F238E27FC236}">
                <a16:creationId xmlns:a16="http://schemas.microsoft.com/office/drawing/2014/main" id="{DF2A0177-9D9B-4AE7-A687-657DAE51D3DE}"/>
              </a:ext>
            </a:extLst>
          </p:cNvPr>
          <p:cNvSpPr>
            <a:spLocks xmlns:a="http://schemas.openxmlformats.org/drawingml/2006/main" noGrp="1"/>
          </p:cNvSpPr>
          <p:nvPr/>
        </p:nvSpPr>
        <p:spPr>
          <a:xfrm xmlns:a="http://schemas.openxmlformats.org/drawingml/2006/main">
            <a:off x="8715375" y="3057525"/>
            <a:ext cx="2914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8A8B2"/>
                </a:solidFill>
                <a:latin typeface="Arial"/>
                <a:ea typeface="Arial"/>
                <a:cs typeface="Arial"/>
              </a:defRPr>
            </a:pPr>
            <a:r>
              <a:rPr sz="1875" b="0">
                <a:solidFill>
                  <a:srgbClr val="A8A8B2"/>
                </a:solidFill>
                <a:latin typeface="Arial"/>
                <a:ea typeface="Arial"/>
                <a:cs typeface="Arial"/>
              </a:rPr>
              <a:t>Promise preserved</a:t>
            </a:r>
          </a:p>
        </p:txBody>
      </p:sp>
      <p:sp>
        <p:nvSpPr>
          <p:cNvPr id="10" name="9 &lt; 10">
            <a:extLst xmlns:a="http://schemas.openxmlformats.org/drawingml/2006/main">
              <a:ext uri="{FF2B5EF4-FFF2-40B4-BE49-F238E27FC236}">
                <a16:creationId xmlns:a16="http://schemas.microsoft.com/office/drawing/2014/main" id="{309347EA-2E6E-4D4D-A0B4-4A16DF6E4AA5}"/>
              </a:ext>
            </a:extLst>
          </p:cNvPr>
          <p:cNvSpPr>
            <a:spLocks xmlns:a="http://schemas.openxmlformats.org/drawingml/2006/main" noGrp="1"/>
          </p:cNvSpPr>
          <p:nvPr/>
        </p:nvSpPr>
        <p:spPr>
          <a:xfrm xmlns:a="http://schemas.openxmlformats.org/drawingml/2006/main">
            <a:off x="8715375" y="4038600"/>
            <a:ext cx="285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000" b="1">
                <a:solidFill>
                  <a:srgbClr val="FF5470"/>
                </a:solidFill>
                <a:latin typeface="Arial"/>
                <a:ea typeface="Arial"/>
                <a:cs typeface="Arial"/>
              </a:defRPr>
            </a:pPr>
            <a:r>
              <a:rPr sz="3000" b="1">
                <a:solidFill>
                  <a:srgbClr val="FF5470"/>
                </a:solidFill>
                <a:latin typeface="Arial"/>
                <a:ea typeface="Arial"/>
                <a:cs typeface="Arial"/>
              </a:rPr>
              <a:t>9 &lt; 10</a:t>
            </a:r>
          </a:p>
        </p:txBody>
      </p:sp>
      <p:sp>
        <p:nvSpPr>
          <p:cNvPr id="11" name="Later fill refuses">
            <a:extLst xmlns:a="http://schemas.openxmlformats.org/drawingml/2006/main">
              <a:ext uri="{FF2B5EF4-FFF2-40B4-BE49-F238E27FC236}">
                <a16:creationId xmlns:a16="http://schemas.microsoft.com/office/drawing/2014/main" id="{CC04DF72-1837-4C4F-8FB5-79AAC5013F1C}"/>
              </a:ext>
            </a:extLst>
          </p:cNvPr>
          <p:cNvSpPr>
            <a:spLocks xmlns:a="http://schemas.openxmlformats.org/drawingml/2006/main" noGrp="1"/>
          </p:cNvSpPr>
          <p:nvPr/>
        </p:nvSpPr>
        <p:spPr>
          <a:xfrm xmlns:a="http://schemas.openxmlformats.org/drawingml/2006/main">
            <a:off x="8715375" y="4667250"/>
            <a:ext cx="2914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8A8B2"/>
                </a:solidFill>
                <a:latin typeface="Arial"/>
                <a:ea typeface="Arial"/>
                <a:cs typeface="Arial"/>
              </a:defRPr>
            </a:pPr>
            <a:r>
              <a:rPr sz="1875" b="0">
                <a:solidFill>
                  <a:srgbClr val="A8A8B2"/>
                </a:solidFill>
                <a:latin typeface="Arial"/>
                <a:ea typeface="Arial"/>
                <a:cs typeface="Arial"/>
              </a:rPr>
              <a:t>Later fill refuses</a:t>
            </a:r>
          </a:p>
        </p:txBody>
      </p:sp>
      <p:sp>
        <p:nvSpPr>
          <p:cNvPr id="12" name="Independent fixtures: 400 USDG guarded swap / 21 AAPL sold u">
            <a:extLst xmlns:a="http://schemas.openxmlformats.org/drawingml/2006/main">
              <a:ext uri="{FF2B5EF4-FFF2-40B4-BE49-F238E27FC236}">
                <a16:creationId xmlns:a16="http://schemas.microsoft.com/office/drawing/2014/main" id="{EDDB6A64-9C94-4EC5-BBB4-69A5AC31BAA8}"/>
              </a:ext>
            </a:extLst>
          </p:cNvPr>
          <p:cNvSpPr>
            <a:spLocks xmlns:a="http://schemas.openxmlformats.org/drawingml/2006/main" noGrp="1"/>
          </p:cNvSpPr>
          <p:nvPr/>
        </p:nvSpPr>
        <p:spPr>
          <a:xfrm xmlns:a="http://schemas.openxmlformats.org/drawingml/2006/main">
            <a:off x="666750" y="5667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Independent fixtures: 400 USDG guarded swap / 21 AAPL sold unguarded</a:t>
            </a:r>
          </a:p>
        </p:txBody>
      </p:sp>
    </p:spTree>
    <p:extLst>
      <p:ext uri="{BB962C8B-B14F-4D97-AF65-F5344CB8AC3E}">
        <p14:creationId xmlns:p14="http://schemas.microsoft.com/office/powerpoint/2010/main" val="154220662"/>
      </p:ext>
    </p:extLst>
  </p:cSld>
</p:sld>
</file>

<file path=ppt/slides/slide7.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23" name="A fill moves exact collateral">
            <a:extLst xmlns:a="http://schemas.openxmlformats.org/drawingml/2006/main">
              <a:ext uri="{FF2B5EF4-FFF2-40B4-BE49-F238E27FC236}">
                <a16:creationId xmlns:a16="http://schemas.microsoft.com/office/drawing/2014/main" id="{A419D1B3-B76E-456B-BDEF-2D3C8E16E612}"/>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A fill moves exact collateral</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fa90d22c40244a1"/>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AB462CDE-4F4E-4D2B-B7BE-3493DD277C2F}"/>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APL example / illustrative amounts">
            <a:extLst xmlns:a="http://schemas.openxmlformats.org/drawingml/2006/main">
              <a:ext uri="{FF2B5EF4-FFF2-40B4-BE49-F238E27FC236}">
                <a16:creationId xmlns:a16="http://schemas.microsoft.com/office/drawing/2014/main" id="{448C8749-F966-4D59-8F5C-917AEFCC7AB4}"/>
              </a:ext>
            </a:extLst>
          </p:cNvPr>
          <p:cNvSpPr>
            <a:spLocks xmlns:a="http://schemas.openxmlformats.org/drawingml/2006/main" noGrp="1"/>
          </p:cNvSpPr>
          <p:nvPr/>
        </p:nvSpPr>
        <p:spPr>
          <a:xfrm xmlns:a="http://schemas.openxmlformats.org/drawingml/2006/main">
            <a:off x="3905250" y="61531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AAPL example / illustrative amounts</a:t>
            </a:r>
          </a:p>
        </p:txBody>
      </p:sp>
      <p:sp>
        <p:nvSpPr>
          <p:cNvPr id="5" name="7">
            <a:extLst xmlns:a="http://schemas.openxmlformats.org/drawingml/2006/main">
              <a:ext uri="{FF2B5EF4-FFF2-40B4-BE49-F238E27FC236}">
                <a16:creationId xmlns:a16="http://schemas.microsoft.com/office/drawing/2014/main" id="{C04E412D-49A6-4EAB-98E2-15409F4FDDCB}"/>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7</a:t>
            </a:r>
          </a:p>
        </p:txBody>
      </p:sp>
      <p:sp>
        <p:nvSpPr>
          <p:cNvPr id="6" name="5 calls + 3 puts">
            <a:extLst xmlns:a="http://schemas.openxmlformats.org/drawingml/2006/main">
              <a:ext uri="{FF2B5EF4-FFF2-40B4-BE49-F238E27FC236}">
                <a16:creationId xmlns:a16="http://schemas.microsoft.com/office/drawing/2014/main" id="{958671A3-38EB-49B6-9D6C-F21D09B5404A}"/>
              </a:ext>
            </a:extLst>
          </p:cNvPr>
          <p:cNvSpPr>
            <a:spLocks xmlns:a="http://schemas.openxmlformats.org/drawingml/2006/main" noGrp="1"/>
          </p:cNvSpPr>
          <p:nvPr/>
        </p:nvSpPr>
        <p:spPr>
          <a:xfrm xmlns:a="http://schemas.openxmlformats.org/drawingml/2006/main">
            <a:off x="609600" y="14192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1">
                <a:solidFill>
                  <a:srgbClr val="37D67A"/>
                </a:solidFill>
                <a:latin typeface="Arial"/>
                <a:ea typeface="Arial"/>
                <a:cs typeface="Arial"/>
              </a:defRPr>
            </a:pPr>
            <a:r>
              <a:rPr sz="2625" b="1">
                <a:solidFill>
                  <a:srgbClr val="37D67A"/>
                </a:solidFill>
                <a:latin typeface="Arial"/>
                <a:ea typeface="Arial"/>
                <a:cs typeface="Arial"/>
              </a:rPr>
              <a:t>5 calls + 3 puts</a:t>
            </a:r>
          </a:p>
        </p:txBody>
      </p:sp>
      <p:sp>
        <p:nvSpPr>
          <p:cNvPr id="7" name="Maker">
            <a:extLst xmlns:a="http://schemas.openxmlformats.org/drawingml/2006/main">
              <a:ext uri="{FF2B5EF4-FFF2-40B4-BE49-F238E27FC236}">
                <a16:creationId xmlns:a16="http://schemas.microsoft.com/office/drawing/2014/main" id="{EA68E711-2CC9-4E7A-84BB-572404B9C3A5}"/>
              </a:ext>
            </a:extLst>
          </p:cNvPr>
          <p:cNvSpPr>
            <a:spLocks xmlns:a="http://schemas.openxmlformats.org/drawingml/2006/main" noGrp="1"/>
          </p:cNvSpPr>
          <p:nvPr/>
        </p:nvSpPr>
        <p:spPr>
          <a:xfrm xmlns:a="http://schemas.openxmlformats.org/drawingml/2006/main">
            <a:off x="666750" y="2881313"/>
            <a:ext cx="2333625" cy="952500"/>
          </a:xfrm>
          <a:prstGeom xmlns:a="http://schemas.openxmlformats.org/drawingml/2006/main" prst="rect">
            <a:avLst/>
          </a:prstGeom>
          <a:solidFill xmlns:a="http://schemas.openxmlformats.org/drawingml/2006/main">
            <a:srgbClr val="08080A"/>
          </a:solidFill>
          <a:ln xmlns:a="http://schemas.openxmlformats.org/drawingml/2006/main" w="14288">
            <a:solidFill>
              <a:srgbClr val="FAFAF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325" b="1">
                <a:solidFill>
                  <a:srgbClr val="FAFAFA"/>
                </a:solidFill>
                <a:latin typeface="Arial"/>
                <a:ea typeface="Arial"/>
                <a:cs typeface="Arial"/>
              </a:defRPr>
            </a:pPr>
            <a:r>
              <a:rPr sz="2325" b="1">
                <a:solidFill>
                  <a:srgbClr val="FAFAFA"/>
                </a:solidFill>
                <a:latin typeface="Arial"/>
                <a:ea typeface="Arial"/>
                <a:cs typeface="Arial"/>
              </a:rPr>
              <a:t>Maker</a:t>
            </a:r>
          </a:p>
        </p:txBody>
      </p:sp>
      <p:sp>
        <p:nvSpPr>
          <p:cNvPr id="8" name="Aqua.pull">
            <a:extLst xmlns:a="http://schemas.openxmlformats.org/drawingml/2006/main">
              <a:ext uri="{FF2B5EF4-FFF2-40B4-BE49-F238E27FC236}">
                <a16:creationId xmlns:a16="http://schemas.microsoft.com/office/drawing/2014/main" id="{29EBEC15-F8EE-4B79-8986-D68A362A5DAE}"/>
              </a:ext>
            </a:extLst>
          </p:cNvPr>
          <p:cNvSpPr>
            <a:spLocks xmlns:a="http://schemas.openxmlformats.org/drawingml/2006/main" noGrp="1"/>
          </p:cNvSpPr>
          <p:nvPr/>
        </p:nvSpPr>
        <p:spPr>
          <a:xfrm xmlns:a="http://schemas.openxmlformats.org/drawingml/2006/main">
            <a:off x="4457700" y="2881313"/>
            <a:ext cx="2286000" cy="95250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250" b="1">
                <a:solidFill>
                  <a:srgbClr val="37D67A"/>
                </a:solidFill>
                <a:latin typeface="Arial"/>
                <a:ea typeface="Arial"/>
                <a:cs typeface="Arial"/>
              </a:defRPr>
            </a:pPr>
            <a:r>
              <a:rPr sz="2250" b="1">
                <a:solidFill>
                  <a:srgbClr val="37D67A"/>
                </a:solidFill>
                <a:latin typeface="Arial"/>
                <a:ea typeface="Arial"/>
                <a:cs typeface="Arial"/>
              </a:rPr>
              <a:t>Aqua.pull</a:t>
            </a:r>
          </a:p>
        </p:txBody>
      </p:sp>
      <p:sp>
        <p:nvSpPr>
          <p:cNvPr id="9" name="">
            <a:extLst xmlns:a="http://schemas.openxmlformats.org/drawingml/2006/main">
              <a:ext uri="{FF2B5EF4-FFF2-40B4-BE49-F238E27FC236}">
                <a16:creationId xmlns:a16="http://schemas.microsoft.com/office/drawing/2014/main" id="{17271535-E265-424C-A14E-1193EE5ED22D}"/>
              </a:ext>
            </a:extLst>
          </p:cNvPr>
          <p:cNvSpPr>
            <a:spLocks xmlns:a="http://schemas.openxmlformats.org/drawingml/2006/main" noGrp="1"/>
          </p:cNvSpPr>
          <p:nvPr/>
        </p:nvSpPr>
        <p:spPr>
          <a:xfrm xmlns:a="http://schemas.openxmlformats.org/drawingml/2006/main">
            <a:off x="8829675" y="2476500"/>
            <a:ext cx="2667000" cy="1762125"/>
          </a:xfrm>
          <a:prstGeom xmlns:a="http://schemas.openxmlformats.org/drawingml/2006/main" prst="rect">
            <a:avLst/>
          </a:prstGeom>
          <a:solidFill xmlns:a="http://schemas.openxmlformats.org/drawingml/2006/main">
            <a:srgbClr val="08080A"/>
          </a:solidFill>
          <a:ln xmlns:a="http://schemas.openxmlformats.org/drawingml/2006/main" w="14288">
            <a:solidFill>
              <a:srgbClr val="FAFAFA"/>
            </a:solidFill>
          </a:ln>
        </p:spPr>
        <p:txBody>
          <a:bodyPr xmlns:a="http://schemas.openxmlformats.org/drawingml/2006/main" lIns="95250" tIns="85725" rIns="95250" bIns="85725" anchor="ctr">
            <a:noAutofit/>
          </a:bodyPr>
          <a:lstStyle xmlns:a="http://schemas.openxmlformats.org/drawingml/2006/main"/>
          <a:p xmlns:a="http://schemas.openxmlformats.org/drawingml/2006/main">
            <a:r>
              <a:t/>
            </a:r>
          </a:p>
        </p:txBody>
      </p:sp>
      <p:sp>
        <p:nvSpPr>
          <p:cNvPr id="10" name="Book">
            <a:extLst xmlns:a="http://schemas.openxmlformats.org/drawingml/2006/main">
              <a:ext uri="{FF2B5EF4-FFF2-40B4-BE49-F238E27FC236}">
                <a16:creationId xmlns:a16="http://schemas.microsoft.com/office/drawing/2014/main" id="{86A88766-2BA8-436F-8C2F-BBEE88735D39}"/>
              </a:ext>
            </a:extLst>
          </p:cNvPr>
          <p:cNvSpPr>
            <a:spLocks xmlns:a="http://schemas.openxmlformats.org/drawingml/2006/main" noGrp="1"/>
          </p:cNvSpPr>
          <p:nvPr/>
        </p:nvSpPr>
        <p:spPr>
          <a:xfrm xmlns:a="http://schemas.openxmlformats.org/drawingml/2006/main">
            <a:off x="9048750" y="2609850"/>
            <a:ext cx="2228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FAFAFA"/>
                </a:solidFill>
                <a:latin typeface="Arial"/>
                <a:ea typeface="Arial"/>
                <a:cs typeface="Arial"/>
              </a:defRPr>
            </a:pPr>
            <a:r>
              <a:rPr sz="2325" b="1">
                <a:solidFill>
                  <a:srgbClr val="FAFAFA"/>
                </a:solidFill>
                <a:latin typeface="Arial"/>
                <a:ea typeface="Arial"/>
                <a:cs typeface="Arial"/>
              </a:rPr>
              <a:t>Book</a:t>
            </a:r>
          </a:p>
        </p:txBody>
      </p:sp>
      <p:cxnSp>
        <p:nvCxnSpPr>
          <p:cNvPr id="33" name=""/>
          <p:cNvCxnSpPr>
            <a:stCxn xmlns:a="http://schemas.openxmlformats.org/drawingml/2006/main" id="7" idx="3"/>
            <a:endCxn xmlns:a="http://schemas.openxmlformats.org/drawingml/2006/main" id="8" idx="1"/>
          </p:cNvCxnSpPr>
          <p:nvPr/>
        </p:nvCxnSpPr>
        <p:spPr>
          <a:xfrm xmlns:a="http://schemas.openxmlformats.org/drawingml/2006/main">
            <a:off x="3000375" y="3357563"/>
            <a:ext cx="1457325" cy="0"/>
          </a:xfrm>
          <a:prstGeom xmlns:a="http://schemas.openxmlformats.org/drawingml/2006/main" prst="straightConnector1">
            <a:avLst/>
          </a:prstGeom>
          <a:ln xmlns:a="http://schemas.openxmlformats.org/drawingml/2006/main" w="22860">
            <a:solidFill>
              <a:srgbClr val="37D67A"/>
            </a:solidFill>
            <a:prstDash val="solid"/>
            <a:tailEnd type="triangle" w="med" len="med"/>
          </a:ln>
        </p:spPr>
      </p:cxnSp>
      <p:cxnSp>
        <p:nvCxnSpPr>
          <p:cNvPr id="34" name=""/>
          <p:cNvCxnSpPr>
            <a:stCxn xmlns:a="http://schemas.openxmlformats.org/drawingml/2006/main" id="8" idx="3"/>
            <a:endCxn xmlns:a="http://schemas.openxmlformats.org/drawingml/2006/main" id="9" idx="1"/>
          </p:cNvCxnSpPr>
          <p:nvPr/>
        </p:nvCxnSpPr>
        <p:spPr>
          <a:xfrm xmlns:a="http://schemas.openxmlformats.org/drawingml/2006/main" flipV="1">
            <a:off x="6743700" y="3357563"/>
            <a:ext cx="2085975" cy="0"/>
          </a:xfrm>
          <a:prstGeom xmlns:a="http://schemas.openxmlformats.org/drawingml/2006/main" prst="straightConnector1">
            <a:avLst/>
          </a:prstGeom>
          <a:ln xmlns:a="http://schemas.openxmlformats.org/drawingml/2006/main" w="22860">
            <a:solidFill>
              <a:srgbClr val="37D67A"/>
            </a:solidFill>
            <a:prstDash val="solid"/>
            <a:tailEnd type="triangle" w="med" len="med"/>
          </a:ln>
        </p:spPr>
      </p:cxnSp>
      <p:sp>
        <p:nvSpPr>
          <p:cNvPr id="13" name="5 AAPL + 1,200 USDG">
            <a:extLst xmlns:a="http://schemas.openxmlformats.org/drawingml/2006/main">
              <a:ext uri="{FF2B5EF4-FFF2-40B4-BE49-F238E27FC236}">
                <a16:creationId xmlns:a16="http://schemas.microsoft.com/office/drawing/2014/main" id="{DD710626-58D2-4D73-A294-3FE561CB3567}"/>
              </a:ext>
            </a:extLst>
          </p:cNvPr>
          <p:cNvSpPr>
            <a:spLocks xmlns:a="http://schemas.openxmlformats.org/drawingml/2006/main" noGrp="1"/>
          </p:cNvSpPr>
          <p:nvPr/>
        </p:nvSpPr>
        <p:spPr>
          <a:xfrm xmlns:a="http://schemas.openxmlformats.org/drawingml/2006/main">
            <a:off x="3733800" y="2228850"/>
            <a:ext cx="4695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37D67A"/>
                </a:solidFill>
                <a:latin typeface="Arial"/>
                <a:ea typeface="Arial"/>
                <a:cs typeface="Arial"/>
              </a:defRPr>
            </a:pPr>
            <a:r>
              <a:rPr sz="2100" b="1">
                <a:solidFill>
                  <a:srgbClr val="37D67A"/>
                </a:solidFill>
                <a:latin typeface="Arial"/>
                <a:ea typeface="Arial"/>
                <a:cs typeface="Arial"/>
              </a:rPr>
              <a:t>5 AAPL + 1,200 USDG</a:t>
            </a:r>
          </a:p>
        </p:txBody>
      </p:sp>
      <p:sp>
        <p:nvSpPr>
          <p:cNvPr id="14" name="Buyer">
            <a:extLst xmlns:a="http://schemas.openxmlformats.org/drawingml/2006/main">
              <a:ext uri="{FF2B5EF4-FFF2-40B4-BE49-F238E27FC236}">
                <a16:creationId xmlns:a16="http://schemas.microsoft.com/office/drawing/2014/main" id="{B0436081-32CD-4467-93B1-6C3B0EF203C2}"/>
              </a:ext>
            </a:extLst>
          </p:cNvPr>
          <p:cNvSpPr>
            <a:spLocks xmlns:a="http://schemas.openxmlformats.org/drawingml/2006/main" noGrp="1"/>
          </p:cNvSpPr>
          <p:nvPr/>
        </p:nvSpPr>
        <p:spPr>
          <a:xfrm xmlns:a="http://schemas.openxmlformats.org/drawingml/2006/main">
            <a:off x="4457700" y="4524375"/>
            <a:ext cx="2286000" cy="952500"/>
          </a:xfrm>
          <a:prstGeom xmlns:a="http://schemas.openxmlformats.org/drawingml/2006/main" prst="rect">
            <a:avLst/>
          </a:prstGeom>
          <a:solidFill xmlns:a="http://schemas.openxmlformats.org/drawingml/2006/main">
            <a:srgbClr val="08080A"/>
          </a:solidFill>
          <a:ln xmlns:a="http://schemas.openxmlformats.org/drawingml/2006/main" w="14288">
            <a:solidFill>
              <a:srgbClr val="FF00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250" b="1">
                <a:solidFill>
                  <a:srgbClr val="FF007A"/>
                </a:solidFill>
                <a:latin typeface="Arial"/>
                <a:ea typeface="Arial"/>
                <a:cs typeface="Arial"/>
              </a:defRPr>
            </a:pPr>
            <a:r>
              <a:rPr sz="2250" b="1">
                <a:solidFill>
                  <a:srgbClr val="FF007A"/>
                </a:solidFill>
                <a:latin typeface="Arial"/>
                <a:ea typeface="Arial"/>
                <a:cs typeface="Arial"/>
              </a:rPr>
              <a:t>Buyer</a:t>
            </a:r>
          </a:p>
        </p:txBody>
      </p:sp>
      <p:cxnSp>
        <p:nvCxnSpPr>
          <p:cNvPr id="37" name=""/>
          <p:cNvCxnSpPr>
            <a:stCxn xmlns:a="http://schemas.openxmlformats.org/drawingml/2006/main" id="14" idx="3"/>
            <a:endCxn xmlns:a="http://schemas.openxmlformats.org/drawingml/2006/main" id="9" idx="2"/>
          </p:cNvCxnSpPr>
          <p:nvPr/>
        </p:nvCxnSpPr>
        <p:spPr>
          <a:xfrm xmlns:a="http://schemas.openxmlformats.org/drawingml/2006/main" flipV="1">
            <a:off x="6743700" y="4238625"/>
            <a:ext cx="3419475" cy="762000"/>
          </a:xfrm>
          <a:prstGeom xmlns:a="http://schemas.openxmlformats.org/drawingml/2006/main" prst="bentConnector2">
            <a:avLst/>
          </a:prstGeom>
          <a:ln xmlns:a="http://schemas.openxmlformats.org/drawingml/2006/main" w="22860">
            <a:solidFill>
              <a:srgbClr val="FF007A"/>
            </a:solidFill>
            <a:prstDash val="solid"/>
            <a:tailEnd type="triangle" w="med" len="med"/>
          </a:ln>
        </p:spPr>
      </p:cxnSp>
      <p:sp>
        <p:nvSpPr>
          <p:cNvPr id="16" name="64.0064 USDG premium">
            <a:extLst xmlns:a="http://schemas.openxmlformats.org/drawingml/2006/main">
              <a:ext uri="{FF2B5EF4-FFF2-40B4-BE49-F238E27FC236}">
                <a16:creationId xmlns:a16="http://schemas.microsoft.com/office/drawing/2014/main" id="{CEF2D1AE-3C44-4870-8253-7B4CBF30E273}"/>
              </a:ext>
            </a:extLst>
          </p:cNvPr>
          <p:cNvSpPr>
            <a:spLocks xmlns:a="http://schemas.openxmlformats.org/drawingml/2006/main" noGrp="1"/>
          </p:cNvSpPr>
          <p:nvPr/>
        </p:nvSpPr>
        <p:spPr>
          <a:xfrm xmlns:a="http://schemas.openxmlformats.org/drawingml/2006/main">
            <a:off x="7286625" y="5219700"/>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FF007A"/>
                </a:solidFill>
                <a:latin typeface="Arial"/>
                <a:ea typeface="Arial"/>
                <a:cs typeface="Arial"/>
              </a:defRPr>
            </a:pPr>
            <a:r>
              <a:rPr sz="1875" b="0">
                <a:solidFill>
                  <a:srgbClr val="FF007A"/>
                </a:solidFill>
                <a:latin typeface="Arial"/>
                <a:ea typeface="Arial"/>
                <a:cs typeface="Arial"/>
              </a:rPr>
              <a:t>64.0064 USDG premium</a:t>
            </a:r>
          </a:p>
        </p:txBody>
      </p:sp>
      <p:sp>
        <p:nvSpPr>
          <p:cNvPr id="17" name="5 call + 3 put longs">
            <a:extLst xmlns:a="http://schemas.openxmlformats.org/drawingml/2006/main">
              <a:ext uri="{FF2B5EF4-FFF2-40B4-BE49-F238E27FC236}">
                <a16:creationId xmlns:a16="http://schemas.microsoft.com/office/drawing/2014/main" id="{E609F632-8681-4F90-BA8D-B6BF1BB48846}"/>
              </a:ext>
            </a:extLst>
          </p:cNvPr>
          <p:cNvSpPr>
            <a:spLocks xmlns:a="http://schemas.openxmlformats.org/drawingml/2006/main" noGrp="1"/>
          </p:cNvSpPr>
          <p:nvPr/>
        </p:nvSpPr>
        <p:spPr>
          <a:xfrm xmlns:a="http://schemas.openxmlformats.org/drawingml/2006/main">
            <a:off x="3867150" y="55721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A8A8B2"/>
                </a:solidFill>
                <a:latin typeface="Arial"/>
                <a:ea typeface="Arial"/>
                <a:cs typeface="Arial"/>
              </a:defRPr>
            </a:pPr>
            <a:r>
              <a:rPr sz="1800" b="0">
                <a:solidFill>
                  <a:srgbClr val="A8A8B2"/>
                </a:solidFill>
                <a:latin typeface="Arial"/>
                <a:ea typeface="Arial"/>
                <a:cs typeface="Arial"/>
              </a:rPr>
              <a:t>5 call + 3 put longs</a:t>
            </a:r>
          </a:p>
        </p:txBody>
      </p:sp>
      <p:sp>
        <p:nvSpPr>
          <p:cNvPr id="18" name="5 AAPL">
            <a:extLst xmlns:a="http://schemas.openxmlformats.org/drawingml/2006/main">
              <a:ext uri="{FF2B5EF4-FFF2-40B4-BE49-F238E27FC236}">
                <a16:creationId xmlns:a16="http://schemas.microsoft.com/office/drawing/2014/main" id="{15289116-1A8C-4397-AF5D-4E35AEBEBB74}"/>
              </a:ext>
            </a:extLst>
          </p:cNvPr>
          <p:cNvSpPr>
            <a:spLocks xmlns:a="http://schemas.openxmlformats.org/drawingml/2006/main" noGrp="1"/>
          </p:cNvSpPr>
          <p:nvPr/>
        </p:nvSpPr>
        <p:spPr>
          <a:xfrm xmlns:a="http://schemas.openxmlformats.org/drawingml/2006/main">
            <a:off x="9048750" y="3181350"/>
            <a:ext cx="2228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37D67A"/>
                </a:solidFill>
                <a:latin typeface="Arial"/>
                <a:ea typeface="Arial"/>
                <a:cs typeface="Arial"/>
              </a:defRPr>
            </a:pPr>
            <a:r>
              <a:rPr sz="2325" b="1">
                <a:solidFill>
                  <a:srgbClr val="37D67A"/>
                </a:solidFill>
                <a:latin typeface="Arial"/>
                <a:ea typeface="Arial"/>
                <a:cs typeface="Arial"/>
              </a:rPr>
              <a:t>5 AAPL</a:t>
            </a:r>
          </a:p>
        </p:txBody>
      </p:sp>
      <p:sp>
        <p:nvSpPr>
          <p:cNvPr id="19" name="1,264.0064 USDG">
            <a:extLst xmlns:a="http://schemas.openxmlformats.org/drawingml/2006/main">
              <a:ext uri="{FF2B5EF4-FFF2-40B4-BE49-F238E27FC236}">
                <a16:creationId xmlns:a16="http://schemas.microsoft.com/office/drawing/2014/main" id="{8E617813-049A-4FE5-903F-F88008C8BB9D}"/>
              </a:ext>
            </a:extLst>
          </p:cNvPr>
          <p:cNvSpPr>
            <a:spLocks xmlns:a="http://schemas.openxmlformats.org/drawingml/2006/main" noGrp="1"/>
          </p:cNvSpPr>
          <p:nvPr/>
        </p:nvSpPr>
        <p:spPr>
          <a:xfrm xmlns:a="http://schemas.openxmlformats.org/drawingml/2006/main">
            <a:off x="8953500" y="3752850"/>
            <a:ext cx="2419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FAFAFA"/>
                </a:solidFill>
                <a:latin typeface="Arial"/>
                <a:ea typeface="Arial"/>
                <a:cs typeface="Arial"/>
              </a:defRPr>
            </a:pPr>
            <a:r>
              <a:rPr sz="1875" b="0">
                <a:solidFill>
                  <a:srgbClr val="FAFAFA"/>
                </a:solidFill>
                <a:latin typeface="Arial"/>
                <a:ea typeface="Arial"/>
                <a:cs typeface="Arial"/>
              </a:rPr>
              <a:t>1,264.0064 USDG</a:t>
            </a:r>
          </a:p>
        </p:txBody>
      </p:sp>
      <p:sp>
        <p:nvSpPr>
          <p:cNvPr id="20" name="Remaining promises">
            <a:extLst xmlns:a="http://schemas.openxmlformats.org/drawingml/2006/main">
              <a:ext uri="{FF2B5EF4-FFF2-40B4-BE49-F238E27FC236}">
                <a16:creationId xmlns:a16="http://schemas.microsoft.com/office/drawing/2014/main" id="{5A25062B-0A35-4C36-8E9D-6A54294EAFE8}"/>
              </a:ext>
            </a:extLst>
          </p:cNvPr>
          <p:cNvSpPr>
            <a:spLocks xmlns:a="http://schemas.openxmlformats.org/drawingml/2006/main" noGrp="1"/>
          </p:cNvSpPr>
          <p:nvPr/>
        </p:nvSpPr>
        <p:spPr>
          <a:xfrm xmlns:a="http://schemas.openxmlformats.org/drawingml/2006/main">
            <a:off x="666750" y="454342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A8A8B2"/>
                </a:solidFill>
                <a:latin typeface="Arial"/>
                <a:ea typeface="Arial"/>
                <a:cs typeface="Arial"/>
              </a:defRPr>
            </a:pPr>
            <a:r>
              <a:rPr sz="1950" b="0">
                <a:solidFill>
                  <a:srgbClr val="A8A8B2"/>
                </a:solidFill>
                <a:latin typeface="Arial"/>
                <a:ea typeface="Arial"/>
                <a:cs typeface="Arial"/>
              </a:rPr>
              <a:t>Remaining promises</a:t>
            </a:r>
          </a:p>
        </p:txBody>
      </p:sp>
      <p:sp>
        <p:nvSpPr>
          <p:cNvPr id="21" name="5 AAPL">
            <a:extLst xmlns:a="http://schemas.openxmlformats.org/drawingml/2006/main">
              <a:ext uri="{FF2B5EF4-FFF2-40B4-BE49-F238E27FC236}">
                <a16:creationId xmlns:a16="http://schemas.microsoft.com/office/drawing/2014/main" id="{2E317561-0AAB-4B5E-84F1-A1C385B65502}"/>
              </a:ext>
            </a:extLst>
          </p:cNvPr>
          <p:cNvSpPr>
            <a:spLocks xmlns:a="http://schemas.openxmlformats.org/drawingml/2006/main" noGrp="1"/>
          </p:cNvSpPr>
          <p:nvPr/>
        </p:nvSpPr>
        <p:spPr>
          <a:xfrm xmlns:a="http://schemas.openxmlformats.org/drawingml/2006/main">
            <a:off x="666750" y="5019675"/>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5 AAPL</a:t>
            </a:r>
          </a:p>
        </p:txBody>
      </p:sp>
      <p:sp>
        <p:nvSpPr>
          <p:cNvPr id="22" name="2,800 USDG">
            <a:extLst xmlns:a="http://schemas.openxmlformats.org/drawingml/2006/main">
              <a:ext uri="{FF2B5EF4-FFF2-40B4-BE49-F238E27FC236}">
                <a16:creationId xmlns:a16="http://schemas.microsoft.com/office/drawing/2014/main" id="{BD4BA713-12EA-457A-B997-797B8ECB749F}"/>
              </a:ext>
            </a:extLst>
          </p:cNvPr>
          <p:cNvSpPr>
            <a:spLocks xmlns:a="http://schemas.openxmlformats.org/drawingml/2006/main" noGrp="1"/>
          </p:cNvSpPr>
          <p:nvPr/>
        </p:nvSpPr>
        <p:spPr>
          <a:xfrm xmlns:a="http://schemas.openxmlformats.org/drawingml/2006/main">
            <a:off x="666750" y="5476875"/>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2,800 USDG</a:t>
            </a:r>
          </a:p>
        </p:txBody>
      </p:sp>
    </p:spTree>
    <p:extLst>
      <p:ext uri="{BB962C8B-B14F-4D97-AF65-F5344CB8AC3E}">
        <p14:creationId xmlns:p14="http://schemas.microsoft.com/office/powerpoint/2010/main" val="1673587602"/>
      </p:ext>
    </p:extLst>
  </p:cSld>
</p:sld>
</file>

<file path=ppt/slides/slide8.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20" name="What the hook records">
            <a:extLst xmlns:a="http://schemas.openxmlformats.org/drawingml/2006/main">
              <a:ext uri="{FF2B5EF4-FFF2-40B4-BE49-F238E27FC236}">
                <a16:creationId xmlns:a16="http://schemas.microsoft.com/office/drawing/2014/main" id="{8F19E28B-F36C-4E58-9AD8-E83858BE89F7}"/>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What the hook records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52bd82d8e884afd"/>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C27B43F6-6ED9-421E-9D98-FF65EB3C2415}"/>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8">
            <a:extLst xmlns:a="http://schemas.openxmlformats.org/drawingml/2006/main">
              <a:ext uri="{FF2B5EF4-FFF2-40B4-BE49-F238E27FC236}">
                <a16:creationId xmlns:a16="http://schemas.microsoft.com/office/drawing/2014/main" id="{7C41F00F-95AE-471A-8E3C-81893994CAF1}"/>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8</a:t>
            </a:r>
          </a:p>
        </p:txBody>
      </p:sp>
      <p:sp>
        <p:nvSpPr>
          <p:cNvPr id="5" name="Before first swap of the second">
            <a:extLst xmlns:a="http://schemas.openxmlformats.org/drawingml/2006/main">
              <a:ext uri="{FF2B5EF4-FFF2-40B4-BE49-F238E27FC236}">
                <a16:creationId xmlns:a16="http://schemas.microsoft.com/office/drawing/2014/main" id="{5637CDC5-9F1E-4071-87AE-C2FD5323DF46}"/>
              </a:ext>
            </a:extLst>
          </p:cNvPr>
          <p:cNvSpPr>
            <a:spLocks xmlns:a="http://schemas.openxmlformats.org/drawingml/2006/main" noGrp="1"/>
          </p:cNvSpPr>
          <p:nvPr/>
        </p:nvSpPr>
        <p:spPr>
          <a:xfrm xmlns:a="http://schemas.openxmlformats.org/drawingml/2006/main">
            <a:off x="657225" y="1438275"/>
            <a:ext cx="771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FAFAFA"/>
                </a:solidFill>
                <a:latin typeface="Arial"/>
                <a:ea typeface="Arial"/>
                <a:cs typeface="Arial"/>
              </a:defRPr>
            </a:pPr>
            <a:r>
              <a:rPr sz="2250" b="1">
                <a:solidFill>
                  <a:srgbClr val="FAFAFA"/>
                </a:solidFill>
                <a:latin typeface="Arial"/>
                <a:ea typeface="Arial"/>
                <a:cs typeface="Arial"/>
              </a:rPr>
              <a:t>Before first swap of the second</a:t>
            </a:r>
          </a:p>
        </p:txBody>
      </p:sp>
      <p:sp>
        <p:nvSpPr>
          <p:cNvPr id="6" name="Record">
            <a:extLst xmlns:a="http://schemas.openxmlformats.org/drawingml/2006/main">
              <a:ext uri="{FF2B5EF4-FFF2-40B4-BE49-F238E27FC236}">
                <a16:creationId xmlns:a16="http://schemas.microsoft.com/office/drawing/2014/main" id="{7EB36D38-C7E7-4500-A91E-3CE3D7462E09}"/>
              </a:ext>
            </a:extLst>
          </p:cNvPr>
          <p:cNvSpPr>
            <a:spLocks xmlns:a="http://schemas.openxmlformats.org/drawingml/2006/main" noGrp="1"/>
          </p:cNvSpPr>
          <p:nvPr/>
        </p:nvSpPr>
        <p:spPr>
          <a:xfrm xmlns:a="http://schemas.openxmlformats.org/drawingml/2006/main">
            <a:off x="666750" y="2286000"/>
            <a:ext cx="2190750" cy="81915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175" b="1">
                <a:solidFill>
                  <a:srgbClr val="37D67A"/>
                </a:solidFill>
                <a:latin typeface="Arial"/>
                <a:ea typeface="Arial"/>
                <a:cs typeface="Arial"/>
              </a:defRPr>
            </a:pPr>
            <a:r>
              <a:rPr sz="2175" b="1">
                <a:solidFill>
                  <a:srgbClr val="37D67A"/>
                </a:solidFill>
                <a:latin typeface="Arial"/>
                <a:ea typeface="Arial"/>
                <a:cs typeface="Arial"/>
              </a:rPr>
              <a:t>Record</a:t>
            </a:r>
          </a:p>
        </p:txBody>
      </p:sp>
      <p:sp>
        <p:nvSpPr>
          <p:cNvPr id="7" name="Push">
            <a:extLst xmlns:a="http://schemas.openxmlformats.org/drawingml/2006/main">
              <a:ext uri="{FF2B5EF4-FFF2-40B4-BE49-F238E27FC236}">
                <a16:creationId xmlns:a16="http://schemas.microsoft.com/office/drawing/2014/main" id="{53EAAB60-2826-4CAD-99FF-9C84B306E70F}"/>
              </a:ext>
            </a:extLst>
          </p:cNvPr>
          <p:cNvSpPr>
            <a:spLocks xmlns:a="http://schemas.openxmlformats.org/drawingml/2006/main" noGrp="1"/>
          </p:cNvSpPr>
          <p:nvPr/>
        </p:nvSpPr>
        <p:spPr>
          <a:xfrm xmlns:a="http://schemas.openxmlformats.org/drawingml/2006/main">
            <a:off x="3571875" y="2286000"/>
            <a:ext cx="2190750" cy="819150"/>
          </a:xfrm>
          <a:prstGeom xmlns:a="http://schemas.openxmlformats.org/drawingml/2006/main" prst="rect">
            <a:avLst/>
          </a:prstGeom>
          <a:solidFill xmlns:a="http://schemas.openxmlformats.org/drawingml/2006/main">
            <a:srgbClr val="08080A"/>
          </a:solidFill>
          <a:ln xmlns:a="http://schemas.openxmlformats.org/drawingml/2006/main" w="14288">
            <a:solidFill>
              <a:srgbClr val="FF00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175" b="1">
                <a:solidFill>
                  <a:srgbClr val="FF007A"/>
                </a:solidFill>
                <a:latin typeface="Arial"/>
                <a:ea typeface="Arial"/>
                <a:cs typeface="Arial"/>
              </a:defRPr>
            </a:pPr>
            <a:r>
              <a:rPr sz="2175" b="1">
                <a:solidFill>
                  <a:srgbClr val="FF007A"/>
                </a:solidFill>
                <a:latin typeface="Arial"/>
                <a:ea typeface="Arial"/>
                <a:cs typeface="Arial"/>
              </a:rPr>
              <a:t>Push</a:t>
            </a:r>
          </a:p>
        </p:txBody>
      </p:sp>
      <p:sp>
        <p:nvSpPr>
          <p:cNvPr id="8" name="Undo">
            <a:extLst xmlns:a="http://schemas.openxmlformats.org/drawingml/2006/main">
              <a:ext uri="{FF2B5EF4-FFF2-40B4-BE49-F238E27FC236}">
                <a16:creationId xmlns:a16="http://schemas.microsoft.com/office/drawing/2014/main" id="{9C90F27F-8F48-48E3-9201-D458737E1DDD}"/>
              </a:ext>
            </a:extLst>
          </p:cNvPr>
          <p:cNvSpPr>
            <a:spLocks xmlns:a="http://schemas.openxmlformats.org/drawingml/2006/main" noGrp="1"/>
          </p:cNvSpPr>
          <p:nvPr/>
        </p:nvSpPr>
        <p:spPr>
          <a:xfrm xmlns:a="http://schemas.openxmlformats.org/drawingml/2006/main">
            <a:off x="6477000" y="2286000"/>
            <a:ext cx="2190750" cy="81915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175" b="1">
                <a:solidFill>
                  <a:srgbClr val="37D67A"/>
                </a:solidFill>
                <a:latin typeface="Arial"/>
                <a:ea typeface="Arial"/>
                <a:cs typeface="Arial"/>
              </a:defRPr>
            </a:pPr>
            <a:r>
              <a:rPr sz="2175" b="1">
                <a:solidFill>
                  <a:srgbClr val="37D67A"/>
                </a:solidFill>
                <a:latin typeface="Arial"/>
                <a:ea typeface="Arial"/>
                <a:cs typeface="Arial"/>
              </a:rPr>
              <a:t>Undo</a:t>
            </a:r>
          </a:p>
        </p:txBody>
      </p:sp>
      <p:sp>
        <p:nvSpPr>
          <p:cNvPr id="9" name="Next record">
            <a:extLst xmlns:a="http://schemas.openxmlformats.org/drawingml/2006/main">
              <a:ext uri="{FF2B5EF4-FFF2-40B4-BE49-F238E27FC236}">
                <a16:creationId xmlns:a16="http://schemas.microsoft.com/office/drawing/2014/main" id="{0A73AA12-76EB-4878-AB9C-ECFA9D482723}"/>
              </a:ext>
            </a:extLst>
          </p:cNvPr>
          <p:cNvSpPr>
            <a:spLocks xmlns:a="http://schemas.openxmlformats.org/drawingml/2006/main" noGrp="1"/>
          </p:cNvSpPr>
          <p:nvPr/>
        </p:nvSpPr>
        <p:spPr>
          <a:xfrm xmlns:a="http://schemas.openxmlformats.org/drawingml/2006/main">
            <a:off x="9382125" y="2286000"/>
            <a:ext cx="2190750" cy="81915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175" b="1">
                <a:solidFill>
                  <a:srgbClr val="37D67A"/>
                </a:solidFill>
                <a:latin typeface="Arial"/>
                <a:ea typeface="Arial"/>
                <a:cs typeface="Arial"/>
              </a:defRPr>
            </a:pPr>
            <a:r>
              <a:rPr sz="2175" b="1">
                <a:solidFill>
                  <a:srgbClr val="37D67A"/>
                </a:solidFill>
                <a:latin typeface="Arial"/>
                <a:ea typeface="Arial"/>
                <a:cs typeface="Arial"/>
              </a:rPr>
              <a:t>Next record</a:t>
            </a:r>
          </a:p>
        </p:txBody>
      </p:sp>
      <p:cxnSp>
        <p:nvCxnSpPr>
          <p:cNvPr id="29" name=""/>
          <p:cNvCxnSpPr>
            <a:stCxn xmlns:a="http://schemas.openxmlformats.org/drawingml/2006/main" id="6" idx="3"/>
            <a:endCxn xmlns:a="http://schemas.openxmlformats.org/drawingml/2006/main" id="7" idx="1"/>
          </p:cNvCxnSpPr>
          <p:nvPr/>
        </p:nvCxnSpPr>
        <p:spPr>
          <a:xfrm xmlns:a="http://schemas.openxmlformats.org/drawingml/2006/main">
            <a:off x="2857500" y="2695575"/>
            <a:ext cx="714375" cy="0"/>
          </a:xfrm>
          <a:prstGeom xmlns:a="http://schemas.openxmlformats.org/drawingml/2006/main" prst="straightConnector1">
            <a:avLst/>
          </a:prstGeom>
          <a:ln xmlns:a="http://schemas.openxmlformats.org/drawingml/2006/main" w="22860">
            <a:solidFill>
              <a:srgbClr val="A8A8B2"/>
            </a:solidFill>
            <a:prstDash val="solid"/>
            <a:tailEnd type="triangle" w="med" len="med"/>
          </a:ln>
        </p:spPr>
      </p:cxnSp>
      <p:cxnSp>
        <p:nvCxnSpPr>
          <p:cNvPr id="30" name=""/>
          <p:cNvCxnSpPr>
            <a:stCxn xmlns:a="http://schemas.openxmlformats.org/drawingml/2006/main" id="7" idx="3"/>
            <a:endCxn xmlns:a="http://schemas.openxmlformats.org/drawingml/2006/main" id="8" idx="1"/>
          </p:cNvCxnSpPr>
          <p:nvPr/>
        </p:nvCxnSpPr>
        <p:spPr>
          <a:xfrm xmlns:a="http://schemas.openxmlformats.org/drawingml/2006/main">
            <a:off x="5762625" y="2695575"/>
            <a:ext cx="714375" cy="0"/>
          </a:xfrm>
          <a:prstGeom xmlns:a="http://schemas.openxmlformats.org/drawingml/2006/main" prst="straightConnector1">
            <a:avLst/>
          </a:prstGeom>
          <a:ln xmlns:a="http://schemas.openxmlformats.org/drawingml/2006/main" w="22860">
            <a:solidFill>
              <a:srgbClr val="A8A8B2"/>
            </a:solidFill>
            <a:prstDash val="solid"/>
            <a:tailEnd type="triangle" w="med" len="med"/>
          </a:ln>
        </p:spPr>
      </p:cxnSp>
      <p:cxnSp>
        <p:nvCxnSpPr>
          <p:cNvPr id="31" name=""/>
          <p:cNvCxnSpPr>
            <a:stCxn xmlns:a="http://schemas.openxmlformats.org/drawingml/2006/main" id="8" idx="3"/>
            <a:endCxn xmlns:a="http://schemas.openxmlformats.org/drawingml/2006/main" id="9" idx="1"/>
          </p:cNvCxnSpPr>
          <p:nvPr/>
        </p:nvCxnSpPr>
        <p:spPr>
          <a:xfrm xmlns:a="http://schemas.openxmlformats.org/drawingml/2006/main">
            <a:off x="8667750" y="2695575"/>
            <a:ext cx="714375" cy="0"/>
          </a:xfrm>
          <a:prstGeom xmlns:a="http://schemas.openxmlformats.org/drawingml/2006/main" prst="straightConnector1">
            <a:avLst/>
          </a:prstGeom>
          <a:ln xmlns:a="http://schemas.openxmlformats.org/drawingml/2006/main" w="22860">
            <a:solidFill>
              <a:srgbClr val="A8A8B2"/>
            </a:solidFill>
            <a:prstDash val="solid"/>
            <a:tailEnd type="triangle" w="med" len="med"/>
          </a:ln>
        </p:spPr>
      </p:cxnSp>
      <p:sp>
        <p:nvSpPr>
          <p:cNvPr id="13" name="Push + undo in one transaction">
            <a:extLst xmlns:a="http://schemas.openxmlformats.org/drawingml/2006/main">
              <a:ext uri="{FF2B5EF4-FFF2-40B4-BE49-F238E27FC236}">
                <a16:creationId xmlns:a16="http://schemas.microsoft.com/office/drawing/2014/main" id="{FAA723A2-8BF4-4953-B516-0D3D5FC5AD9E}"/>
              </a:ext>
            </a:extLst>
          </p:cNvPr>
          <p:cNvSpPr>
            <a:spLocks xmlns:a="http://schemas.openxmlformats.org/drawingml/2006/main" noGrp="1"/>
          </p:cNvSpPr>
          <p:nvPr/>
        </p:nvSpPr>
        <p:spPr>
          <a:xfrm xmlns:a="http://schemas.openxmlformats.org/drawingml/2006/main">
            <a:off x="3514725" y="3390900"/>
            <a:ext cx="51720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FF007A"/>
                </a:solidFill>
                <a:latin typeface="Arial"/>
                <a:ea typeface="Arial"/>
                <a:cs typeface="Arial"/>
              </a:defRPr>
            </a:pPr>
            <a:r>
              <a:rPr sz="2175" b="0">
                <a:solidFill>
                  <a:srgbClr val="FF007A"/>
                </a:solidFill>
                <a:latin typeface="Arial"/>
                <a:ea typeface="Arial"/>
                <a:cs typeface="Arial"/>
              </a:rPr>
              <a:t>Push + undo in one transaction</a:t>
            </a:r>
          </a:p>
        </p:txBody>
      </p:sp>
      <p:sp>
        <p:nvSpPr>
          <p:cNvPr id="14" name="">
            <a:extLst xmlns:a="http://schemas.openxmlformats.org/drawingml/2006/main">
              <a:ext uri="{FF2B5EF4-FFF2-40B4-BE49-F238E27FC236}">
                <a16:creationId xmlns:a16="http://schemas.microsoft.com/office/drawing/2014/main" id="{858EB8B0-6F7F-469C-8E12-87F043A3533D}"/>
              </a:ext>
            </a:extLst>
          </p:cNvPr>
          <p:cNvSpPr>
            <a:spLocks xmlns:a="http://schemas.openxmlformats.org/drawingml/2006/main" noGrp="1"/>
          </p:cNvSpPr>
          <p:nvPr/>
        </p:nvSpPr>
        <p:spPr>
          <a:xfrm xmlns:a="http://schemas.openxmlformats.org/drawingml/2006/main">
            <a:off x="657225" y="4095750"/>
            <a:ext cx="10858500" cy="0"/>
          </a:xfrm>
          <a:prstGeom xmlns:a="http://schemas.openxmlformats.org/drawingml/2006/main" prst="line">
            <a:avLst/>
          </a:prstGeom>
          <a:noFill xmlns:a="http://schemas.openxmlformats.org/drawingml/2006/main"/>
          <a:ln xmlns:a="http://schemas.openxmlformats.org/drawingml/2006/main" w="9525">
            <a:solidFill>
              <a:srgbClr val="33333D"/>
            </a:solidFill>
          </a:ln>
        </p:spPr>
      </p:sp>
      <p:sp>
        <p:nvSpPr>
          <p:cNvPr id="15" name="Raw tick TWAP">
            <a:extLst xmlns:a="http://schemas.openxmlformats.org/drawingml/2006/main">
              <a:ext uri="{FF2B5EF4-FFF2-40B4-BE49-F238E27FC236}">
                <a16:creationId xmlns:a16="http://schemas.microsoft.com/office/drawing/2014/main" id="{B2990D1B-4437-47E5-800C-92329105C86D}"/>
              </a:ext>
            </a:extLst>
          </p:cNvPr>
          <p:cNvSpPr>
            <a:spLocks xmlns:a="http://schemas.openxmlformats.org/drawingml/2006/main" noGrp="1"/>
          </p:cNvSpPr>
          <p:nvPr/>
        </p:nvSpPr>
        <p:spPr>
          <a:xfrm xmlns:a="http://schemas.openxmlformats.org/drawingml/2006/main">
            <a:off x="666750" y="4381500"/>
            <a:ext cx="5143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1">
                <a:solidFill>
                  <a:srgbClr val="FAFAFA"/>
                </a:solidFill>
                <a:latin typeface="Arial"/>
                <a:ea typeface="Arial"/>
                <a:cs typeface="Arial"/>
              </a:defRPr>
            </a:pPr>
            <a:r>
              <a:rPr sz="2625" b="1">
                <a:solidFill>
                  <a:srgbClr val="FAFAFA"/>
                </a:solidFill>
                <a:latin typeface="Arial"/>
                <a:ea typeface="Arial"/>
                <a:cs typeface="Arial"/>
              </a:rPr>
              <a:t>Raw tick TWAP</a:t>
            </a:r>
          </a:p>
        </p:txBody>
      </p:sp>
      <p:sp>
        <p:nvSpPr>
          <p:cNvPr id="16" name="Truncated tick TWAP">
            <a:extLst xmlns:a="http://schemas.openxmlformats.org/drawingml/2006/main">
              <a:ext uri="{FF2B5EF4-FFF2-40B4-BE49-F238E27FC236}">
                <a16:creationId xmlns:a16="http://schemas.microsoft.com/office/drawing/2014/main" id="{BAAEBB70-456E-4718-AC3C-C6F096A36FF0}"/>
              </a:ext>
            </a:extLst>
          </p:cNvPr>
          <p:cNvSpPr>
            <a:spLocks xmlns:a="http://schemas.openxmlformats.org/drawingml/2006/main" noGrp="1"/>
          </p:cNvSpPr>
          <p:nvPr/>
        </p:nvSpPr>
        <p:spPr>
          <a:xfrm xmlns:a="http://schemas.openxmlformats.org/drawingml/2006/main">
            <a:off x="6562725" y="4381500"/>
            <a:ext cx="5048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1">
                <a:solidFill>
                  <a:srgbClr val="FAFAFA"/>
                </a:solidFill>
                <a:latin typeface="Arial"/>
                <a:ea typeface="Arial"/>
                <a:cs typeface="Arial"/>
              </a:defRPr>
            </a:pPr>
            <a:r>
              <a:rPr sz="2625" b="1">
                <a:solidFill>
                  <a:srgbClr val="FAFAFA"/>
                </a:solidFill>
                <a:latin typeface="Arial"/>
                <a:ea typeface="Arial"/>
                <a:cs typeface="Arial"/>
              </a:rPr>
              <a:t>Truncated tick TWAP</a:t>
            </a:r>
          </a:p>
        </p:txBody>
      </p:sp>
      <p:sp>
        <p:nvSpPr>
          <p:cNvPr id="17" name="1-hour center">
            <a:extLst xmlns:a="http://schemas.openxmlformats.org/drawingml/2006/main">
              <a:ext uri="{FF2B5EF4-FFF2-40B4-BE49-F238E27FC236}">
                <a16:creationId xmlns:a16="http://schemas.microsoft.com/office/drawing/2014/main" id="{22CCDF99-2309-4426-B7AE-DDE0A061C5F2}"/>
              </a:ext>
            </a:extLst>
          </p:cNvPr>
          <p:cNvSpPr>
            <a:spLocks xmlns:a="http://schemas.openxmlformats.org/drawingml/2006/main" noGrp="1"/>
          </p:cNvSpPr>
          <p:nvPr/>
        </p:nvSpPr>
        <p:spPr>
          <a:xfrm xmlns:a="http://schemas.openxmlformats.org/drawingml/2006/main">
            <a:off x="666750" y="5000625"/>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37D67A"/>
                </a:solidFill>
                <a:latin typeface="Arial"/>
                <a:ea typeface="Arial"/>
                <a:cs typeface="Arial"/>
              </a:defRPr>
            </a:pPr>
            <a:r>
              <a:rPr sz="2175" b="0">
                <a:solidFill>
                  <a:srgbClr val="37D67A"/>
                </a:solidFill>
                <a:latin typeface="Arial"/>
                <a:ea typeface="Arial"/>
                <a:cs typeface="Arial"/>
              </a:rPr>
              <a:t>1-hour center</a:t>
            </a:r>
          </a:p>
        </p:txBody>
      </p:sp>
      <p:sp>
        <p:nvSpPr>
          <p:cNvPr id="18" name="≤250 ticks per record">
            <a:extLst xmlns:a="http://schemas.openxmlformats.org/drawingml/2006/main">
              <a:ext uri="{FF2B5EF4-FFF2-40B4-BE49-F238E27FC236}">
                <a16:creationId xmlns:a16="http://schemas.microsoft.com/office/drawing/2014/main" id="{BF23C056-6BA1-48D2-8FFC-E59FBDEBA5B0}"/>
              </a:ext>
            </a:extLst>
          </p:cNvPr>
          <p:cNvSpPr>
            <a:spLocks xmlns:a="http://schemas.openxmlformats.org/drawingml/2006/main" noGrp="1"/>
          </p:cNvSpPr>
          <p:nvPr/>
        </p:nvSpPr>
        <p:spPr>
          <a:xfrm xmlns:a="http://schemas.openxmlformats.org/drawingml/2006/main">
            <a:off x="6562725" y="5000625"/>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37D67A"/>
                </a:solidFill>
                <a:latin typeface="Arial"/>
                <a:ea typeface="Arial"/>
                <a:cs typeface="Arial"/>
              </a:defRPr>
            </a:pPr>
            <a:r>
              <a:rPr sz="2175" b="0">
                <a:solidFill>
                  <a:srgbClr val="37D67A"/>
                </a:solidFill>
                <a:latin typeface="Arial"/>
                <a:ea typeface="Arial"/>
                <a:cs typeface="Arial"/>
              </a:rPr>
              <a:t>≤250 ticks per record</a:t>
            </a:r>
          </a:p>
        </p:txBody>
      </p:sp>
      <p:sp>
        <p:nvSpPr>
          <p:cNvPr id="19" name="OpenZeppelin / Panoptic oracle. Sustained moves can become t">
            <a:extLst xmlns:a="http://schemas.openxmlformats.org/drawingml/2006/main">
              <a:ext uri="{FF2B5EF4-FFF2-40B4-BE49-F238E27FC236}">
                <a16:creationId xmlns:a16="http://schemas.microsoft.com/office/drawing/2014/main" id="{46ED71B6-C049-475B-91BA-0B34840AD553}"/>
              </a:ext>
            </a:extLst>
          </p:cNvPr>
          <p:cNvSpPr>
            <a:spLocks xmlns:a="http://schemas.openxmlformats.org/drawingml/2006/main" noGrp="1"/>
          </p:cNvSpPr>
          <p:nvPr/>
        </p:nvSpPr>
        <p:spPr>
          <a:xfrm xmlns:a="http://schemas.openxmlformats.org/drawingml/2006/main">
            <a:off x="666750" y="57816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8A8B2"/>
                </a:solidFill>
                <a:latin typeface="Arial"/>
                <a:ea typeface="Arial"/>
                <a:cs typeface="Arial"/>
              </a:defRPr>
            </a:pPr>
            <a:r>
              <a:rPr sz="1725" b="0">
                <a:solidFill>
                  <a:srgbClr val="A8A8B2"/>
                </a:solidFill>
                <a:latin typeface="Arial"/>
                <a:ea typeface="Arial"/>
                <a:cs typeface="Arial"/>
              </a:rPr>
              <a:t>OpenZeppelin / Panoptic oracle. Sustained moves can become the center.</a:t>
            </a:r>
          </a:p>
        </p:txBody>
      </p:sp>
    </p:spTree>
    <p:extLst>
      <p:ext uri="{BB962C8B-B14F-4D97-AF65-F5344CB8AC3E}">
        <p14:creationId xmlns:p14="http://schemas.microsoft.com/office/powerpoint/2010/main" val="1675543057"/>
      </p:ext>
    </p:extLst>
  </p:cSld>
</p:sld>
</file>

<file path=ppt/slides/slide9.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20" name="The reference defines a fixed band">
            <a:extLst xmlns:a="http://schemas.openxmlformats.org/drawingml/2006/main">
              <a:ext uri="{FF2B5EF4-FFF2-40B4-BE49-F238E27FC236}">
                <a16:creationId xmlns:a16="http://schemas.microsoft.com/office/drawing/2014/main" id="{6EA2682B-791D-4C0C-A183-0ADA89FDD3E5}"/>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The reference defines a fixed band</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dc8181213244a1a"/>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360D0BC7-87B8-40C2-9C92-66D7B7121434}"/>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APL example / illustrative amounts">
            <a:extLst xmlns:a="http://schemas.openxmlformats.org/drawingml/2006/main">
              <a:ext uri="{FF2B5EF4-FFF2-40B4-BE49-F238E27FC236}">
                <a16:creationId xmlns:a16="http://schemas.microsoft.com/office/drawing/2014/main" id="{2A32AA4D-1F0B-43AF-949D-13D2C804AF40}"/>
              </a:ext>
            </a:extLst>
          </p:cNvPr>
          <p:cNvSpPr>
            <a:spLocks xmlns:a="http://schemas.openxmlformats.org/drawingml/2006/main" noGrp="1"/>
          </p:cNvSpPr>
          <p:nvPr/>
        </p:nvSpPr>
        <p:spPr>
          <a:xfrm xmlns:a="http://schemas.openxmlformats.org/drawingml/2006/main">
            <a:off x="3905250" y="61531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AAPL example / illustrative amounts</a:t>
            </a:r>
          </a:p>
        </p:txBody>
      </p:sp>
      <p:sp>
        <p:nvSpPr>
          <p:cNvPr id="5" name="9">
            <a:extLst xmlns:a="http://schemas.openxmlformats.org/drawingml/2006/main">
              <a:ext uri="{FF2B5EF4-FFF2-40B4-BE49-F238E27FC236}">
                <a16:creationId xmlns:a16="http://schemas.microsoft.com/office/drawing/2014/main" id="{D9F5F7BC-8D41-4692-85A6-750E1F66E0AB}"/>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9</a:t>
            </a:r>
          </a:p>
        </p:txBody>
      </p:sp>
      <p:graphicFrame>
        <p:nvGraphicFramePr>
          <p:cNvPr id="25" name="Chart"/>
          <p:cNvGraphicFramePr/>
          <p:nvPr/>
        </p:nvGraphicFramePr>
        <p:xfrm>
          <a:off xmlns:a="http://schemas.openxmlformats.org/drawingml/2006/main" x="552450" y="1981200"/>
          <a:ext xmlns:a="http://schemas.openxmlformats.org/drawingml/2006/main" cx="8029575" cy="3429000"/>
        </p:xfrm>
        <a:graphic xmlns:a="http://schemas.openxmlformats.org/drawingml/2006/main">
          <a:graphicData uri="http://schemas.openxmlformats.org/drawingml/2006/chart">
            <c:chart xmlns:r="http://schemas.openxmlformats.org/officeDocument/2006/relationships" xmlns:c="http://schemas.openxmlformats.org/drawingml/2006/chart" r:id="Rc926f00a86fc4514"/>
          </a:graphicData>
        </a:graphic>
      </p:graphicFrame>
      <p:sp>
        <p:nvSpPr>
          <p:cNvPr id="7" name="USDG">
            <a:extLst xmlns:a="http://schemas.openxmlformats.org/drawingml/2006/main">
              <a:ext uri="{FF2B5EF4-FFF2-40B4-BE49-F238E27FC236}">
                <a16:creationId xmlns:a16="http://schemas.microsoft.com/office/drawing/2014/main" id="{B51FB3E0-C83C-4864-AB4D-2FD0C134F2AD}"/>
              </a:ext>
            </a:extLst>
          </p:cNvPr>
          <p:cNvSpPr>
            <a:spLocks xmlns:a="http://schemas.openxmlformats.org/drawingml/2006/main" noGrp="1"/>
          </p:cNvSpPr>
          <p:nvPr/>
        </p:nvSpPr>
        <p:spPr>
          <a:xfrm xmlns:a="http://schemas.openxmlformats.org/drawingml/2006/main">
            <a:off x="685800" y="14478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8A8B2"/>
                </a:solidFill>
                <a:latin typeface="Arial"/>
                <a:ea typeface="Arial"/>
                <a:cs typeface="Arial"/>
              </a:defRPr>
            </a:pPr>
            <a:r>
              <a:rPr sz="1800" b="0">
                <a:solidFill>
                  <a:srgbClr val="A8A8B2"/>
                </a:solidFill>
                <a:latin typeface="Arial"/>
                <a:ea typeface="Arial"/>
                <a:cs typeface="Arial"/>
              </a:rPr>
              <a:t>USDG</a:t>
            </a:r>
          </a:p>
        </p:txBody>
      </p:sp>
      <p:sp>
        <p:nvSpPr>
          <p:cNvPr id="8" name="━">
            <a:extLst xmlns:a="http://schemas.openxmlformats.org/drawingml/2006/main">
              <a:ext uri="{FF2B5EF4-FFF2-40B4-BE49-F238E27FC236}">
                <a16:creationId xmlns:a16="http://schemas.microsoft.com/office/drawing/2014/main" id="{F78CB2D7-C05C-4269-9CE6-2129D07114CB}"/>
              </a:ext>
            </a:extLst>
          </p:cNvPr>
          <p:cNvSpPr>
            <a:spLocks xmlns:a="http://schemas.openxmlformats.org/drawingml/2006/main" noGrp="1"/>
          </p:cNvSpPr>
          <p:nvPr/>
        </p:nvSpPr>
        <p:spPr>
          <a:xfrm xmlns:a="http://schemas.openxmlformats.org/drawingml/2006/main">
            <a:off x="885825" y="53911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AFAFA"/>
                </a:solidFill>
                <a:latin typeface="Arial"/>
                <a:ea typeface="Arial"/>
                <a:cs typeface="Arial"/>
              </a:defRPr>
            </a:pPr>
            <a:r>
              <a:rPr sz="1875" b="1">
                <a:solidFill>
                  <a:srgbClr val="FAFAFA"/>
                </a:solidFill>
                <a:latin typeface="Arial"/>
                <a:ea typeface="Arial"/>
                <a:cs typeface="Arial"/>
              </a:rPr>
              <a:t>━</a:t>
            </a:r>
          </a:p>
        </p:txBody>
      </p:sp>
      <p:sp>
        <p:nvSpPr>
          <p:cNvPr id="9" name="Reference">
            <a:extLst xmlns:a="http://schemas.openxmlformats.org/drawingml/2006/main">
              <a:ext uri="{FF2B5EF4-FFF2-40B4-BE49-F238E27FC236}">
                <a16:creationId xmlns:a16="http://schemas.microsoft.com/office/drawing/2014/main" id="{599FFFC0-5C70-4916-9C27-5629E62EF55E}"/>
              </a:ext>
            </a:extLst>
          </p:cNvPr>
          <p:cNvSpPr>
            <a:spLocks xmlns:a="http://schemas.openxmlformats.org/drawingml/2006/main" noGrp="1"/>
          </p:cNvSpPr>
          <p:nvPr/>
        </p:nvSpPr>
        <p:spPr>
          <a:xfrm xmlns:a="http://schemas.openxmlformats.org/drawingml/2006/main">
            <a:off x="1285875" y="5391150"/>
            <a:ext cx="187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Reference</a:t>
            </a:r>
          </a:p>
        </p:txBody>
      </p:sp>
      <p:sp>
        <p:nvSpPr>
          <p:cNvPr id="10" name="━">
            <a:extLst xmlns:a="http://schemas.openxmlformats.org/drawingml/2006/main">
              <a:ext uri="{FF2B5EF4-FFF2-40B4-BE49-F238E27FC236}">
                <a16:creationId xmlns:a16="http://schemas.microsoft.com/office/drawing/2014/main" id="{DECF3900-E00E-4CDD-9141-D1CFDBBBDBDA}"/>
              </a:ext>
            </a:extLst>
          </p:cNvPr>
          <p:cNvSpPr>
            <a:spLocks xmlns:a="http://schemas.openxmlformats.org/drawingml/2006/main" noGrp="1"/>
          </p:cNvSpPr>
          <p:nvPr/>
        </p:nvSpPr>
        <p:spPr>
          <a:xfrm xmlns:a="http://schemas.openxmlformats.org/drawingml/2006/main">
            <a:off x="3219450" y="53911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37D67A"/>
                </a:solidFill>
                <a:latin typeface="Arial"/>
                <a:ea typeface="Arial"/>
                <a:cs typeface="Arial"/>
              </a:defRPr>
            </a:pPr>
            <a:r>
              <a:rPr sz="1875" b="1">
                <a:solidFill>
                  <a:srgbClr val="37D67A"/>
                </a:solidFill>
                <a:latin typeface="Arial"/>
                <a:ea typeface="Arial"/>
                <a:cs typeface="Arial"/>
              </a:rPr>
              <a:t>━</a:t>
            </a:r>
          </a:p>
        </p:txBody>
      </p:sp>
      <p:sp>
        <p:nvSpPr>
          <p:cNvPr id="11" name="TWAP">
            <a:extLst xmlns:a="http://schemas.openxmlformats.org/drawingml/2006/main">
              <a:ext uri="{FF2B5EF4-FFF2-40B4-BE49-F238E27FC236}">
                <a16:creationId xmlns:a16="http://schemas.microsoft.com/office/drawing/2014/main" id="{7D5847E5-4642-46BE-BE62-07AD7455EDE3}"/>
              </a:ext>
            </a:extLst>
          </p:cNvPr>
          <p:cNvSpPr>
            <a:spLocks xmlns:a="http://schemas.openxmlformats.org/drawingml/2006/main" noGrp="1"/>
          </p:cNvSpPr>
          <p:nvPr/>
        </p:nvSpPr>
        <p:spPr>
          <a:xfrm xmlns:a="http://schemas.openxmlformats.org/drawingml/2006/main">
            <a:off x="3619500" y="5391150"/>
            <a:ext cx="187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TWAP</a:t>
            </a:r>
          </a:p>
        </p:txBody>
      </p:sp>
      <p:sp>
        <p:nvSpPr>
          <p:cNvPr id="12" name="━">
            <a:extLst xmlns:a="http://schemas.openxmlformats.org/drawingml/2006/main">
              <a:ext uri="{FF2B5EF4-FFF2-40B4-BE49-F238E27FC236}">
                <a16:creationId xmlns:a16="http://schemas.microsoft.com/office/drawing/2014/main" id="{464AB0C8-ABED-4639-BE37-52271B4CB325}"/>
              </a:ext>
            </a:extLst>
          </p:cNvPr>
          <p:cNvSpPr>
            <a:spLocks xmlns:a="http://schemas.openxmlformats.org/drawingml/2006/main" noGrp="1"/>
          </p:cNvSpPr>
          <p:nvPr/>
        </p:nvSpPr>
        <p:spPr>
          <a:xfrm xmlns:a="http://schemas.openxmlformats.org/drawingml/2006/main">
            <a:off x="5553075" y="53911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5470"/>
                </a:solidFill>
                <a:latin typeface="Arial"/>
                <a:ea typeface="Arial"/>
                <a:cs typeface="Arial"/>
              </a:defRPr>
            </a:pPr>
            <a:r>
              <a:rPr sz="1875" b="1">
                <a:solidFill>
                  <a:srgbClr val="FF5470"/>
                </a:solidFill>
                <a:latin typeface="Arial"/>
                <a:ea typeface="Arial"/>
                <a:cs typeface="Arial"/>
              </a:rPr>
              <a:t>━</a:t>
            </a:r>
          </a:p>
        </p:txBody>
      </p:sp>
      <p:sp>
        <p:nvSpPr>
          <p:cNvPr id="13" name="±5%">
            <a:extLst xmlns:a="http://schemas.openxmlformats.org/drawingml/2006/main">
              <a:ext uri="{FF2B5EF4-FFF2-40B4-BE49-F238E27FC236}">
                <a16:creationId xmlns:a16="http://schemas.microsoft.com/office/drawing/2014/main" id="{7884C0BE-08F9-4E5A-8883-5A8C27EE394E}"/>
              </a:ext>
            </a:extLst>
          </p:cNvPr>
          <p:cNvSpPr>
            <a:spLocks xmlns:a="http://schemas.openxmlformats.org/drawingml/2006/main" noGrp="1"/>
          </p:cNvSpPr>
          <p:nvPr/>
        </p:nvSpPr>
        <p:spPr>
          <a:xfrm xmlns:a="http://schemas.openxmlformats.org/drawingml/2006/main">
            <a:off x="5953125" y="5391150"/>
            <a:ext cx="18764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±5%</a:t>
            </a:r>
          </a:p>
        </p:txBody>
      </p:sp>
      <p:sp>
        <p:nvSpPr>
          <p:cNvPr id="14" name="+5.1%">
            <a:extLst xmlns:a="http://schemas.openxmlformats.org/drawingml/2006/main">
              <a:ext uri="{FF2B5EF4-FFF2-40B4-BE49-F238E27FC236}">
                <a16:creationId xmlns:a16="http://schemas.microsoft.com/office/drawing/2014/main" id="{D41510CB-5EAF-45F2-941C-13307A5C9F91}"/>
              </a:ext>
            </a:extLst>
          </p:cNvPr>
          <p:cNvSpPr>
            <a:spLocks xmlns:a="http://schemas.openxmlformats.org/drawingml/2006/main" noGrp="1"/>
          </p:cNvSpPr>
          <p:nvPr/>
        </p:nvSpPr>
        <p:spPr>
          <a:xfrm xmlns:a="http://schemas.openxmlformats.org/drawingml/2006/main">
            <a:off x="8896350" y="21526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FF5470"/>
                </a:solidFill>
                <a:latin typeface="Arial"/>
                <a:ea typeface="Arial"/>
                <a:cs typeface="Arial"/>
              </a:defRPr>
            </a:pPr>
            <a:r>
              <a:rPr sz="3150" b="1">
                <a:solidFill>
                  <a:srgbClr val="FF5470"/>
                </a:solidFill>
                <a:latin typeface="Arial"/>
                <a:ea typeface="Arial"/>
                <a:cs typeface="Arial"/>
              </a:rPr>
              <a:t>+5.1%</a:t>
            </a:r>
          </a:p>
        </p:txBody>
      </p:sp>
      <p:sp>
        <p:nvSpPr>
          <p:cNvPr id="15" name="Buy refused">
            <a:extLst xmlns:a="http://schemas.openxmlformats.org/drawingml/2006/main">
              <a:ext uri="{FF2B5EF4-FFF2-40B4-BE49-F238E27FC236}">
                <a16:creationId xmlns:a16="http://schemas.microsoft.com/office/drawing/2014/main" id="{3327269F-8432-4EC3-974C-32707BA25C05}"/>
              </a:ext>
            </a:extLst>
          </p:cNvPr>
          <p:cNvSpPr>
            <a:spLocks xmlns:a="http://schemas.openxmlformats.org/drawingml/2006/main" noGrp="1"/>
          </p:cNvSpPr>
          <p:nvPr/>
        </p:nvSpPr>
        <p:spPr>
          <a:xfrm xmlns:a="http://schemas.openxmlformats.org/drawingml/2006/main">
            <a:off x="8896350" y="27622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F5470"/>
                </a:solidFill>
                <a:latin typeface="Arial"/>
                <a:ea typeface="Arial"/>
                <a:cs typeface="Arial"/>
              </a:defRPr>
            </a:pPr>
            <a:r>
              <a:rPr sz="2400" b="1">
                <a:solidFill>
                  <a:srgbClr val="FF5470"/>
                </a:solidFill>
                <a:latin typeface="Arial"/>
                <a:ea typeface="Arial"/>
                <a:cs typeface="Arial"/>
              </a:rPr>
              <a:t>Buy refused</a:t>
            </a:r>
          </a:p>
        </p:txBody>
      </p:sp>
      <p:sp>
        <p:nvSpPr>
          <p:cNvPr id="16" name="Also checked">
            <a:extLst xmlns:a="http://schemas.openxmlformats.org/drawingml/2006/main">
              <a:ext uri="{FF2B5EF4-FFF2-40B4-BE49-F238E27FC236}">
                <a16:creationId xmlns:a16="http://schemas.microsoft.com/office/drawing/2014/main" id="{87792E26-69D5-4017-8C4F-4D5894AFEA26}"/>
              </a:ext>
            </a:extLst>
          </p:cNvPr>
          <p:cNvSpPr>
            <a:spLocks xmlns:a="http://schemas.openxmlformats.org/drawingml/2006/main" noGrp="1"/>
          </p:cNvSpPr>
          <p:nvPr/>
        </p:nvSpPr>
        <p:spPr>
          <a:xfrm xmlns:a="http://schemas.openxmlformats.org/drawingml/2006/main">
            <a:off x="8896350" y="3838575"/>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AFAFA"/>
                </a:solidFill>
                <a:latin typeface="Arial"/>
                <a:ea typeface="Arial"/>
                <a:cs typeface="Arial"/>
              </a:defRPr>
            </a:pPr>
            <a:r>
              <a:rPr sz="1875" b="1">
                <a:solidFill>
                  <a:srgbClr val="FAFAFA"/>
                </a:solidFill>
                <a:latin typeface="Arial"/>
                <a:ea typeface="Arial"/>
                <a:cs typeface="Arial"/>
              </a:rPr>
              <a:t>Also checked</a:t>
            </a:r>
          </a:p>
        </p:txBody>
      </p:sp>
      <p:sp>
        <p:nvSpPr>
          <p:cNvPr id="17" name="History / liquidity">
            <a:extLst xmlns:a="http://schemas.openxmlformats.org/drawingml/2006/main">
              <a:ext uri="{FF2B5EF4-FFF2-40B4-BE49-F238E27FC236}">
                <a16:creationId xmlns:a16="http://schemas.microsoft.com/office/drawing/2014/main" id="{DFACB480-B2F9-4331-B06A-55D2B766A4FF}"/>
              </a:ext>
            </a:extLst>
          </p:cNvPr>
          <p:cNvSpPr>
            <a:spLocks xmlns:a="http://schemas.openxmlformats.org/drawingml/2006/main" noGrp="1"/>
          </p:cNvSpPr>
          <p:nvPr/>
        </p:nvSpPr>
        <p:spPr>
          <a:xfrm xmlns:a="http://schemas.openxmlformats.org/drawingml/2006/main">
            <a:off x="8896350" y="4276725"/>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8A8B2"/>
                </a:solidFill>
                <a:latin typeface="Arial"/>
                <a:ea typeface="Arial"/>
                <a:cs typeface="Arial"/>
              </a:defRPr>
            </a:pPr>
            <a:r>
              <a:rPr sz="1725" b="0">
                <a:solidFill>
                  <a:srgbClr val="A8A8B2"/>
                </a:solidFill>
                <a:latin typeface="Arial"/>
                <a:ea typeface="Arial"/>
                <a:cs typeface="Arial"/>
              </a:rPr>
              <a:t>History / liquidity</a:t>
            </a:r>
          </a:p>
        </p:txBody>
      </p:sp>
      <p:sp>
        <p:nvSpPr>
          <p:cNvPr id="18" name="Raw / truncated">
            <a:extLst xmlns:a="http://schemas.openxmlformats.org/drawingml/2006/main">
              <a:ext uri="{FF2B5EF4-FFF2-40B4-BE49-F238E27FC236}">
                <a16:creationId xmlns:a16="http://schemas.microsoft.com/office/drawing/2014/main" id="{1B29A09D-A97E-4106-9279-7C77C61C030C}"/>
              </a:ext>
            </a:extLst>
          </p:cNvPr>
          <p:cNvSpPr>
            <a:spLocks xmlns:a="http://schemas.openxmlformats.org/drawingml/2006/main" noGrp="1"/>
          </p:cNvSpPr>
          <p:nvPr/>
        </p:nvSpPr>
        <p:spPr>
          <a:xfrm xmlns:a="http://schemas.openxmlformats.org/drawingml/2006/main">
            <a:off x="8896350" y="468630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8A8B2"/>
                </a:solidFill>
                <a:latin typeface="Arial"/>
                <a:ea typeface="Arial"/>
                <a:cs typeface="Arial"/>
              </a:defRPr>
            </a:pPr>
            <a:r>
              <a:rPr sz="1725" b="0">
                <a:solidFill>
                  <a:srgbClr val="A8A8B2"/>
                </a:solidFill>
                <a:latin typeface="Arial"/>
                <a:ea typeface="Arial"/>
                <a:cs typeface="Arial"/>
              </a:rPr>
              <a:t>Raw / truncated</a:t>
            </a:r>
          </a:p>
        </p:txBody>
      </p:sp>
      <p:sp>
        <p:nvSpPr>
          <p:cNvPr id="19" name="AAPL illustration adapted from the fork. Fixed width, rollin">
            <a:extLst xmlns:a="http://schemas.openxmlformats.org/drawingml/2006/main">
              <a:ext uri="{FF2B5EF4-FFF2-40B4-BE49-F238E27FC236}">
                <a16:creationId xmlns:a16="http://schemas.microsoft.com/office/drawing/2014/main" id="{FDDE9F9F-8ACD-4FD1-B120-B06159610DB5}"/>
              </a:ext>
            </a:extLst>
          </p:cNvPr>
          <p:cNvSpPr>
            <a:spLocks xmlns:a="http://schemas.openxmlformats.org/drawingml/2006/main" noGrp="1"/>
          </p:cNvSpPr>
          <p:nvPr/>
        </p:nvSpPr>
        <p:spPr>
          <a:xfrm xmlns:a="http://schemas.openxmlformats.org/drawingml/2006/main">
            <a:off x="695325" y="57912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AAPL illustration adapted from the fork. Fixed width, rolling center.</a:t>
            </a:r>
          </a:p>
        </p:txBody>
      </p:sp>
    </p:spTree>
    <p:extLst>
      <p:ext uri="{BB962C8B-B14F-4D97-AF65-F5344CB8AC3E}">
        <p14:creationId xmlns:p14="http://schemas.microsoft.com/office/powerpoint/2010/main" val="545523520"/>
      </p:ext>
    </p:extLst>
  </p:cSld>
</p:sld>
</file>

<file path=ppt/slides/slide10.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2" name="Size and premium react differently">
            <a:extLst xmlns:a="http://schemas.openxmlformats.org/drawingml/2006/main">
              <a:ext uri="{FF2B5EF4-FFF2-40B4-BE49-F238E27FC236}">
                <a16:creationId xmlns:a16="http://schemas.microsoft.com/office/drawing/2014/main" id="{AB3793A9-7F04-4B15-A353-D60BD7EB8284}"/>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Size and premium react differently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c209adc83e640db"/>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0E66F091-59A5-4911-B9C7-DC467571D20B}"/>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APL example / illustrative amounts">
            <a:extLst xmlns:a="http://schemas.openxmlformats.org/drawingml/2006/main">
              <a:ext uri="{FF2B5EF4-FFF2-40B4-BE49-F238E27FC236}">
                <a16:creationId xmlns:a16="http://schemas.microsoft.com/office/drawing/2014/main" id="{0AD210B0-0736-4354-9954-E202BA534280}"/>
              </a:ext>
            </a:extLst>
          </p:cNvPr>
          <p:cNvSpPr>
            <a:spLocks xmlns:a="http://schemas.openxmlformats.org/drawingml/2006/main" noGrp="1"/>
          </p:cNvSpPr>
          <p:nvPr/>
        </p:nvSpPr>
        <p:spPr>
          <a:xfrm xmlns:a="http://schemas.openxmlformats.org/drawingml/2006/main">
            <a:off x="3905250" y="61531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AAPL example / illustrative amounts</a:t>
            </a:r>
          </a:p>
        </p:txBody>
      </p:sp>
      <p:sp>
        <p:nvSpPr>
          <p:cNvPr id="5" name="10">
            <a:extLst xmlns:a="http://schemas.openxmlformats.org/drawingml/2006/main">
              <a:ext uri="{FF2B5EF4-FFF2-40B4-BE49-F238E27FC236}">
                <a16:creationId xmlns:a16="http://schemas.microsoft.com/office/drawing/2014/main" id="{907F3562-E376-4417-8531-D1E3B97ACEA2}"/>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10</a:t>
            </a:r>
          </a:p>
        </p:txBody>
      </p:sp>
      <p:sp>
        <p:nvSpPr>
          <p:cNvPr id="6" name="Contracts per call">
            <a:extLst xmlns:a="http://schemas.openxmlformats.org/drawingml/2006/main">
              <a:ext uri="{FF2B5EF4-FFF2-40B4-BE49-F238E27FC236}">
                <a16:creationId xmlns:a16="http://schemas.microsoft.com/office/drawing/2014/main" id="{66AB615E-9C6B-4BA3-A734-E82BDEF96E9D}"/>
              </a:ext>
            </a:extLst>
          </p:cNvPr>
          <p:cNvSpPr>
            <a:spLocks xmlns:a="http://schemas.openxmlformats.org/drawingml/2006/main" noGrp="1"/>
          </p:cNvSpPr>
          <p:nvPr/>
        </p:nvSpPr>
        <p:spPr>
          <a:xfrm xmlns:a="http://schemas.openxmlformats.org/drawingml/2006/main">
            <a:off x="685800" y="1476375"/>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37D67A"/>
                </a:solidFill>
                <a:latin typeface="Arial"/>
                <a:ea typeface="Arial"/>
                <a:cs typeface="Arial"/>
              </a:defRPr>
            </a:pPr>
            <a:r>
              <a:rPr sz="2250" b="1">
                <a:solidFill>
                  <a:srgbClr val="37D67A"/>
                </a:solidFill>
                <a:latin typeface="Arial"/>
                <a:ea typeface="Arial"/>
                <a:cs typeface="Arial"/>
              </a:rPr>
              <a:t>Contracts per call</a:t>
            </a:r>
          </a:p>
        </p:txBody>
      </p:sp>
      <p:sp>
        <p:nvSpPr>
          <p:cNvPr id="7" name="Ask per contract / USDG">
            <a:extLst xmlns:a="http://schemas.openxmlformats.org/drawingml/2006/main">
              <a:ext uri="{FF2B5EF4-FFF2-40B4-BE49-F238E27FC236}">
                <a16:creationId xmlns:a16="http://schemas.microsoft.com/office/drawing/2014/main" id="{70827B2E-1406-4205-874E-F3FB04868F52}"/>
              </a:ext>
            </a:extLst>
          </p:cNvPr>
          <p:cNvSpPr>
            <a:spLocks xmlns:a="http://schemas.openxmlformats.org/drawingml/2006/main" noGrp="1"/>
          </p:cNvSpPr>
          <p:nvPr/>
        </p:nvSpPr>
        <p:spPr>
          <a:xfrm xmlns:a="http://schemas.openxmlformats.org/drawingml/2006/main">
            <a:off x="6553200" y="1476375"/>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FF007A"/>
                </a:solidFill>
                <a:latin typeface="Arial"/>
                <a:ea typeface="Arial"/>
                <a:cs typeface="Arial"/>
              </a:defRPr>
            </a:pPr>
            <a:r>
              <a:rPr sz="2250" b="1">
                <a:solidFill>
                  <a:srgbClr val="FF007A"/>
                </a:solidFill>
                <a:latin typeface="Arial"/>
                <a:ea typeface="Arial"/>
                <a:cs typeface="Arial"/>
              </a:rPr>
              <a:t>Ask per contract / USDG</a:t>
            </a:r>
          </a:p>
        </p:txBody>
      </p:sp>
      <p:graphicFrame>
        <p:nvGraphicFramePr>
          <p:cNvPr id="19" name="Chart"/>
          <p:cNvGraphicFramePr/>
          <p:nvPr/>
        </p:nvGraphicFramePr>
        <p:xfrm>
          <a:off xmlns:a="http://schemas.openxmlformats.org/drawingml/2006/main" x="571500" y="2162175"/>
          <a:ext xmlns:a="http://schemas.openxmlformats.org/drawingml/2006/main" cx="5143500" cy="2952750"/>
        </p:xfrm>
        <a:graphic xmlns:a="http://schemas.openxmlformats.org/drawingml/2006/main">
          <a:graphicData uri="http://schemas.openxmlformats.org/drawingml/2006/chart">
            <c:chart xmlns:r="http://schemas.openxmlformats.org/officeDocument/2006/relationships" xmlns:c="http://schemas.openxmlformats.org/drawingml/2006/chart" r:id="R94b9d1f980ad4e03"/>
          </a:graphicData>
        </a:graphic>
      </p:graphicFrame>
      <p:graphicFrame>
        <p:nvGraphicFramePr>
          <p:cNvPr id="20" name="Chart"/>
          <p:cNvGraphicFramePr/>
          <p:nvPr/>
        </p:nvGraphicFramePr>
        <p:xfrm>
          <a:off xmlns:a="http://schemas.openxmlformats.org/drawingml/2006/main" x="6410325" y="2162175"/>
          <a:ext xmlns:a="http://schemas.openxmlformats.org/drawingml/2006/main" cx="5143500" cy="2952750"/>
        </p:xfrm>
        <a:graphic xmlns:a="http://schemas.openxmlformats.org/drawingml/2006/main">
          <a:graphicData uri="http://schemas.openxmlformats.org/drawingml/2006/chart">
            <c:chart xmlns:r="http://schemas.openxmlformats.org/officeDocument/2006/relationships" xmlns:c="http://schemas.openxmlformats.org/drawingml/2006/chart" r:id="R6821e9cc80ca41db"/>
          </a:graphicData>
        </a:graphic>
      </p:graphicFrame>
      <p:sp>
        <p:nvSpPr>
          <p:cNvPr id="10" name="+2.5%: 25 contracts, 8.4 USDG">
            <a:extLst xmlns:a="http://schemas.openxmlformats.org/drawingml/2006/main">
              <a:ext uri="{FF2B5EF4-FFF2-40B4-BE49-F238E27FC236}">
                <a16:creationId xmlns:a16="http://schemas.microsoft.com/office/drawing/2014/main" id="{C434DFEB-565E-4C52-AA04-721F3F5260C6}"/>
              </a:ext>
            </a:extLst>
          </p:cNvPr>
          <p:cNvSpPr>
            <a:spLocks xmlns:a="http://schemas.openxmlformats.org/drawingml/2006/main" noGrp="1"/>
          </p:cNvSpPr>
          <p:nvPr/>
        </p:nvSpPr>
        <p:spPr>
          <a:xfrm xmlns:a="http://schemas.openxmlformats.org/drawingml/2006/main">
            <a:off x="685800" y="52292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FAFAFA"/>
                </a:solidFill>
                <a:latin typeface="Arial"/>
                <a:ea typeface="Arial"/>
                <a:cs typeface="Arial"/>
              </a:defRPr>
            </a:pPr>
            <a:r>
              <a:rPr sz="2550" b="1">
                <a:solidFill>
                  <a:srgbClr val="FAFAFA"/>
                </a:solidFill>
                <a:latin typeface="Arial"/>
                <a:ea typeface="Arial"/>
                <a:cs typeface="Arial"/>
              </a:rPr>
              <a:t>+2.5%: 25 contracts, 8.4 USDG</a:t>
            </a:r>
          </a:p>
        </p:txBody>
      </p:sp>
      <p:sp>
        <p:nvSpPr>
          <p:cNvPr id="11" name="Illustration: 400 center, 8 base ask. At ±5%: cap 0, no quot">
            <a:extLst xmlns:a="http://schemas.openxmlformats.org/drawingml/2006/main">
              <a:ext uri="{FF2B5EF4-FFF2-40B4-BE49-F238E27FC236}">
                <a16:creationId xmlns:a16="http://schemas.microsoft.com/office/drawing/2014/main" id="{09A08BFF-C3E9-4769-99E9-99EEE28040CC}"/>
              </a:ext>
            </a:extLst>
          </p:cNvPr>
          <p:cNvSpPr>
            <a:spLocks xmlns:a="http://schemas.openxmlformats.org/drawingml/2006/main" noGrp="1"/>
          </p:cNvSpPr>
          <p:nvPr/>
        </p:nvSpPr>
        <p:spPr>
          <a:xfrm xmlns:a="http://schemas.openxmlformats.org/drawingml/2006/main">
            <a:off x="685800" y="57912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Illustration: 400 center, 8 base ask. At ±5%: cap 0, no quote.</a:t>
            </a:r>
          </a:p>
        </p:txBody>
      </p:sp>
    </p:spTree>
    <p:extLst>
      <p:ext uri="{BB962C8B-B14F-4D97-AF65-F5344CB8AC3E}">
        <p14:creationId xmlns:p14="http://schemas.microsoft.com/office/powerpoint/2010/main" val="729347023"/>
      </p:ext>
    </p:extLst>
  </p:cSld>
</p:sld>
</file>

<file path=ppt/slides/slide11.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8" name="An open band does not guarantee a fill">
            <a:extLst xmlns:a="http://schemas.openxmlformats.org/drawingml/2006/main">
              <a:ext uri="{FF2B5EF4-FFF2-40B4-BE49-F238E27FC236}">
                <a16:creationId xmlns:a16="http://schemas.microsoft.com/office/drawing/2014/main" id="{C45BC036-2FF2-4002-A2A7-722DB4582C8F}"/>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An open band does not guarantee a fill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c03e14ce29f4b8c"/>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2ECB1177-B452-49D4-9E7B-85EFFE64CB3D}"/>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APL example / illustrative amounts">
            <a:extLst xmlns:a="http://schemas.openxmlformats.org/drawingml/2006/main">
              <a:ext uri="{FF2B5EF4-FFF2-40B4-BE49-F238E27FC236}">
                <a16:creationId xmlns:a16="http://schemas.microsoft.com/office/drawing/2014/main" id="{7AFB8675-AC98-4F12-82BA-3CCD31E27299}"/>
              </a:ext>
            </a:extLst>
          </p:cNvPr>
          <p:cNvSpPr>
            <a:spLocks xmlns:a="http://schemas.openxmlformats.org/drawingml/2006/main" noGrp="1"/>
          </p:cNvSpPr>
          <p:nvPr/>
        </p:nvSpPr>
        <p:spPr>
          <a:xfrm xmlns:a="http://schemas.openxmlformats.org/drawingml/2006/main">
            <a:off x="3905250" y="61531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AAPL example / illustrative amounts</a:t>
            </a:r>
          </a:p>
        </p:txBody>
      </p:sp>
      <p:sp>
        <p:nvSpPr>
          <p:cNvPr id="5" name="11">
            <a:extLst xmlns:a="http://schemas.openxmlformats.org/drawingml/2006/main">
              <a:ext uri="{FF2B5EF4-FFF2-40B4-BE49-F238E27FC236}">
                <a16:creationId xmlns:a16="http://schemas.microsoft.com/office/drawing/2014/main" id="{755F2D8E-B850-4D1D-8150-F85C515D098A}"/>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11</a:t>
            </a:r>
          </a:p>
        </p:txBody>
      </p:sp>
      <p:graphicFrame>
        <p:nvGraphicFramePr>
          <p:cNvPr id="13" name=""/>
          <p:cNvGraphicFramePr/>
          <p:nvPr/>
        </p:nvGraphicFramePr>
        <p:xfrm>
          <a:off xmlns:a="http://schemas.openxmlformats.org/drawingml/2006/main" x="638175" y="1790700"/>
          <a:ext xmlns:a="http://schemas.openxmlformats.org/drawingml/2006/main" cx="10896600" cy="3371850"/>
        </p:xfrm>
        <a:graphic xmlns:a="http://schemas.openxmlformats.org/drawingml/2006/main">
          <a:graphicData uri="http://schemas.openxmlformats.org/drawingml/2006/table">
            <a:tbl>
              <a:tblPr/>
              <a:tblGrid>
                <a:gridCol w="3619500"/>
                <a:gridCol w="1581150"/>
                <a:gridCol w="2190750"/>
                <a:gridCol w="3505200"/>
              </a:tblGrid>
              <a:tr h="674370">
                <a:tc>
                  <a:txBody>
                    <a:bodyPr lIns="152400" tIns="85725" rIns="114300" bIns="85725">
                      <a:noAutofit/>
                    </a:bodyPr>
                    <a:lstStyle/>
                    <a:p>
                      <a:pPr algn="l"/>
                      <a:r>
                        <a:rPr sz="1875" b="1">
                          <a:solidFill>
                            <a:srgbClr val="A8A8B2"/>
                          </a:solidFill>
                          <a:latin typeface="Arial"/>
                          <a:ea typeface="Arial"/>
                          <a:cs typeface="Arial"/>
                        </a:rPr>
                        <a:t>Trigger</a:t>
                      </a:r>
                    </a:p>
                  </a:txBody>
                  <a:tcPr marL="91440" marR="91440" marT="45720" marB="45720" anchor="ctr">
                    <a:solidFill>
                      <a:srgbClr val="141418"/>
                    </a:solidFill>
                  </a:tcPr>
                </a:tc>
                <a:tc>
                  <a:txBody>
                    <a:bodyPr lIns="152400" tIns="85725" rIns="114300" bIns="85725">
                      <a:noAutofit/>
                    </a:bodyPr>
                    <a:lstStyle/>
                    <a:p>
                      <a:pPr algn="l"/>
                      <a:r>
                        <a:rPr sz="1875" b="1">
                          <a:solidFill>
                            <a:srgbClr val="A8A8B2"/>
                          </a:solidFill>
                          <a:latin typeface="Arial"/>
                          <a:ea typeface="Arial"/>
                          <a:cs typeface="Arial"/>
                        </a:rPr>
                        <a:t>Band</a:t>
                      </a:r>
                    </a:p>
                  </a:txBody>
                  <a:tcPr marL="91440" marR="91440" marT="45720" marB="45720" anchor="ctr">
                    <a:solidFill>
                      <a:srgbClr val="141418"/>
                    </a:solidFill>
                  </a:tcPr>
                </a:tc>
                <a:tc>
                  <a:txBody>
                    <a:bodyPr lIns="152400" tIns="85725" rIns="114300" bIns="85725">
                      <a:noAutofit/>
                    </a:bodyPr>
                    <a:lstStyle/>
                    <a:p>
                      <a:pPr algn="l"/>
                      <a:r>
                        <a:rPr sz="1875" b="1">
                          <a:solidFill>
                            <a:srgbClr val="A8A8B2"/>
                          </a:solidFill>
                          <a:latin typeface="Arial"/>
                          <a:ea typeface="Arial"/>
                          <a:cs typeface="Arial"/>
                        </a:rPr>
                        <a:t>Quote readable</a:t>
                      </a:r>
                    </a:p>
                  </a:txBody>
                  <a:tcPr marL="91440" marR="91440" marT="45720" marB="45720" anchor="ctr">
                    <a:solidFill>
                      <a:srgbClr val="141418"/>
                    </a:solidFill>
                  </a:tcPr>
                </a:tc>
                <a:tc>
                  <a:txBody>
                    <a:bodyPr lIns="152400" tIns="85725" rIns="114300" bIns="85725">
                      <a:noAutofit/>
                    </a:bodyPr>
                    <a:lstStyle/>
                    <a:p>
                      <a:pPr algn="l"/>
                      <a:r>
                        <a:rPr sz="1875" b="1">
                          <a:solidFill>
                            <a:srgbClr val="A8A8B2"/>
                          </a:solidFill>
                          <a:latin typeface="Arial"/>
                          <a:ea typeface="Arial"/>
                          <a:cs typeface="Arial"/>
                        </a:rPr>
                        <a:t>Buy result</a:t>
                      </a:r>
                    </a:p>
                  </a:txBody>
                  <a:tcPr marL="91440" marR="91440" marT="45720" marB="45720" anchor="ctr">
                    <a:solidFill>
                      <a:srgbClr val="141418"/>
                    </a:solidFill>
                  </a:tcPr>
                </a:tc>
              </a:tr>
              <a:tr h="674370">
                <a:tc>
                  <a:txBody>
                    <a:bodyPr lIns="152400" tIns="85725" rIns="114300" bIns="85725">
                      <a:noAutofit/>
                    </a:bodyPr>
                    <a:lstStyle/>
                    <a:p>
                      <a:pPr algn="l"/>
                      <a:r>
                        <a:rPr sz="1950" b="0">
                          <a:solidFill>
                            <a:srgbClr val="FAFAFA"/>
                          </a:solidFill>
                          <a:latin typeface="Arial"/>
                          <a:ea typeface="Arial"/>
                          <a:cs typeface="Arial"/>
                        </a:rPr>
                        <a:t>+5.1% deviation</a:t>
                      </a:r>
                    </a:p>
                  </a:txBody>
                  <a:tcPr marL="91440" marR="91440" marT="45720" marB="45720" anchor="ctr">
                    <a:solidFill>
                      <a:srgbClr val="08080A"/>
                    </a:solidFill>
                  </a:tcPr>
                </a:tc>
                <a:tc>
                  <a:txBody>
                    <a:bodyPr lIns="152400" tIns="85725" rIns="114300" bIns="85725">
                      <a:noAutofit/>
                    </a:bodyPr>
                    <a:lstStyle/>
                    <a:p>
                      <a:pPr algn="l"/>
                      <a:r>
                        <a:rPr sz="1950" b="0">
                          <a:solidFill>
                            <a:srgbClr val="FF5470"/>
                          </a:solidFill>
                          <a:latin typeface="Arial"/>
                          <a:ea typeface="Arial"/>
                          <a:cs typeface="Arial"/>
                        </a:rPr>
                        <a:t>Closed</a:t>
                      </a:r>
                    </a:p>
                  </a:txBody>
                  <a:tcPr marL="91440" marR="91440" marT="45720" marB="45720" anchor="ctr">
                    <a:solidFill>
                      <a:srgbClr val="08080A"/>
                    </a:solidFill>
                  </a:tcPr>
                </a:tc>
                <a:tc>
                  <a:txBody>
                    <a:bodyPr lIns="152400" tIns="85725" rIns="114300" bIns="85725">
                      <a:noAutofit/>
                    </a:bodyPr>
                    <a:lstStyle/>
                    <a:p>
                      <a:pPr algn="l"/>
                      <a:r>
                        <a:rPr sz="1950" b="0">
                          <a:solidFill>
                            <a:srgbClr val="A8A8B2"/>
                          </a:solidFill>
                          <a:latin typeface="Arial"/>
                          <a:ea typeface="Arial"/>
                          <a:cs typeface="Arial"/>
                        </a:rPr>
                        <a:t>No</a:t>
                      </a:r>
                    </a:p>
                  </a:txBody>
                  <a:tcPr marL="91440" marR="91440" marT="45720" marB="45720" anchor="ctr">
                    <a:solidFill>
                      <a:srgbClr val="08080A"/>
                    </a:solidFill>
                  </a:tcPr>
                </a:tc>
                <a:tc>
                  <a:txBody>
                    <a:bodyPr lIns="152400" tIns="85725" rIns="114300" bIns="85725">
                      <a:noAutofit/>
                    </a:bodyPr>
                    <a:lstStyle/>
                    <a:p>
                      <a:pPr algn="l"/>
                      <a:r>
                        <a:rPr sz="1950" b="1">
                          <a:solidFill>
                            <a:srgbClr val="FF5470"/>
                          </a:solidFill>
                          <a:latin typeface="Arial"/>
                          <a:ea typeface="Arial"/>
                          <a:cs typeface="Arial"/>
                        </a:rPr>
                        <a:t>OutsideBand</a:t>
                      </a:r>
                    </a:p>
                  </a:txBody>
                  <a:tcPr marL="91440" marR="91440" marT="45720" marB="45720" anchor="ctr">
                    <a:solidFill>
                      <a:srgbClr val="08080A"/>
                    </a:solidFill>
                  </a:tcPr>
                </a:tc>
              </a:tr>
              <a:tr h="674370">
                <a:tc>
                  <a:txBody>
                    <a:bodyPr lIns="152400" tIns="85725" rIns="114300" bIns="85725">
                      <a:noAutofit/>
                    </a:bodyPr>
                    <a:lstStyle/>
                    <a:p>
                      <a:pPr algn="l"/>
                      <a:r>
                        <a:rPr sz="1950" b="0">
                          <a:solidFill>
                            <a:srgbClr val="FAFAFA"/>
                          </a:solidFill>
                          <a:latin typeface="Arial"/>
                          <a:ea typeface="Arial"/>
                          <a:cs typeface="Arial"/>
                        </a:rPr>
                        <a:t>Original deadline</a:t>
                      </a:r>
                    </a:p>
                  </a:txBody>
                  <a:tcPr marL="91440" marR="91440" marT="45720" marB="45720" anchor="ctr">
                    <a:solidFill>
                      <a:srgbClr val="08080A"/>
                    </a:solidFill>
                  </a:tcPr>
                </a:tc>
                <a:tc>
                  <a:txBody>
                    <a:bodyPr lIns="152400" tIns="85725" rIns="114300" bIns="85725">
                      <a:noAutofit/>
                    </a:bodyPr>
                    <a:lstStyle/>
                    <a:p>
                      <a:pPr algn="l"/>
                      <a:r>
                        <a:rPr sz="1950" b="0">
                          <a:solidFill>
                            <a:srgbClr val="37D67A"/>
                          </a:solidFill>
                          <a:latin typeface="Arial"/>
                          <a:ea typeface="Arial"/>
                          <a:cs typeface="Arial"/>
                        </a:rPr>
                        <a:t>Open</a:t>
                      </a:r>
                    </a:p>
                  </a:txBody>
                  <a:tcPr marL="91440" marR="91440" marT="45720" marB="45720" anchor="ctr">
                    <a:solidFill>
                      <a:srgbClr val="08080A"/>
                    </a:solidFill>
                  </a:tcPr>
                </a:tc>
                <a:tc>
                  <a:txBody>
                    <a:bodyPr lIns="152400" tIns="85725" rIns="114300" bIns="85725">
                      <a:noAutofit/>
                    </a:bodyPr>
                    <a:lstStyle/>
                    <a:p>
                      <a:pPr algn="l"/>
                      <a:r>
                        <a:rPr sz="1950" b="0">
                          <a:solidFill>
                            <a:srgbClr val="A8A8B2"/>
                          </a:solidFill>
                          <a:latin typeface="Arial"/>
                          <a:ea typeface="Arial"/>
                          <a:cs typeface="Arial"/>
                        </a:rPr>
                        <a:t>No</a:t>
                      </a:r>
                    </a:p>
                  </a:txBody>
                  <a:tcPr marL="91440" marR="91440" marT="45720" marB="45720" anchor="ctr">
                    <a:solidFill>
                      <a:srgbClr val="08080A"/>
                    </a:solidFill>
                  </a:tcPr>
                </a:tc>
                <a:tc>
                  <a:txBody>
                    <a:bodyPr lIns="152400" tIns="85725" rIns="114300" bIns="85725">
                      <a:noAutofit/>
                    </a:bodyPr>
                    <a:lstStyle/>
                    <a:p>
                      <a:pPr algn="l"/>
                      <a:r>
                        <a:rPr sz="1950" b="1">
                          <a:solidFill>
                            <a:srgbClr val="FF5470"/>
                          </a:solidFill>
                          <a:latin typeface="Arial"/>
                          <a:ea typeface="Arial"/>
                          <a:cs typeface="Arial"/>
                        </a:rPr>
                        <a:t>QuoteExpired</a:t>
                      </a:r>
                    </a:p>
                  </a:txBody>
                  <a:tcPr marL="91440" marR="91440" marT="45720" marB="45720" anchor="ctr">
                    <a:solidFill>
                      <a:srgbClr val="08080A"/>
                    </a:solidFill>
                  </a:tcPr>
                </a:tc>
              </a:tr>
              <a:tr h="674370">
                <a:tc>
                  <a:txBody>
                    <a:bodyPr lIns="152400" tIns="85725" rIns="114300" bIns="85725">
                      <a:noAutofit/>
                    </a:bodyPr>
                    <a:lstStyle/>
                    <a:p>
                      <a:pPr algn="l"/>
                      <a:r>
                        <a:rPr sz="1950" b="0">
                          <a:solidFill>
                            <a:srgbClr val="FAFAFA"/>
                          </a:solidFill>
                          <a:latin typeface="Arial"/>
                          <a:ea typeface="Arial"/>
                          <a:cs typeface="Arial"/>
                        </a:rPr>
                        <a:t>Original anchor +6%</a:t>
                      </a:r>
                    </a:p>
                  </a:txBody>
                  <a:tcPr marL="91440" marR="91440" marT="45720" marB="45720" anchor="ctr">
                    <a:solidFill>
                      <a:srgbClr val="08080A"/>
                    </a:solidFill>
                  </a:tcPr>
                </a:tc>
                <a:tc>
                  <a:txBody>
                    <a:bodyPr lIns="152400" tIns="85725" rIns="114300" bIns="85725">
                      <a:noAutofit/>
                    </a:bodyPr>
                    <a:lstStyle/>
                    <a:p>
                      <a:pPr algn="l"/>
                      <a:r>
                        <a:rPr sz="1950" b="0">
                          <a:solidFill>
                            <a:srgbClr val="37D67A"/>
                          </a:solidFill>
                          <a:latin typeface="Arial"/>
                          <a:ea typeface="Arial"/>
                          <a:cs typeface="Arial"/>
                        </a:rPr>
                        <a:t>Open</a:t>
                      </a:r>
                    </a:p>
                  </a:txBody>
                  <a:tcPr marL="91440" marR="91440" marT="45720" marB="45720" anchor="ctr">
                    <a:solidFill>
                      <a:srgbClr val="08080A"/>
                    </a:solidFill>
                  </a:tcPr>
                </a:tc>
                <a:tc>
                  <a:txBody>
                    <a:bodyPr lIns="152400" tIns="85725" rIns="114300" bIns="85725">
                      <a:noAutofit/>
                    </a:bodyPr>
                    <a:lstStyle/>
                    <a:p>
                      <a:pPr algn="l"/>
                      <a:r>
                        <a:rPr sz="1950" b="0">
                          <a:solidFill>
                            <a:srgbClr val="A8A8B2"/>
                          </a:solidFill>
                          <a:latin typeface="Arial"/>
                          <a:ea typeface="Arial"/>
                          <a:cs typeface="Arial"/>
                        </a:rPr>
                        <a:t>No</a:t>
                      </a:r>
                    </a:p>
                  </a:txBody>
                  <a:tcPr marL="91440" marR="91440" marT="45720" marB="45720" anchor="ctr">
                    <a:solidFill>
                      <a:srgbClr val="08080A"/>
                    </a:solidFill>
                  </a:tcPr>
                </a:tc>
                <a:tc>
                  <a:txBody>
                    <a:bodyPr lIns="152400" tIns="85725" rIns="114300" bIns="85725">
                      <a:noAutofit/>
                    </a:bodyPr>
                    <a:lstStyle/>
                    <a:p>
                      <a:pPr algn="l"/>
                      <a:r>
                        <a:rPr sz="1950" b="1">
                          <a:solidFill>
                            <a:srgbClr val="FF5470"/>
                          </a:solidFill>
                          <a:latin typeface="Arial"/>
                          <a:ea typeface="Arial"/>
                          <a:cs typeface="Arial"/>
                        </a:rPr>
                        <a:t>QuoteOffAnchor</a:t>
                      </a:r>
                    </a:p>
                  </a:txBody>
                  <a:tcPr marL="91440" marR="91440" marT="45720" marB="45720" anchor="ctr">
                    <a:solidFill>
                      <a:srgbClr val="08080A"/>
                    </a:solidFill>
                  </a:tcPr>
                </a:tc>
              </a:tr>
              <a:tr h="674370">
                <a:tc>
                  <a:txBody>
                    <a:bodyPr lIns="152400" tIns="85725" rIns="114300" bIns="85725">
                      <a:noAutofit/>
                    </a:bodyPr>
                    <a:lstStyle/>
                    <a:p>
                      <a:pPr algn="l"/>
                      <a:r>
                        <a:rPr sz="1950" b="0">
                          <a:solidFill>
                            <a:srgbClr val="FAFAFA"/>
                          </a:solidFill>
                          <a:latin typeface="Arial"/>
                          <a:ea typeface="Arial"/>
                          <a:cs typeface="Arial"/>
                        </a:rPr>
                        <a:t>Collateral shortfall</a:t>
                      </a:r>
                    </a:p>
                  </a:txBody>
                  <a:tcPr marL="91440" marR="91440" marT="45720" marB="45720" anchor="ctr">
                    <a:solidFill>
                      <a:srgbClr val="08080A"/>
                    </a:solidFill>
                  </a:tcPr>
                </a:tc>
                <a:tc>
                  <a:txBody>
                    <a:bodyPr lIns="152400" tIns="85725" rIns="114300" bIns="85725">
                      <a:noAutofit/>
                    </a:bodyPr>
                    <a:lstStyle/>
                    <a:p>
                      <a:pPr algn="l"/>
                      <a:r>
                        <a:rPr sz="1950" b="0">
                          <a:solidFill>
                            <a:srgbClr val="37D67A"/>
                          </a:solidFill>
                          <a:latin typeface="Arial"/>
                          <a:ea typeface="Arial"/>
                          <a:cs typeface="Arial"/>
                        </a:rPr>
                        <a:t>Open</a:t>
                      </a:r>
                    </a:p>
                  </a:txBody>
                  <a:tcPr marL="91440" marR="91440" marT="45720" marB="45720" anchor="ctr">
                    <a:solidFill>
                      <a:srgbClr val="08080A"/>
                    </a:solidFill>
                  </a:tcPr>
                </a:tc>
                <a:tc>
                  <a:txBody>
                    <a:bodyPr lIns="152400" tIns="85725" rIns="114300" bIns="85725">
                      <a:noAutofit/>
                    </a:bodyPr>
                    <a:lstStyle/>
                    <a:p>
                      <a:pPr algn="l"/>
                      <a:r>
                        <a:rPr sz="1950" b="0">
                          <a:solidFill>
                            <a:srgbClr val="37D67A"/>
                          </a:solidFill>
                          <a:latin typeface="Arial"/>
                          <a:ea typeface="Arial"/>
                          <a:cs typeface="Arial"/>
                        </a:rPr>
                        <a:t>Yes</a:t>
                      </a:r>
                    </a:p>
                  </a:txBody>
                  <a:tcPr marL="91440" marR="91440" marT="45720" marB="45720" anchor="ctr">
                    <a:solidFill>
                      <a:srgbClr val="08080A"/>
                    </a:solidFill>
                  </a:tcPr>
                </a:tc>
                <a:tc>
                  <a:txBody>
                    <a:bodyPr lIns="152400" tIns="85725" rIns="114300" bIns="85725">
                      <a:noAutofit/>
                    </a:bodyPr>
                    <a:lstStyle/>
                    <a:p>
                      <a:pPr algn="l"/>
                      <a:r>
                        <a:rPr sz="1950" b="1">
                          <a:solidFill>
                            <a:srgbClr val="FF5470"/>
                          </a:solidFill>
                          <a:latin typeface="Arial"/>
                          <a:ea typeface="Arial"/>
                          <a:cs typeface="Arial"/>
                        </a:rPr>
                        <a:t>SourceShort</a:t>
                      </a:r>
                    </a:p>
                  </a:txBody>
                  <a:tcPr marL="91440" marR="91440" marT="45720" marB="45720" anchor="ctr">
                    <a:solidFill>
                      <a:srgbClr val="08080A"/>
                    </a:solidFill>
                  </a:tcPr>
                </a:tc>
              </a:tr>
            </a:tbl>
          </a:graphicData>
        </a:graphic>
      </p:graphicFrame>
      <p:sp>
        <p:nvSpPr>
          <p:cNvPr id="7" name="Available quote ≠ guaranteed execution">
            <a:extLst xmlns:a="http://schemas.openxmlformats.org/drawingml/2006/main">
              <a:ext uri="{FF2B5EF4-FFF2-40B4-BE49-F238E27FC236}">
                <a16:creationId xmlns:a16="http://schemas.microsoft.com/office/drawing/2014/main" id="{8A763D86-B25E-448C-9CBD-DB9DE87534BF}"/>
              </a:ext>
            </a:extLst>
          </p:cNvPr>
          <p:cNvSpPr>
            <a:spLocks xmlns:a="http://schemas.openxmlformats.org/drawingml/2006/main" noGrp="1"/>
          </p:cNvSpPr>
          <p:nvPr/>
        </p:nvSpPr>
        <p:spPr>
          <a:xfrm xmlns:a="http://schemas.openxmlformats.org/drawingml/2006/main">
            <a:off x="666750" y="54197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37D67A"/>
                </a:solidFill>
                <a:latin typeface="Arial"/>
                <a:ea typeface="Arial"/>
                <a:cs typeface="Arial"/>
              </a:defRPr>
            </a:pPr>
            <a:r>
              <a:rPr sz="2475" b="1">
                <a:solidFill>
                  <a:srgbClr val="37D67A"/>
                </a:solidFill>
                <a:latin typeface="Arial"/>
                <a:ea typeface="Arial"/>
                <a:cs typeface="Arial"/>
              </a:rPr>
              <a:t>Available quote ≠ guaranteed execution</a:t>
            </a:r>
          </a:p>
        </p:txBody>
      </p:sp>
    </p:spTree>
    <p:extLst>
      <p:ext uri="{BB962C8B-B14F-4D97-AF65-F5344CB8AC3E}">
        <p14:creationId xmlns:p14="http://schemas.microsoft.com/office/powerpoint/2010/main" val="1180946330"/>
      </p:ext>
    </p:extLst>
  </p:cSld>
</p:sld>
</file>

<file path=ppt/slides/slide12.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2" name="Exercise, close and premium return">
            <a:extLst xmlns:a="http://schemas.openxmlformats.org/drawingml/2006/main">
              <a:ext uri="{FF2B5EF4-FFF2-40B4-BE49-F238E27FC236}">
                <a16:creationId xmlns:a16="http://schemas.microsoft.com/office/drawing/2014/main" id="{D0C1C4BF-C3E0-44C2-BFB5-9C456F722CD8}"/>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Exercise, close and premium return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cdf6733998f4e3e"/>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BF92BCBE-C133-4BDE-B8BF-16B8A6E77EF8}"/>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APL example / illustrative amounts">
            <a:extLst xmlns:a="http://schemas.openxmlformats.org/drawingml/2006/main">
              <a:ext uri="{FF2B5EF4-FFF2-40B4-BE49-F238E27FC236}">
                <a16:creationId xmlns:a16="http://schemas.microsoft.com/office/drawing/2014/main" id="{D87E49E7-B6AC-4CF6-96EB-AA3B656FEFE6}"/>
              </a:ext>
            </a:extLst>
          </p:cNvPr>
          <p:cNvSpPr>
            <a:spLocks xmlns:a="http://schemas.openxmlformats.org/drawingml/2006/main" noGrp="1"/>
          </p:cNvSpPr>
          <p:nvPr/>
        </p:nvSpPr>
        <p:spPr>
          <a:xfrm xmlns:a="http://schemas.openxmlformats.org/drawingml/2006/main">
            <a:off x="3905250" y="61531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AAPL example / illustrative amounts</a:t>
            </a:r>
          </a:p>
        </p:txBody>
      </p:sp>
      <p:sp>
        <p:nvSpPr>
          <p:cNvPr id="5" name="12">
            <a:extLst xmlns:a="http://schemas.openxmlformats.org/drawingml/2006/main">
              <a:ext uri="{FF2B5EF4-FFF2-40B4-BE49-F238E27FC236}">
                <a16:creationId xmlns:a16="http://schemas.microsoft.com/office/drawing/2014/main" id="{61347DC0-06B9-4DAA-BF59-0C67D70C701B}"/>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12</a:t>
            </a:r>
          </a:p>
        </p:txBody>
      </p:sp>
      <p:sp>
        <p:nvSpPr>
          <p:cNvPr id="6" name="3 puts: deliver 3 AAPL, receive 1,200 USDG">
            <a:extLst xmlns:a="http://schemas.openxmlformats.org/drawingml/2006/main">
              <a:ext uri="{FF2B5EF4-FFF2-40B4-BE49-F238E27FC236}">
                <a16:creationId xmlns:a16="http://schemas.microsoft.com/office/drawing/2014/main" id="{49EFEC0D-DC72-4A68-A164-E7E1BF47ABE9}"/>
              </a:ext>
            </a:extLst>
          </p:cNvPr>
          <p:cNvSpPr>
            <a:spLocks xmlns:a="http://schemas.openxmlformats.org/drawingml/2006/main" noGrp="1"/>
          </p:cNvSpPr>
          <p:nvPr/>
        </p:nvSpPr>
        <p:spPr>
          <a:xfrm xmlns:a="http://schemas.openxmlformats.org/drawingml/2006/main">
            <a:off x="647700" y="1381125"/>
            <a:ext cx="10991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37D67A"/>
                </a:solidFill>
                <a:latin typeface="Arial"/>
                <a:ea typeface="Arial"/>
                <a:cs typeface="Arial"/>
              </a:defRPr>
            </a:pPr>
            <a:r>
              <a:rPr sz="2475" b="1">
                <a:solidFill>
                  <a:srgbClr val="37D67A"/>
                </a:solidFill>
                <a:latin typeface="Arial"/>
                <a:ea typeface="Arial"/>
                <a:cs typeface="Arial"/>
              </a:rPr>
              <a:t>3 puts: deliver 3 AAPL, receive 1,200 USDG</a:t>
            </a:r>
          </a:p>
        </p:txBody>
      </p:sp>
      <p:sp>
        <p:nvSpPr>
          <p:cNvPr id="7" name="Book AAPL">
            <a:extLst xmlns:a="http://schemas.openxmlformats.org/drawingml/2006/main">
              <a:ext uri="{FF2B5EF4-FFF2-40B4-BE49-F238E27FC236}">
                <a16:creationId xmlns:a16="http://schemas.microsoft.com/office/drawing/2014/main" id="{40CC9FEE-CD81-4A89-8D83-2D104903781C}"/>
              </a:ext>
            </a:extLst>
          </p:cNvPr>
          <p:cNvSpPr>
            <a:spLocks xmlns:a="http://schemas.openxmlformats.org/drawingml/2006/main" noGrp="1"/>
          </p:cNvSpPr>
          <p:nvPr/>
        </p:nvSpPr>
        <p:spPr>
          <a:xfrm xmlns:a="http://schemas.openxmlformats.org/drawingml/2006/main">
            <a:off x="676275" y="2209800"/>
            <a:ext cx="5286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AFAFA"/>
                </a:solidFill>
                <a:latin typeface="Arial"/>
                <a:ea typeface="Arial"/>
                <a:cs typeface="Arial"/>
              </a:defRPr>
            </a:pPr>
            <a:r>
              <a:rPr sz="2175" b="1">
                <a:solidFill>
                  <a:srgbClr val="FAFAFA"/>
                </a:solidFill>
                <a:latin typeface="Arial"/>
                <a:ea typeface="Arial"/>
                <a:cs typeface="Arial"/>
              </a:rPr>
              <a:t>Book AAPL</a:t>
            </a:r>
          </a:p>
        </p:txBody>
      </p:sp>
      <p:sp>
        <p:nvSpPr>
          <p:cNvPr id="8" name="Book USDG">
            <a:extLst xmlns:a="http://schemas.openxmlformats.org/drawingml/2006/main">
              <a:ext uri="{FF2B5EF4-FFF2-40B4-BE49-F238E27FC236}">
                <a16:creationId xmlns:a16="http://schemas.microsoft.com/office/drawing/2014/main" id="{516E221E-53BC-4012-A9AF-049EA9C82E8E}"/>
              </a:ext>
            </a:extLst>
          </p:cNvPr>
          <p:cNvSpPr>
            <a:spLocks xmlns:a="http://schemas.openxmlformats.org/drawingml/2006/main" noGrp="1"/>
          </p:cNvSpPr>
          <p:nvPr/>
        </p:nvSpPr>
        <p:spPr>
          <a:xfrm xmlns:a="http://schemas.openxmlformats.org/drawingml/2006/main">
            <a:off x="6524625" y="22098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AFAFA"/>
                </a:solidFill>
                <a:latin typeface="Arial"/>
                <a:ea typeface="Arial"/>
                <a:cs typeface="Arial"/>
              </a:defRPr>
            </a:pPr>
            <a:r>
              <a:rPr sz="2175" b="1">
                <a:solidFill>
                  <a:srgbClr val="FAFAFA"/>
                </a:solidFill>
                <a:latin typeface="Arial"/>
                <a:ea typeface="Arial"/>
                <a:cs typeface="Arial"/>
              </a:rPr>
              <a:t>Book USDG</a:t>
            </a:r>
          </a:p>
        </p:txBody>
      </p:sp>
      <p:graphicFrame>
        <p:nvGraphicFramePr>
          <p:cNvPr id="20" name="Chart"/>
          <p:cNvGraphicFramePr/>
          <p:nvPr/>
        </p:nvGraphicFramePr>
        <p:xfrm>
          <a:off xmlns:a="http://schemas.openxmlformats.org/drawingml/2006/main" x="571500" y="2752725"/>
          <a:ext xmlns:a="http://schemas.openxmlformats.org/drawingml/2006/main" cx="5219700" cy="2714625"/>
        </p:xfrm>
        <a:graphic xmlns:a="http://schemas.openxmlformats.org/drawingml/2006/main">
          <a:graphicData uri="http://schemas.openxmlformats.org/drawingml/2006/chart">
            <c:chart xmlns:r="http://schemas.openxmlformats.org/officeDocument/2006/relationships" xmlns:c="http://schemas.openxmlformats.org/drawingml/2006/chart" r:id="Rce84acccfcdb4544"/>
          </a:graphicData>
        </a:graphic>
      </p:graphicFrame>
      <p:graphicFrame>
        <p:nvGraphicFramePr>
          <p:cNvPr id="21" name="Chart"/>
          <p:cNvGraphicFramePr/>
          <p:nvPr/>
        </p:nvGraphicFramePr>
        <p:xfrm>
          <a:off xmlns:a="http://schemas.openxmlformats.org/drawingml/2006/main" x="6457950" y="2752725"/>
          <a:ext xmlns:a="http://schemas.openxmlformats.org/drawingml/2006/main" cx="5219700" cy="2714625"/>
        </p:xfrm>
        <a:graphic xmlns:a="http://schemas.openxmlformats.org/drawingml/2006/main">
          <a:graphicData uri="http://schemas.openxmlformats.org/drawingml/2006/chart">
            <c:chart xmlns:r="http://schemas.openxmlformats.org/officeDocument/2006/relationships" xmlns:c="http://schemas.openxmlformats.org/drawingml/2006/chart" r:id="Re4ba92444624440b"/>
          </a:graphicData>
        </a:graphic>
      </p:graphicFrame>
      <p:sp>
        <p:nvSpPr>
          <p:cNvPr id="11" name="Illustrative price ≈378.269 &lt; strike 400. Calls OTM. Close a">
            <a:extLst xmlns:a="http://schemas.openxmlformats.org/drawingml/2006/main">
              <a:ext uri="{FF2B5EF4-FFF2-40B4-BE49-F238E27FC236}">
                <a16:creationId xmlns:a16="http://schemas.microsoft.com/office/drawing/2014/main" id="{8BC64F16-152F-47A5-817E-88CB77B4AAE7}"/>
              </a:ext>
            </a:extLst>
          </p:cNvPr>
          <p:cNvSpPr>
            <a:spLocks xmlns:a="http://schemas.openxmlformats.org/drawingml/2006/main" noGrp="1"/>
          </p:cNvSpPr>
          <p:nvPr/>
        </p:nvSpPr>
        <p:spPr>
          <a:xfrm xmlns:a="http://schemas.openxmlformats.org/drawingml/2006/main">
            <a:off x="676275" y="57912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Illustrative price ≈378.269 &lt; strike 400. Calls OTM. Close and claim are separate.</a:t>
            </a:r>
          </a:p>
        </p:txBody>
      </p:sp>
    </p:spTree>
    <p:extLst>
      <p:ext uri="{BB962C8B-B14F-4D97-AF65-F5344CB8AC3E}">
        <p14:creationId xmlns:p14="http://schemas.microsoft.com/office/powerpoint/2010/main" val="2141753124"/>
      </p:ext>
    </p:extLst>
  </p:cSld>
</p:sld>
</file>

<file path=ppt/slides/slide13.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20" name="Four checks in the contract replay">
            <a:extLst xmlns:a="http://schemas.openxmlformats.org/drawingml/2006/main">
              <a:ext uri="{FF2B5EF4-FFF2-40B4-BE49-F238E27FC236}">
                <a16:creationId xmlns:a16="http://schemas.microsoft.com/office/drawing/2014/main" id="{5792E985-0353-4E19-9402-DF9992B1E8DC}"/>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Four checks in the contract replay</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fe684ed920041f5"/>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E588881F-3ABE-4430-BE13-36A21AD9A6B7}"/>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APL example / illustrative amounts">
            <a:extLst xmlns:a="http://schemas.openxmlformats.org/drawingml/2006/main">
              <a:ext uri="{FF2B5EF4-FFF2-40B4-BE49-F238E27FC236}">
                <a16:creationId xmlns:a16="http://schemas.microsoft.com/office/drawing/2014/main" id="{899852EB-A524-4AB2-9690-139FA4AB04D5}"/>
              </a:ext>
            </a:extLst>
          </p:cNvPr>
          <p:cNvSpPr>
            <a:spLocks xmlns:a="http://schemas.openxmlformats.org/drawingml/2006/main" noGrp="1"/>
          </p:cNvSpPr>
          <p:nvPr/>
        </p:nvSpPr>
        <p:spPr>
          <a:xfrm xmlns:a="http://schemas.openxmlformats.org/drawingml/2006/main">
            <a:off x="3905250" y="61531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AAPL example / illustrative amounts</a:t>
            </a:r>
          </a:p>
        </p:txBody>
      </p:sp>
      <p:sp>
        <p:nvSpPr>
          <p:cNvPr id="5" name="13">
            <a:extLst xmlns:a="http://schemas.openxmlformats.org/drawingml/2006/main">
              <a:ext uri="{FF2B5EF4-FFF2-40B4-BE49-F238E27FC236}">
                <a16:creationId xmlns:a16="http://schemas.microsoft.com/office/drawing/2014/main" id="{184E16E7-608D-4FE5-9176-D67B7B6DE458}"/>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13</a:t>
            </a:r>
          </a:p>
        </p:txBody>
      </p:sp>
      <p:sp>
        <p:nvSpPr>
          <p:cNvPr id="6" name="05">
            <a:extLst xmlns:a="http://schemas.openxmlformats.org/drawingml/2006/main">
              <a:ext uri="{FF2B5EF4-FFF2-40B4-BE49-F238E27FC236}">
                <a16:creationId xmlns:a16="http://schemas.microsoft.com/office/drawing/2014/main" id="{2668BDBE-9E23-4436-A53F-B1880AEEB15A}"/>
              </a:ext>
            </a:extLst>
          </p:cNvPr>
          <p:cNvSpPr>
            <a:spLocks xmlns:a="http://schemas.openxmlformats.org/drawingml/2006/main" noGrp="1"/>
          </p:cNvSpPr>
          <p:nvPr/>
        </p:nvSpPr>
        <p:spPr>
          <a:xfrm xmlns:a="http://schemas.openxmlformats.org/drawingml/2006/main">
            <a:off x="685800" y="1962150"/>
            <a:ext cx="2333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0" b="1">
                <a:solidFill>
                  <a:srgbClr val="37D67A"/>
                </a:solidFill>
                <a:latin typeface="Arial"/>
                <a:ea typeface="Arial"/>
                <a:cs typeface="Arial"/>
              </a:defRPr>
            </a:pPr>
            <a:r>
              <a:rPr sz="7200" b="1">
                <a:solidFill>
                  <a:srgbClr val="37D67A"/>
                </a:solidFill>
                <a:latin typeface="Arial"/>
                <a:ea typeface="Arial"/>
                <a:cs typeface="Arial"/>
              </a:rPr>
              <a:t>05</a:t>
            </a:r>
          </a:p>
        </p:txBody>
      </p:sp>
      <p:sp>
        <p:nvSpPr>
          <p:cNvPr id="7" name="Collateral in">
            <a:extLst xmlns:a="http://schemas.openxmlformats.org/drawingml/2006/main">
              <a:ext uri="{FF2B5EF4-FFF2-40B4-BE49-F238E27FC236}">
                <a16:creationId xmlns:a16="http://schemas.microsoft.com/office/drawing/2014/main" id="{9C5F952F-7B1B-45BA-A6B2-3CD3E3F6BBC0}"/>
              </a:ext>
            </a:extLst>
          </p:cNvPr>
          <p:cNvSpPr>
            <a:spLocks xmlns:a="http://schemas.openxmlformats.org/drawingml/2006/main" noGrp="1"/>
          </p:cNvSpPr>
          <p:nvPr/>
        </p:nvSpPr>
        <p:spPr>
          <a:xfrm xmlns:a="http://schemas.openxmlformats.org/drawingml/2006/main">
            <a:off x="685800" y="34861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FAFAFA"/>
                </a:solidFill>
                <a:latin typeface="Arial"/>
                <a:ea typeface="Arial"/>
                <a:cs typeface="Arial"/>
              </a:defRPr>
            </a:pPr>
            <a:r>
              <a:rPr sz="2100" b="1">
                <a:solidFill>
                  <a:srgbClr val="FAFAFA"/>
                </a:solidFill>
                <a:latin typeface="Arial"/>
                <a:ea typeface="Arial"/>
                <a:cs typeface="Arial"/>
              </a:rPr>
              <a:t>Collateral in</a:t>
            </a:r>
          </a:p>
        </p:txBody>
      </p:sp>
      <p:sp>
        <p:nvSpPr>
          <p:cNvPr id="8" name="5 AAPL">
            <a:extLst xmlns:a="http://schemas.openxmlformats.org/drawingml/2006/main">
              <a:ext uri="{FF2B5EF4-FFF2-40B4-BE49-F238E27FC236}">
                <a16:creationId xmlns:a16="http://schemas.microsoft.com/office/drawing/2014/main" id="{3D2B60A1-9A1F-4F92-BC51-8EFCAFE3D66C}"/>
              </a:ext>
            </a:extLst>
          </p:cNvPr>
          <p:cNvSpPr>
            <a:spLocks xmlns:a="http://schemas.openxmlformats.org/drawingml/2006/main" noGrp="1"/>
          </p:cNvSpPr>
          <p:nvPr/>
        </p:nvSpPr>
        <p:spPr>
          <a:xfrm xmlns:a="http://schemas.openxmlformats.org/drawingml/2006/main">
            <a:off x="685800" y="4086225"/>
            <a:ext cx="2428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8A8B2"/>
                </a:solidFill>
                <a:latin typeface="Arial"/>
                <a:ea typeface="Arial"/>
                <a:cs typeface="Arial"/>
              </a:defRPr>
            </a:pPr>
            <a:r>
              <a:rPr sz="1875" b="0">
                <a:solidFill>
                  <a:srgbClr val="A8A8B2"/>
                </a:solidFill>
                <a:latin typeface="Arial"/>
                <a:ea typeface="Arial"/>
                <a:cs typeface="Arial"/>
              </a:rPr>
              <a:t>5 AAPL</a:t>
            </a:r>
          </a:p>
        </p:txBody>
      </p:sp>
      <p:sp>
        <p:nvSpPr>
          <p:cNvPr id="9" name="07">
            <a:extLst xmlns:a="http://schemas.openxmlformats.org/drawingml/2006/main">
              <a:ext uri="{FF2B5EF4-FFF2-40B4-BE49-F238E27FC236}">
                <a16:creationId xmlns:a16="http://schemas.microsoft.com/office/drawing/2014/main" id="{A681447C-AF24-4AE0-949A-515A592EBF69}"/>
              </a:ext>
            </a:extLst>
          </p:cNvPr>
          <p:cNvSpPr>
            <a:spLocks xmlns:a="http://schemas.openxmlformats.org/drawingml/2006/main" noGrp="1"/>
          </p:cNvSpPr>
          <p:nvPr/>
        </p:nvSpPr>
        <p:spPr>
          <a:xfrm xmlns:a="http://schemas.openxmlformats.org/drawingml/2006/main">
            <a:off x="3590925" y="1962150"/>
            <a:ext cx="2333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0" b="1">
                <a:solidFill>
                  <a:srgbClr val="FF5470"/>
                </a:solidFill>
                <a:latin typeface="Arial"/>
                <a:ea typeface="Arial"/>
                <a:cs typeface="Arial"/>
              </a:defRPr>
            </a:pPr>
            <a:r>
              <a:rPr sz="7200" b="1">
                <a:solidFill>
                  <a:srgbClr val="FF5470"/>
                </a:solidFill>
                <a:latin typeface="Arial"/>
                <a:ea typeface="Arial"/>
                <a:cs typeface="Arial"/>
              </a:rPr>
              <a:t>07</a:t>
            </a:r>
          </a:p>
        </p:txBody>
      </p:sp>
      <p:sp>
        <p:nvSpPr>
          <p:cNvPr id="10" name="Band refusal">
            <a:extLst xmlns:a="http://schemas.openxmlformats.org/drawingml/2006/main">
              <a:ext uri="{FF2B5EF4-FFF2-40B4-BE49-F238E27FC236}">
                <a16:creationId xmlns:a16="http://schemas.microsoft.com/office/drawing/2014/main" id="{697B45F1-5CD3-4032-AB96-3349801E71AA}"/>
              </a:ext>
            </a:extLst>
          </p:cNvPr>
          <p:cNvSpPr>
            <a:spLocks xmlns:a="http://schemas.openxmlformats.org/drawingml/2006/main" noGrp="1"/>
          </p:cNvSpPr>
          <p:nvPr/>
        </p:nvSpPr>
        <p:spPr>
          <a:xfrm xmlns:a="http://schemas.openxmlformats.org/drawingml/2006/main">
            <a:off x="3590925" y="34861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FAFAFA"/>
                </a:solidFill>
                <a:latin typeface="Arial"/>
                <a:ea typeface="Arial"/>
                <a:cs typeface="Arial"/>
              </a:defRPr>
            </a:pPr>
            <a:r>
              <a:rPr sz="2100" b="1">
                <a:solidFill>
                  <a:srgbClr val="FAFAFA"/>
                </a:solidFill>
                <a:latin typeface="Arial"/>
                <a:ea typeface="Arial"/>
                <a:cs typeface="Arial"/>
              </a:rPr>
              <a:t>Band refusal</a:t>
            </a:r>
          </a:p>
        </p:txBody>
      </p:sp>
      <p:sp>
        <p:nvSpPr>
          <p:cNvPr id="11" name="No token change">
            <a:extLst xmlns:a="http://schemas.openxmlformats.org/drawingml/2006/main">
              <a:ext uri="{FF2B5EF4-FFF2-40B4-BE49-F238E27FC236}">
                <a16:creationId xmlns:a16="http://schemas.microsoft.com/office/drawing/2014/main" id="{7BA7AE59-1CAF-456E-BBFA-032C44E47F8D}"/>
              </a:ext>
            </a:extLst>
          </p:cNvPr>
          <p:cNvSpPr>
            <a:spLocks xmlns:a="http://schemas.openxmlformats.org/drawingml/2006/main" noGrp="1"/>
          </p:cNvSpPr>
          <p:nvPr/>
        </p:nvSpPr>
        <p:spPr>
          <a:xfrm xmlns:a="http://schemas.openxmlformats.org/drawingml/2006/main">
            <a:off x="3590925" y="4086225"/>
            <a:ext cx="2428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8A8B2"/>
                </a:solidFill>
                <a:latin typeface="Arial"/>
                <a:ea typeface="Arial"/>
                <a:cs typeface="Arial"/>
              </a:defRPr>
            </a:pPr>
            <a:r>
              <a:rPr sz="1875" b="0">
                <a:solidFill>
                  <a:srgbClr val="A8A8B2"/>
                </a:solidFill>
                <a:latin typeface="Arial"/>
                <a:ea typeface="Arial"/>
                <a:cs typeface="Arial"/>
              </a:rPr>
              <a:t>No token change</a:t>
            </a:r>
          </a:p>
        </p:txBody>
      </p:sp>
      <p:sp>
        <p:nvSpPr>
          <p:cNvPr id="12" name="09">
            <a:extLst xmlns:a="http://schemas.openxmlformats.org/drawingml/2006/main">
              <a:ext uri="{FF2B5EF4-FFF2-40B4-BE49-F238E27FC236}">
                <a16:creationId xmlns:a16="http://schemas.microsoft.com/office/drawing/2014/main" id="{F7674700-466B-4A59-A6F6-7B58C865E945}"/>
              </a:ext>
            </a:extLst>
          </p:cNvPr>
          <p:cNvSpPr>
            <a:spLocks xmlns:a="http://schemas.openxmlformats.org/drawingml/2006/main" noGrp="1"/>
          </p:cNvSpPr>
          <p:nvPr/>
        </p:nvSpPr>
        <p:spPr>
          <a:xfrm xmlns:a="http://schemas.openxmlformats.org/drawingml/2006/main">
            <a:off x="6496050" y="1962150"/>
            <a:ext cx="2333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0" b="1">
                <a:solidFill>
                  <a:srgbClr val="FF5470"/>
                </a:solidFill>
                <a:latin typeface="Arial"/>
                <a:ea typeface="Arial"/>
                <a:cs typeface="Arial"/>
              </a:defRPr>
            </a:pPr>
            <a:r>
              <a:rPr sz="7200" b="1">
                <a:solidFill>
                  <a:srgbClr val="FF5470"/>
                </a:solidFill>
                <a:latin typeface="Arial"/>
                <a:ea typeface="Arial"/>
                <a:cs typeface="Arial"/>
              </a:rPr>
              <a:t>09</a:t>
            </a:r>
          </a:p>
        </p:txBody>
      </p:sp>
      <p:sp>
        <p:nvSpPr>
          <p:cNvPr id="13" name="Quote expiry">
            <a:extLst xmlns:a="http://schemas.openxmlformats.org/drawingml/2006/main">
              <a:ext uri="{FF2B5EF4-FFF2-40B4-BE49-F238E27FC236}">
                <a16:creationId xmlns:a16="http://schemas.microsoft.com/office/drawing/2014/main" id="{C3FF6628-2581-4EC4-B6AC-856919FB5B1F}"/>
              </a:ext>
            </a:extLst>
          </p:cNvPr>
          <p:cNvSpPr>
            <a:spLocks xmlns:a="http://schemas.openxmlformats.org/drawingml/2006/main" noGrp="1"/>
          </p:cNvSpPr>
          <p:nvPr/>
        </p:nvSpPr>
        <p:spPr>
          <a:xfrm xmlns:a="http://schemas.openxmlformats.org/drawingml/2006/main">
            <a:off x="6496050" y="34861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FAFAFA"/>
                </a:solidFill>
                <a:latin typeface="Arial"/>
                <a:ea typeface="Arial"/>
                <a:cs typeface="Arial"/>
              </a:defRPr>
            </a:pPr>
            <a:r>
              <a:rPr sz="2100" b="1">
                <a:solidFill>
                  <a:srgbClr val="FAFAFA"/>
                </a:solidFill>
                <a:latin typeface="Arial"/>
                <a:ea typeface="Arial"/>
                <a:cs typeface="Arial"/>
              </a:rPr>
              <a:t>Quote expiry</a:t>
            </a:r>
          </a:p>
        </p:txBody>
      </p:sp>
      <p:sp>
        <p:nvSpPr>
          <p:cNvPr id="14" name="Maker renews">
            <a:extLst xmlns:a="http://schemas.openxmlformats.org/drawingml/2006/main">
              <a:ext uri="{FF2B5EF4-FFF2-40B4-BE49-F238E27FC236}">
                <a16:creationId xmlns:a16="http://schemas.microsoft.com/office/drawing/2014/main" id="{CDFE2B08-7C85-497F-91D5-C2BB7ADC7357}"/>
              </a:ext>
            </a:extLst>
          </p:cNvPr>
          <p:cNvSpPr>
            <a:spLocks xmlns:a="http://schemas.openxmlformats.org/drawingml/2006/main" noGrp="1"/>
          </p:cNvSpPr>
          <p:nvPr/>
        </p:nvSpPr>
        <p:spPr>
          <a:xfrm xmlns:a="http://schemas.openxmlformats.org/drawingml/2006/main">
            <a:off x="6496050" y="4086225"/>
            <a:ext cx="2428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8A8B2"/>
                </a:solidFill>
                <a:latin typeface="Arial"/>
                <a:ea typeface="Arial"/>
                <a:cs typeface="Arial"/>
              </a:defRPr>
            </a:pPr>
            <a:r>
              <a:rPr sz="1875" b="0">
                <a:solidFill>
                  <a:srgbClr val="A8A8B2"/>
                </a:solidFill>
                <a:latin typeface="Arial"/>
                <a:ea typeface="Arial"/>
                <a:cs typeface="Arial"/>
              </a:rPr>
              <a:t>Maker renews</a:t>
            </a:r>
          </a:p>
        </p:txBody>
      </p:sp>
      <p:sp>
        <p:nvSpPr>
          <p:cNvPr id="15" name="14">
            <a:extLst xmlns:a="http://schemas.openxmlformats.org/drawingml/2006/main">
              <a:ext uri="{FF2B5EF4-FFF2-40B4-BE49-F238E27FC236}">
                <a16:creationId xmlns:a16="http://schemas.microsoft.com/office/drawing/2014/main" id="{1EC7D28F-A1D7-4217-A4C1-D1690E8D026D}"/>
              </a:ext>
            </a:extLst>
          </p:cNvPr>
          <p:cNvSpPr>
            <a:spLocks xmlns:a="http://schemas.openxmlformats.org/drawingml/2006/main" noGrp="1"/>
          </p:cNvSpPr>
          <p:nvPr/>
        </p:nvSpPr>
        <p:spPr>
          <a:xfrm xmlns:a="http://schemas.openxmlformats.org/drawingml/2006/main">
            <a:off x="9401175" y="1962150"/>
            <a:ext cx="2333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7200" b="1">
                <a:solidFill>
                  <a:srgbClr val="37D67A"/>
                </a:solidFill>
                <a:latin typeface="Arial"/>
                <a:ea typeface="Arial"/>
                <a:cs typeface="Arial"/>
              </a:defRPr>
            </a:pPr>
            <a:r>
              <a:rPr sz="7200" b="1">
                <a:solidFill>
                  <a:srgbClr val="37D67A"/>
                </a:solidFill>
                <a:latin typeface="Arial"/>
                <a:ea typeface="Arial"/>
                <a:cs typeface="Arial"/>
              </a:rPr>
              <a:t>14</a:t>
            </a:r>
          </a:p>
        </p:txBody>
      </p:sp>
      <p:sp>
        <p:nvSpPr>
          <p:cNvPr id="16" name="Premium out">
            <a:extLst xmlns:a="http://schemas.openxmlformats.org/drawingml/2006/main">
              <a:ext uri="{FF2B5EF4-FFF2-40B4-BE49-F238E27FC236}">
                <a16:creationId xmlns:a16="http://schemas.microsoft.com/office/drawing/2014/main" id="{A47D71EB-0E0B-48EA-A8E5-A7773DAD32F6}"/>
              </a:ext>
            </a:extLst>
          </p:cNvPr>
          <p:cNvSpPr>
            <a:spLocks xmlns:a="http://schemas.openxmlformats.org/drawingml/2006/main" noGrp="1"/>
          </p:cNvSpPr>
          <p:nvPr/>
        </p:nvSpPr>
        <p:spPr>
          <a:xfrm xmlns:a="http://schemas.openxmlformats.org/drawingml/2006/main">
            <a:off x="9401175" y="3486150"/>
            <a:ext cx="2428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FAFAFA"/>
                </a:solidFill>
                <a:latin typeface="Arial"/>
                <a:ea typeface="Arial"/>
                <a:cs typeface="Arial"/>
              </a:defRPr>
            </a:pPr>
            <a:r>
              <a:rPr sz="2100" b="1">
                <a:solidFill>
                  <a:srgbClr val="FAFAFA"/>
                </a:solidFill>
                <a:latin typeface="Arial"/>
                <a:ea typeface="Arial"/>
                <a:cs typeface="Arial"/>
              </a:rPr>
              <a:t>Premium out</a:t>
            </a:r>
          </a:p>
        </p:txBody>
      </p:sp>
      <p:sp>
        <p:nvSpPr>
          <p:cNvPr id="17" name="Book = 0">
            <a:extLst xmlns:a="http://schemas.openxmlformats.org/drawingml/2006/main">
              <a:ext uri="{FF2B5EF4-FFF2-40B4-BE49-F238E27FC236}">
                <a16:creationId xmlns:a16="http://schemas.microsoft.com/office/drawing/2014/main" id="{C1FC0C0F-A70C-482A-A474-5B0383696190}"/>
              </a:ext>
            </a:extLst>
          </p:cNvPr>
          <p:cNvSpPr>
            <a:spLocks xmlns:a="http://schemas.openxmlformats.org/drawingml/2006/main" noGrp="1"/>
          </p:cNvSpPr>
          <p:nvPr/>
        </p:nvSpPr>
        <p:spPr>
          <a:xfrm xmlns:a="http://schemas.openxmlformats.org/drawingml/2006/main">
            <a:off x="9401175" y="4086225"/>
            <a:ext cx="2428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0">
                <a:solidFill>
                  <a:srgbClr val="A8A8B2"/>
                </a:solidFill>
                <a:latin typeface="Arial"/>
                <a:ea typeface="Arial"/>
                <a:cs typeface="Arial"/>
              </a:defRPr>
            </a:pPr>
            <a:r>
              <a:rPr sz="1875" b="0">
                <a:solidFill>
                  <a:srgbClr val="A8A8B2"/>
                </a:solidFill>
                <a:latin typeface="Arial"/>
                <a:ea typeface="Arial"/>
                <a:cs typeface="Arial"/>
              </a:rPr>
              <a:t>Book = 0</a:t>
            </a:r>
          </a:p>
        </p:txBody>
      </p:sp>
      <p:sp>
        <p:nvSpPr>
          <p:cNvPr id="18" name="Open the contract replay">
            <a:extLst xmlns:a="http://schemas.openxmlformats.org/drawingml/2006/main">
              <a:ext uri="{FF2B5EF4-FFF2-40B4-BE49-F238E27FC236}">
                <a16:creationId xmlns:a16="http://schemas.microsoft.com/office/drawing/2014/main" id="{AC3247EE-49B6-417A-91F5-9309C56A8245}"/>
              </a:ext>
            </a:extLst>
          </p:cNvPr>
          <p:cNvSpPr>
            <a:spLocks xmlns:a="http://schemas.openxmlformats.org/drawingml/2006/main" noGrp="1"/>
          </p:cNvSpPr>
          <p:nvPr/>
        </p:nvSpPr>
        <p:spPr>
          <a:xfrm xmlns:a="http://schemas.openxmlformats.org/drawingml/2006/main">
            <a:off x="695325" y="51054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0">
                <a:solidFill>
                  <a:srgbClr val="37D67A"/>
                </a:solidFill>
                <a:latin typeface="Arial"/>
                <a:ea typeface="Arial"/>
                <a:cs typeface="Arial"/>
              </a:defRPr>
            </a:pPr>
            <a:r>
              <a:rPr sz="2550" b="0" u="sng">
                <a:solidFill>
                  <a:srgbClr val="37D67A"/>
                </a:solidFill>
                <a:latin typeface="Arial"/>
                <a:ea typeface="Arial"/>
                <a:cs typeface="Arial"/>
                <a:hlinkClick xmlns:r="http://schemas.openxmlformats.org/officeDocument/2006/relationships" r:id="R50647a4388154be9"/>
              </a:rPr>
              <a:t>Open the contract replay</a:t>
            </a:r>
          </a:p>
        </p:txBody>
      </p:sp>
      <p:sp>
        <p:nvSpPr>
          <p:cNvPr id="19" name="Source replay: TSLA/USDG fixture. Slides illustrate AAPL.">
            <a:extLst xmlns:a="http://schemas.openxmlformats.org/drawingml/2006/main">
              <a:ext uri="{FF2B5EF4-FFF2-40B4-BE49-F238E27FC236}">
                <a16:creationId xmlns:a16="http://schemas.microsoft.com/office/drawing/2014/main" id="{F54BD212-B44A-4FC3-86BE-1F6DBBFFA35B}"/>
              </a:ext>
            </a:extLst>
          </p:cNvPr>
          <p:cNvSpPr>
            <a:spLocks xmlns:a="http://schemas.openxmlformats.org/drawingml/2006/main" noGrp="1"/>
          </p:cNvSpPr>
          <p:nvPr/>
        </p:nvSpPr>
        <p:spPr>
          <a:xfrm xmlns:a="http://schemas.openxmlformats.org/drawingml/2006/main">
            <a:off x="695325" y="5753100"/>
            <a:ext cx="10839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8A8B2"/>
                </a:solidFill>
                <a:latin typeface="Arial"/>
                <a:ea typeface="Arial"/>
                <a:cs typeface="Arial"/>
              </a:defRPr>
            </a:pPr>
            <a:r>
              <a:rPr sz="1725" b="0">
                <a:solidFill>
                  <a:srgbClr val="A8A8B2"/>
                </a:solidFill>
                <a:latin typeface="Arial"/>
                <a:ea typeface="Arial"/>
                <a:cs typeface="Arial"/>
              </a:rPr>
              <a:t>Source replay: TSLA/USDG fixture. Slides illustrate AAPL.</a:t>
            </a:r>
          </a:p>
        </p:txBody>
      </p:sp>
    </p:spTree>
    <p:extLst>
      <p:ext uri="{BB962C8B-B14F-4D97-AF65-F5344CB8AC3E}">
        <p14:creationId xmlns:p14="http://schemas.microsoft.com/office/powerpoint/2010/main" val="1816741802"/>
      </p:ext>
    </p:extLst>
  </p:cSld>
</p:sld>
</file>

<file path=ppt/slides/slide14.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2" name="What Vexi Hakari contributes">
            <a:extLst xmlns:a="http://schemas.openxmlformats.org/drawingml/2006/main">
              <a:ext uri="{FF2B5EF4-FFF2-40B4-BE49-F238E27FC236}">
                <a16:creationId xmlns:a16="http://schemas.microsoft.com/office/drawing/2014/main" id="{047AD1AE-E9B4-4650-B65B-19CCD8E50F58}"/>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What Vexi Hakari contributes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3b762b446304d5a"/>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19252AD3-B7BE-4532-BFEA-A4885F55F71E}"/>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14">
            <a:extLst xmlns:a="http://schemas.openxmlformats.org/drawingml/2006/main">
              <a:ext uri="{FF2B5EF4-FFF2-40B4-BE49-F238E27FC236}">
                <a16:creationId xmlns:a16="http://schemas.microsoft.com/office/drawing/2014/main" id="{68E07EEF-E28C-41D0-8BFB-2CE22000DD9D}"/>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14</a:t>
            </a:r>
          </a:p>
        </p:txBody>
      </p:sp>
      <p:sp>
        <p:nvSpPr>
          <p:cNvPr id="5" name="1inch Aqua + SwapVM">
            <a:extLst xmlns:a="http://schemas.openxmlformats.org/drawingml/2006/main">
              <a:ext uri="{FF2B5EF4-FFF2-40B4-BE49-F238E27FC236}">
                <a16:creationId xmlns:a16="http://schemas.microsoft.com/office/drawing/2014/main" id="{6CA62349-D82E-44FF-8893-2DC103CD2A16}"/>
              </a:ext>
            </a:extLst>
          </p:cNvPr>
          <p:cNvSpPr>
            <a:spLocks xmlns:a="http://schemas.openxmlformats.org/drawingml/2006/main" noGrp="1"/>
          </p:cNvSpPr>
          <p:nvPr/>
        </p:nvSpPr>
        <p:spPr>
          <a:xfrm xmlns:a="http://schemas.openxmlformats.org/drawingml/2006/main">
            <a:off x="676275" y="16859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37D67A"/>
                </a:solidFill>
                <a:latin typeface="Arial"/>
                <a:ea typeface="Arial"/>
                <a:cs typeface="Arial"/>
              </a:defRPr>
            </a:pPr>
            <a:r>
              <a:rPr sz="3300" b="1">
                <a:solidFill>
                  <a:srgbClr val="37D67A"/>
                </a:solidFill>
                <a:latin typeface="Arial"/>
                <a:ea typeface="Arial"/>
                <a:cs typeface="Arial"/>
              </a:rPr>
              <a:t>1inch Aqua + SwapVM</a:t>
            </a:r>
          </a:p>
        </p:txBody>
      </p:sp>
      <p:sp>
        <p:nvSpPr>
          <p:cNvPr id="6" name="Collateral at fill. Shared inventory guard.">
            <a:extLst xmlns:a="http://schemas.openxmlformats.org/drawingml/2006/main">
              <a:ext uri="{FF2B5EF4-FFF2-40B4-BE49-F238E27FC236}">
                <a16:creationId xmlns:a16="http://schemas.microsoft.com/office/drawing/2014/main" id="{3BB8AC48-4A3B-45FC-B83D-F8986C6FABD8}"/>
              </a:ext>
            </a:extLst>
          </p:cNvPr>
          <p:cNvSpPr>
            <a:spLocks xmlns:a="http://schemas.openxmlformats.org/drawingml/2006/main" noGrp="1"/>
          </p:cNvSpPr>
          <p:nvPr/>
        </p:nvSpPr>
        <p:spPr>
          <a:xfrm xmlns:a="http://schemas.openxmlformats.org/drawingml/2006/main">
            <a:off x="685800" y="24288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FAFAFA"/>
                </a:solidFill>
                <a:latin typeface="Arial"/>
                <a:ea typeface="Arial"/>
                <a:cs typeface="Arial"/>
              </a:defRPr>
            </a:pPr>
            <a:r>
              <a:rPr sz="2475" b="0">
                <a:solidFill>
                  <a:srgbClr val="FAFAFA"/>
                </a:solidFill>
                <a:latin typeface="Arial"/>
                <a:ea typeface="Arial"/>
                <a:cs typeface="Arial"/>
              </a:rPr>
              <a:t>Collateral at fill. Shared inventory guard.</a:t>
            </a:r>
          </a:p>
        </p:txBody>
      </p:sp>
      <p:sp>
        <p:nvSpPr>
          <p:cNvPr id="7" name="">
            <a:extLst xmlns:a="http://schemas.openxmlformats.org/drawingml/2006/main">
              <a:ext uri="{FF2B5EF4-FFF2-40B4-BE49-F238E27FC236}">
                <a16:creationId xmlns:a16="http://schemas.microsoft.com/office/drawing/2014/main" id="{04704B29-F3B5-44FE-B235-DC617BE47F26}"/>
              </a:ext>
            </a:extLst>
          </p:cNvPr>
          <p:cNvSpPr>
            <a:spLocks xmlns:a="http://schemas.openxmlformats.org/drawingml/2006/main" noGrp="1"/>
          </p:cNvSpPr>
          <p:nvPr/>
        </p:nvSpPr>
        <p:spPr>
          <a:xfrm xmlns:a="http://schemas.openxmlformats.org/drawingml/2006/main">
            <a:off x="685800" y="3248025"/>
            <a:ext cx="10820400" cy="0"/>
          </a:xfrm>
          <a:prstGeom xmlns:a="http://schemas.openxmlformats.org/drawingml/2006/main" prst="line">
            <a:avLst/>
          </a:prstGeom>
          <a:noFill xmlns:a="http://schemas.openxmlformats.org/drawingml/2006/main"/>
          <a:ln xmlns:a="http://schemas.openxmlformats.org/drawingml/2006/main" w="9525">
            <a:solidFill>
              <a:srgbClr val="33333D"/>
            </a:solidFill>
          </a:ln>
        </p:spPr>
      </p:sp>
      <p:sp>
        <p:nvSpPr>
          <p:cNvPr id="8" name="Uniswap v4">
            <a:extLst xmlns:a="http://schemas.openxmlformats.org/drawingml/2006/main">
              <a:ext uri="{FF2B5EF4-FFF2-40B4-BE49-F238E27FC236}">
                <a16:creationId xmlns:a16="http://schemas.microsoft.com/office/drawing/2014/main" id="{0A4F32B5-2DA1-4CF6-9075-4AB3C20691BA}"/>
              </a:ext>
            </a:extLst>
          </p:cNvPr>
          <p:cNvSpPr>
            <a:spLocks xmlns:a="http://schemas.openxmlformats.org/drawingml/2006/main" noGrp="1"/>
          </p:cNvSpPr>
          <p:nvPr/>
        </p:nvSpPr>
        <p:spPr>
          <a:xfrm xmlns:a="http://schemas.openxmlformats.org/drawingml/2006/main">
            <a:off x="676275" y="36290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300" b="1">
                <a:solidFill>
                  <a:srgbClr val="FF007A"/>
                </a:solidFill>
                <a:latin typeface="Arial"/>
                <a:ea typeface="Arial"/>
                <a:cs typeface="Arial"/>
              </a:defRPr>
            </a:pPr>
            <a:r>
              <a:rPr sz="3300" b="1">
                <a:solidFill>
                  <a:srgbClr val="FF007A"/>
                </a:solidFill>
                <a:latin typeface="Arial"/>
                <a:ea typeface="Arial"/>
                <a:cs typeface="Arial"/>
              </a:rPr>
              <a:t>Uniswap v4</a:t>
            </a:r>
          </a:p>
        </p:txBody>
      </p:sp>
      <p:sp>
        <p:nvSpPr>
          <p:cNvPr id="9" name="Hook observations change real option fills.">
            <a:extLst xmlns:a="http://schemas.openxmlformats.org/drawingml/2006/main">
              <a:ext uri="{FF2B5EF4-FFF2-40B4-BE49-F238E27FC236}">
                <a16:creationId xmlns:a16="http://schemas.microsoft.com/office/drawing/2014/main" id="{288475E5-BECF-4A1A-B12E-58A071FE16CB}"/>
              </a:ext>
            </a:extLst>
          </p:cNvPr>
          <p:cNvSpPr>
            <a:spLocks xmlns:a="http://schemas.openxmlformats.org/drawingml/2006/main" noGrp="1"/>
          </p:cNvSpPr>
          <p:nvPr/>
        </p:nvSpPr>
        <p:spPr>
          <a:xfrm xmlns:a="http://schemas.openxmlformats.org/drawingml/2006/main">
            <a:off x="685800" y="43719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0">
                <a:solidFill>
                  <a:srgbClr val="FAFAFA"/>
                </a:solidFill>
                <a:latin typeface="Arial"/>
                <a:ea typeface="Arial"/>
                <a:cs typeface="Arial"/>
              </a:defRPr>
            </a:pPr>
            <a:r>
              <a:rPr sz="2475" b="0">
                <a:solidFill>
                  <a:srgbClr val="FAFAFA"/>
                </a:solidFill>
                <a:latin typeface="Arial"/>
                <a:ea typeface="Arial"/>
                <a:cs typeface="Arial"/>
              </a:rPr>
              <a:t>Hook observations change real option fills.</a:t>
            </a:r>
          </a:p>
        </p:txBody>
      </p:sp>
      <p:sp>
        <p:nvSpPr>
          <p:cNvPr id="10" name="github.com/vexi-v1/vexi-hakari">
            <a:extLst xmlns:a="http://schemas.openxmlformats.org/drawingml/2006/main">
              <a:ext uri="{FF2B5EF4-FFF2-40B4-BE49-F238E27FC236}">
                <a16:creationId xmlns:a16="http://schemas.microsoft.com/office/drawing/2014/main" id="{4F346801-C404-457C-A013-F06B59C6295B}"/>
              </a:ext>
            </a:extLst>
          </p:cNvPr>
          <p:cNvSpPr>
            <a:spLocks xmlns:a="http://schemas.openxmlformats.org/drawingml/2006/main" noGrp="1"/>
          </p:cNvSpPr>
          <p:nvPr/>
        </p:nvSpPr>
        <p:spPr>
          <a:xfrm xmlns:a="http://schemas.openxmlformats.org/drawingml/2006/main">
            <a:off x="685800" y="54387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37D67A"/>
                </a:solidFill>
                <a:latin typeface="Arial"/>
                <a:ea typeface="Arial"/>
                <a:cs typeface="Arial"/>
              </a:defRPr>
            </a:pPr>
            <a:r>
              <a:rPr sz="2325" b="0" u="sng">
                <a:solidFill>
                  <a:srgbClr val="37D67A"/>
                </a:solidFill>
                <a:latin typeface="Arial"/>
                <a:ea typeface="Arial"/>
                <a:cs typeface="Arial"/>
                <a:hlinkClick xmlns:r="http://schemas.openxmlformats.org/officeDocument/2006/relationships" r:id="R0d4e345c3fee4c0d"/>
              </a:rPr>
              <a:t>github.com/vexi-v1/vexi-hakari</a:t>
            </a:r>
          </a:p>
        </p:txBody>
      </p:sp>
      <p:sp>
        <p:nvSpPr>
          <p:cNvPr id="11" name="Public fork evidence. Hook + pool recorded on testnet.">
            <a:extLst xmlns:a="http://schemas.openxmlformats.org/drawingml/2006/main">
              <a:ext uri="{FF2B5EF4-FFF2-40B4-BE49-F238E27FC236}">
                <a16:creationId xmlns:a16="http://schemas.microsoft.com/office/drawing/2014/main" id="{FDFC9349-2C69-4465-BDEB-FAD7DD905F82}"/>
              </a:ext>
            </a:extLst>
          </p:cNvPr>
          <p:cNvSpPr>
            <a:spLocks xmlns:a="http://schemas.openxmlformats.org/drawingml/2006/main" noGrp="1"/>
          </p:cNvSpPr>
          <p:nvPr/>
        </p:nvSpPr>
        <p:spPr>
          <a:xfrm xmlns:a="http://schemas.openxmlformats.org/drawingml/2006/main">
            <a:off x="695325" y="5953125"/>
            <a:ext cx="10829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Public fork evidence. Hook + pool recorded on testnet.</a:t>
            </a:r>
          </a:p>
        </p:txBody>
      </p:sp>
    </p:spTree>
    <p:extLst>
      <p:ext uri="{BB962C8B-B14F-4D97-AF65-F5344CB8AC3E}">
        <p14:creationId xmlns:p14="http://schemas.microsoft.com/office/powerpoint/2010/main" val="1731088104"/>
      </p:ext>
    </p:extLst>
  </p:cSld>
</p:sld>
</file>

<file path=ppt/slides/slide15.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26" name="Settlement has two experimental branches">
            <a:extLst xmlns:a="http://schemas.openxmlformats.org/drawingml/2006/main">
              <a:ext uri="{FF2B5EF4-FFF2-40B4-BE49-F238E27FC236}">
                <a16:creationId xmlns:a16="http://schemas.microsoft.com/office/drawing/2014/main" id="{7E6DA1EA-B46C-486B-987E-A25125A1932E}"/>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Settlement has two experimental branches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d5966d9a72a4c39"/>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D5C781CC-2B13-435F-9F67-3AD9FFCE86EC}"/>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1">
            <a:extLst xmlns:a="http://schemas.openxmlformats.org/drawingml/2006/main">
              <a:ext uri="{FF2B5EF4-FFF2-40B4-BE49-F238E27FC236}">
                <a16:creationId xmlns:a16="http://schemas.microsoft.com/office/drawing/2014/main" id="{E493AF0B-5CCA-4EDD-A0E2-B470F35971A0}"/>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A1</a:t>
            </a:r>
          </a:p>
        </p:txBody>
      </p:sp>
      <p:sp>
        <p:nvSpPr>
          <p:cNvPr id="5" name="Delayed acceptance">
            <a:extLst xmlns:a="http://schemas.openxmlformats.org/drawingml/2006/main">
              <a:ext uri="{FF2B5EF4-FFF2-40B4-BE49-F238E27FC236}">
                <a16:creationId xmlns:a16="http://schemas.microsoft.com/office/drawing/2014/main" id="{8D4226E5-5DEB-455C-B3C4-B5C12E7F66AE}"/>
              </a:ext>
            </a:extLst>
          </p:cNvPr>
          <p:cNvSpPr>
            <a:spLocks xmlns:a="http://schemas.openxmlformats.org/drawingml/2006/main" noGrp="1"/>
          </p:cNvSpPr>
          <p:nvPr/>
        </p:nvSpPr>
        <p:spPr>
          <a:xfrm xmlns:a="http://schemas.openxmlformats.org/drawingml/2006/main">
            <a:off x="638175" y="1704975"/>
            <a:ext cx="2714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FAFAFA"/>
                </a:solidFill>
                <a:latin typeface="Arial"/>
                <a:ea typeface="Arial"/>
                <a:cs typeface="Arial"/>
              </a:defRPr>
            </a:pPr>
            <a:r>
              <a:rPr sz="2100" b="1">
                <a:solidFill>
                  <a:srgbClr val="FAFAFA"/>
                </a:solidFill>
                <a:latin typeface="Arial"/>
                <a:ea typeface="Arial"/>
                <a:cs typeface="Arial"/>
              </a:rPr>
              <a:t>Delayed acceptance</a:t>
            </a:r>
          </a:p>
        </p:txBody>
      </p:sp>
      <p:sp>
        <p:nvSpPr>
          <p:cNvPr id="6" name="Window 0&#10;Rejected">
            <a:extLst xmlns:a="http://schemas.openxmlformats.org/drawingml/2006/main">
              <a:ext uri="{FF2B5EF4-FFF2-40B4-BE49-F238E27FC236}">
                <a16:creationId xmlns:a16="http://schemas.microsoft.com/office/drawing/2014/main" id="{7F17E465-25A3-4070-B937-4F3A92207955}"/>
              </a:ext>
            </a:extLst>
          </p:cNvPr>
          <p:cNvSpPr>
            <a:spLocks xmlns:a="http://schemas.openxmlformats.org/drawingml/2006/main" noGrp="1"/>
          </p:cNvSpPr>
          <p:nvPr/>
        </p:nvSpPr>
        <p:spPr>
          <a:xfrm xmlns:a="http://schemas.openxmlformats.org/drawingml/2006/main">
            <a:off x="3581400" y="1600200"/>
            <a:ext cx="2238375" cy="1047750"/>
          </a:xfrm>
          <a:prstGeom xmlns:a="http://schemas.openxmlformats.org/drawingml/2006/main" prst="rect">
            <a:avLst/>
          </a:prstGeom>
          <a:solidFill xmlns:a="http://schemas.openxmlformats.org/drawingml/2006/main">
            <a:srgbClr val="08080A"/>
          </a:solidFill>
          <a:ln xmlns:a="http://schemas.openxmlformats.org/drawingml/2006/main" w="14288">
            <a:solidFill>
              <a:srgbClr val="FF5470"/>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100" b="1">
                <a:solidFill>
                  <a:srgbClr val="FF5470"/>
                </a:solidFill>
                <a:latin typeface="Arial"/>
                <a:ea typeface="Arial"/>
                <a:cs typeface="Arial"/>
              </a:defRPr>
            </a:pPr>
            <a:r>
              <a:rPr sz="2100" b="1">
                <a:solidFill>
                  <a:srgbClr val="FF5470"/>
                </a:solidFill>
                <a:latin typeface="Arial"/>
                <a:ea typeface="Arial"/>
                <a:cs typeface="Arial"/>
              </a:rPr>
              <a:t>Window 0</a:t>
            </a:r>
          </a:p>
          <a:p xmlns:a="http://schemas.openxmlformats.org/drawingml/2006/main">
            <a:pPr algn="ctr">
              <a:defRPr sz="2100" b="1">
                <a:solidFill>
                  <a:srgbClr val="FF5470"/>
                </a:solidFill>
                <a:latin typeface="Arial"/>
                <a:ea typeface="Arial"/>
                <a:cs typeface="Arial"/>
              </a:defRPr>
            </a:pPr>
            <a:r>
              <a:rPr sz="2100" b="1">
                <a:solidFill>
                  <a:srgbClr val="FF5470"/>
                </a:solidFill>
                <a:latin typeface="Arial"/>
                <a:ea typeface="Arial"/>
                <a:cs typeface="Arial"/>
              </a:rPr>
              <a:t>Rejected</a:t>
            </a:r>
          </a:p>
        </p:txBody>
      </p:sp>
      <p:sp>
        <p:nvSpPr>
          <p:cNvPr id="7" name="Window 1&#10;Accepted">
            <a:extLst xmlns:a="http://schemas.openxmlformats.org/drawingml/2006/main">
              <a:ext uri="{FF2B5EF4-FFF2-40B4-BE49-F238E27FC236}">
                <a16:creationId xmlns:a16="http://schemas.microsoft.com/office/drawing/2014/main" id="{2B616C18-0552-40AE-BF9C-45D34E857867}"/>
              </a:ext>
            </a:extLst>
          </p:cNvPr>
          <p:cNvSpPr>
            <a:spLocks xmlns:a="http://schemas.openxmlformats.org/drawingml/2006/main" noGrp="1"/>
          </p:cNvSpPr>
          <p:nvPr/>
        </p:nvSpPr>
        <p:spPr>
          <a:xfrm xmlns:a="http://schemas.openxmlformats.org/drawingml/2006/main">
            <a:off x="7048500" y="1600200"/>
            <a:ext cx="2238375" cy="104775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100" b="1">
                <a:solidFill>
                  <a:srgbClr val="37D67A"/>
                </a:solidFill>
                <a:latin typeface="Arial"/>
                <a:ea typeface="Arial"/>
                <a:cs typeface="Arial"/>
              </a:defRPr>
            </a:pPr>
            <a:r>
              <a:rPr sz="2100" b="1">
                <a:solidFill>
                  <a:srgbClr val="37D67A"/>
                </a:solidFill>
                <a:latin typeface="Arial"/>
                <a:ea typeface="Arial"/>
                <a:cs typeface="Arial"/>
              </a:rPr>
              <a:t>Window 1</a:t>
            </a:r>
          </a:p>
          <a:p xmlns:a="http://schemas.openxmlformats.org/drawingml/2006/main">
            <a:pPr algn="ctr">
              <a:defRPr sz="2100" b="1">
                <a:solidFill>
                  <a:srgbClr val="37D67A"/>
                </a:solidFill>
                <a:latin typeface="Arial"/>
                <a:ea typeface="Arial"/>
                <a:cs typeface="Arial"/>
              </a:defRPr>
            </a:pPr>
            <a:r>
              <a:rPr sz="2100" b="1">
                <a:solidFill>
                  <a:srgbClr val="37D67A"/>
                </a:solidFill>
                <a:latin typeface="Arial"/>
                <a:ea typeface="Arial"/>
                <a:cs typeface="Arial"/>
              </a:rPr>
              <a:t>Accepted</a:t>
            </a:r>
          </a:p>
        </p:txBody>
      </p: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5819775" y="2124075"/>
            <a:ext cx="1228725" cy="0"/>
          </a:xfrm>
          <a:prstGeom xmlns:a="http://schemas.openxmlformats.org/drawingml/2006/main" prst="straightConnector1">
            <a:avLst/>
          </a:prstGeom>
          <a:ln xmlns:a="http://schemas.openxmlformats.org/drawingml/2006/main" w="22860">
            <a:solidFill>
              <a:srgbClr val="A8A8B2"/>
            </a:solidFill>
            <a:prstDash val="solid"/>
            <a:tailEnd type="triangle" w="med" len="med"/>
          </a:ln>
        </p:spPr>
      </p:cxnSp>
      <p:sp>
        <p:nvSpPr>
          <p:cNvPr id="9" name="Caller retries after 5 minutes">
            <a:extLst xmlns:a="http://schemas.openxmlformats.org/drawingml/2006/main">
              <a:ext uri="{FF2B5EF4-FFF2-40B4-BE49-F238E27FC236}">
                <a16:creationId xmlns:a16="http://schemas.microsoft.com/office/drawing/2014/main" id="{B85098F7-145C-42C4-B4B5-18FC165DC613}"/>
              </a:ext>
            </a:extLst>
          </p:cNvPr>
          <p:cNvSpPr>
            <a:spLocks xmlns:a="http://schemas.openxmlformats.org/drawingml/2006/main" noGrp="1"/>
          </p:cNvSpPr>
          <p:nvPr/>
        </p:nvSpPr>
        <p:spPr>
          <a:xfrm xmlns:a="http://schemas.openxmlformats.org/drawingml/2006/main">
            <a:off x="3524250" y="2790825"/>
            <a:ext cx="7524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A8A8B2"/>
                </a:solidFill>
                <a:latin typeface="Arial"/>
                <a:ea typeface="Arial"/>
                <a:cs typeface="Arial"/>
              </a:defRPr>
            </a:pPr>
            <a:r>
              <a:rPr sz="1950" b="0">
                <a:solidFill>
                  <a:srgbClr val="A8A8B2"/>
                </a:solidFill>
                <a:latin typeface="Arial"/>
                <a:ea typeface="Arial"/>
                <a:cs typeface="Arial"/>
              </a:rPr>
              <a:t>Caller retries after 5 minutes</a:t>
            </a:r>
          </a:p>
        </p:txBody>
      </p:sp>
      <p:sp>
        <p:nvSpPr>
          <p:cNvPr id="10" name="">
            <a:extLst xmlns:a="http://schemas.openxmlformats.org/drawingml/2006/main">
              <a:ext uri="{FF2B5EF4-FFF2-40B4-BE49-F238E27FC236}">
                <a16:creationId xmlns:a16="http://schemas.microsoft.com/office/drawing/2014/main" id="{31E942E2-A825-42C6-A362-372CB3AA0E75}"/>
              </a:ext>
            </a:extLst>
          </p:cNvPr>
          <p:cNvSpPr>
            <a:spLocks xmlns:a="http://schemas.openxmlformats.org/drawingml/2006/main" noGrp="1"/>
          </p:cNvSpPr>
          <p:nvPr/>
        </p:nvSpPr>
        <p:spPr>
          <a:xfrm xmlns:a="http://schemas.openxmlformats.org/drawingml/2006/main">
            <a:off x="638175" y="3486150"/>
            <a:ext cx="10925175" cy="0"/>
          </a:xfrm>
          <a:prstGeom xmlns:a="http://schemas.openxmlformats.org/drawingml/2006/main" prst="line">
            <a:avLst/>
          </a:prstGeom>
          <a:noFill xmlns:a="http://schemas.openxmlformats.org/drawingml/2006/main"/>
          <a:ln xmlns:a="http://schemas.openxmlformats.org/drawingml/2006/main" w="9525">
            <a:solidFill>
              <a:srgbClr val="33333D"/>
            </a:solidFill>
          </a:ln>
        </p:spPr>
      </p:sp>
      <p:sp>
        <p:nvSpPr>
          <p:cNvPr id="11" name="Persistent gap">
            <a:extLst xmlns:a="http://schemas.openxmlformats.org/drawingml/2006/main">
              <a:ext uri="{FF2B5EF4-FFF2-40B4-BE49-F238E27FC236}">
                <a16:creationId xmlns:a16="http://schemas.microsoft.com/office/drawing/2014/main" id="{05D6E16F-DF23-4E74-A6D9-5A0C7B04D753}"/>
              </a:ext>
            </a:extLst>
          </p:cNvPr>
          <p:cNvSpPr>
            <a:spLocks xmlns:a="http://schemas.openxmlformats.org/drawingml/2006/main" noGrp="1"/>
          </p:cNvSpPr>
          <p:nvPr/>
        </p:nvSpPr>
        <p:spPr>
          <a:xfrm xmlns:a="http://schemas.openxmlformats.org/drawingml/2006/main">
            <a:off x="638175" y="37147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FAFAFA"/>
                </a:solidFill>
                <a:latin typeface="Arial"/>
                <a:ea typeface="Arial"/>
                <a:cs typeface="Arial"/>
              </a:defRPr>
            </a:pPr>
            <a:r>
              <a:rPr sz="2400" b="1">
                <a:solidFill>
                  <a:srgbClr val="FAFAFA"/>
                </a:solidFill>
                <a:latin typeface="Arial"/>
                <a:ea typeface="Arial"/>
                <a:cs typeface="Arial"/>
              </a:rPr>
              <a:t>Persistent gap</a:t>
            </a:r>
          </a:p>
        </p:txBody>
      </p:sp>
      <p:sp>
        <p:nvSpPr>
          <p:cNvPr id="12" name="0">
            <a:extLst xmlns:a="http://schemas.openxmlformats.org/drawingml/2006/main">
              <a:ext uri="{FF2B5EF4-FFF2-40B4-BE49-F238E27FC236}">
                <a16:creationId xmlns:a16="http://schemas.microsoft.com/office/drawing/2014/main" id="{8DBF4C13-9BF4-4979-85CB-1D765CA0C657}"/>
              </a:ext>
            </a:extLst>
          </p:cNvPr>
          <p:cNvSpPr>
            <a:spLocks xmlns:a="http://schemas.openxmlformats.org/drawingml/2006/main" noGrp="1"/>
          </p:cNvSpPr>
          <p:nvPr/>
        </p:nvSpPr>
        <p:spPr>
          <a:xfrm xmlns:a="http://schemas.openxmlformats.org/drawingml/2006/main">
            <a:off x="3543300" y="3743325"/>
            <a:ext cx="1009650" cy="628650"/>
          </a:xfrm>
          <a:prstGeom xmlns:a="http://schemas.openxmlformats.org/drawingml/2006/main" prst="rect">
            <a:avLst/>
          </a:prstGeom>
          <a:solidFill xmlns:a="http://schemas.openxmlformats.org/drawingml/2006/main">
            <a:srgbClr val="08080A"/>
          </a:solidFill>
          <a:ln xmlns:a="http://schemas.openxmlformats.org/drawingml/2006/main" w="14288">
            <a:solidFill>
              <a:srgbClr val="FF5470"/>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325" b="1">
                <a:solidFill>
                  <a:srgbClr val="FF5470"/>
                </a:solidFill>
                <a:latin typeface="Arial"/>
                <a:ea typeface="Arial"/>
                <a:cs typeface="Arial"/>
              </a:defRPr>
            </a:pPr>
            <a:r>
              <a:rPr sz="2325" b="1">
                <a:solidFill>
                  <a:srgbClr val="FF5470"/>
                </a:solidFill>
                <a:latin typeface="Arial"/>
                <a:ea typeface="Arial"/>
                <a:cs typeface="Arial"/>
              </a:rPr>
              <a:t>0</a:t>
            </a:r>
          </a:p>
        </p:txBody>
      </p:sp>
      <p:sp>
        <p:nvSpPr>
          <p:cNvPr id="13" name="1">
            <a:extLst xmlns:a="http://schemas.openxmlformats.org/drawingml/2006/main">
              <a:ext uri="{FF2B5EF4-FFF2-40B4-BE49-F238E27FC236}">
                <a16:creationId xmlns:a16="http://schemas.microsoft.com/office/drawing/2014/main" id="{6736A22E-1EE1-46AC-9572-890D39278187}"/>
              </a:ext>
            </a:extLst>
          </p:cNvPr>
          <p:cNvSpPr>
            <a:spLocks xmlns:a="http://schemas.openxmlformats.org/drawingml/2006/main" noGrp="1"/>
          </p:cNvSpPr>
          <p:nvPr/>
        </p:nvSpPr>
        <p:spPr>
          <a:xfrm xmlns:a="http://schemas.openxmlformats.org/drawingml/2006/main">
            <a:off x="4895850" y="3743325"/>
            <a:ext cx="1009650" cy="628650"/>
          </a:xfrm>
          <a:prstGeom xmlns:a="http://schemas.openxmlformats.org/drawingml/2006/main" prst="rect">
            <a:avLst/>
          </a:prstGeom>
          <a:solidFill xmlns:a="http://schemas.openxmlformats.org/drawingml/2006/main">
            <a:srgbClr val="08080A"/>
          </a:solidFill>
          <a:ln xmlns:a="http://schemas.openxmlformats.org/drawingml/2006/main" w="14288">
            <a:solidFill>
              <a:srgbClr val="FF5470"/>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325" b="1">
                <a:solidFill>
                  <a:srgbClr val="FF5470"/>
                </a:solidFill>
                <a:latin typeface="Arial"/>
                <a:ea typeface="Arial"/>
                <a:cs typeface="Arial"/>
              </a:defRPr>
            </a:pPr>
            <a:r>
              <a:rPr sz="2325" b="1">
                <a:solidFill>
                  <a:srgbClr val="FF5470"/>
                </a:solidFill>
                <a:latin typeface="Arial"/>
                <a:ea typeface="Arial"/>
                <a:cs typeface="Arial"/>
              </a:rPr>
              <a:t>1</a:t>
            </a:r>
          </a:p>
        </p:txBody>
      </p:sp>
      <p:sp>
        <p:nvSpPr>
          <p:cNvPr id="14" name="2">
            <a:extLst xmlns:a="http://schemas.openxmlformats.org/drawingml/2006/main">
              <a:ext uri="{FF2B5EF4-FFF2-40B4-BE49-F238E27FC236}">
                <a16:creationId xmlns:a16="http://schemas.microsoft.com/office/drawing/2014/main" id="{ADFA1707-4BF5-41B6-B6B5-9DCB65C15E34}"/>
              </a:ext>
            </a:extLst>
          </p:cNvPr>
          <p:cNvSpPr>
            <a:spLocks xmlns:a="http://schemas.openxmlformats.org/drawingml/2006/main" noGrp="1"/>
          </p:cNvSpPr>
          <p:nvPr/>
        </p:nvSpPr>
        <p:spPr>
          <a:xfrm xmlns:a="http://schemas.openxmlformats.org/drawingml/2006/main">
            <a:off x="6248400" y="3743325"/>
            <a:ext cx="1009650" cy="628650"/>
          </a:xfrm>
          <a:prstGeom xmlns:a="http://schemas.openxmlformats.org/drawingml/2006/main" prst="rect">
            <a:avLst/>
          </a:prstGeom>
          <a:solidFill xmlns:a="http://schemas.openxmlformats.org/drawingml/2006/main">
            <a:srgbClr val="08080A"/>
          </a:solidFill>
          <a:ln xmlns:a="http://schemas.openxmlformats.org/drawingml/2006/main" w="14288">
            <a:solidFill>
              <a:srgbClr val="FF5470"/>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325" b="1">
                <a:solidFill>
                  <a:srgbClr val="FF5470"/>
                </a:solidFill>
                <a:latin typeface="Arial"/>
                <a:ea typeface="Arial"/>
                <a:cs typeface="Arial"/>
              </a:defRPr>
            </a:pPr>
            <a:r>
              <a:rPr sz="2325" b="1">
                <a:solidFill>
                  <a:srgbClr val="FF5470"/>
                </a:solidFill>
                <a:latin typeface="Arial"/>
                <a:ea typeface="Arial"/>
                <a:cs typeface="Arial"/>
              </a:rPr>
              <a:t>2</a:t>
            </a:r>
          </a:p>
        </p:txBody>
      </p:sp>
      <p:sp>
        <p:nvSpPr>
          <p:cNvPr id="15" name="3">
            <a:extLst xmlns:a="http://schemas.openxmlformats.org/drawingml/2006/main">
              <a:ext uri="{FF2B5EF4-FFF2-40B4-BE49-F238E27FC236}">
                <a16:creationId xmlns:a16="http://schemas.microsoft.com/office/drawing/2014/main" id="{94710FF9-12AD-4E7C-92D4-AF9B831DC343}"/>
              </a:ext>
            </a:extLst>
          </p:cNvPr>
          <p:cNvSpPr>
            <a:spLocks xmlns:a="http://schemas.openxmlformats.org/drawingml/2006/main" noGrp="1"/>
          </p:cNvSpPr>
          <p:nvPr/>
        </p:nvSpPr>
        <p:spPr>
          <a:xfrm xmlns:a="http://schemas.openxmlformats.org/drawingml/2006/main">
            <a:off x="7600950" y="3743325"/>
            <a:ext cx="1009650" cy="628650"/>
          </a:xfrm>
          <a:prstGeom xmlns:a="http://schemas.openxmlformats.org/drawingml/2006/main" prst="rect">
            <a:avLst/>
          </a:prstGeom>
          <a:solidFill xmlns:a="http://schemas.openxmlformats.org/drawingml/2006/main">
            <a:srgbClr val="08080A"/>
          </a:solidFill>
          <a:ln xmlns:a="http://schemas.openxmlformats.org/drawingml/2006/main" w="14288">
            <a:solidFill>
              <a:srgbClr val="FF5470"/>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325" b="1">
                <a:solidFill>
                  <a:srgbClr val="FF5470"/>
                </a:solidFill>
                <a:latin typeface="Arial"/>
                <a:ea typeface="Arial"/>
                <a:cs typeface="Arial"/>
              </a:defRPr>
            </a:pPr>
            <a:r>
              <a:rPr sz="2325" b="1">
                <a:solidFill>
                  <a:srgbClr val="FF5470"/>
                </a:solidFill>
                <a:latin typeface="Arial"/>
                <a:ea typeface="Arial"/>
                <a:cs typeface="Arial"/>
              </a:rPr>
              <a:t>3</a:t>
            </a:r>
          </a:p>
        </p:txBody>
      </p:sp>
      <p:sp>
        <p:nvSpPr>
          <p:cNvPr id="16" name="4">
            <a:extLst xmlns:a="http://schemas.openxmlformats.org/drawingml/2006/main">
              <a:ext uri="{FF2B5EF4-FFF2-40B4-BE49-F238E27FC236}">
                <a16:creationId xmlns:a16="http://schemas.microsoft.com/office/drawing/2014/main" id="{EDD57501-C643-4A1E-B816-BF8E31F9E4E6}"/>
              </a:ext>
            </a:extLst>
          </p:cNvPr>
          <p:cNvSpPr>
            <a:spLocks xmlns:a="http://schemas.openxmlformats.org/drawingml/2006/main" noGrp="1"/>
          </p:cNvSpPr>
          <p:nvPr/>
        </p:nvSpPr>
        <p:spPr>
          <a:xfrm xmlns:a="http://schemas.openxmlformats.org/drawingml/2006/main">
            <a:off x="8953500" y="3743325"/>
            <a:ext cx="1009650" cy="628650"/>
          </a:xfrm>
          <a:prstGeom xmlns:a="http://schemas.openxmlformats.org/drawingml/2006/main" prst="rect">
            <a:avLst/>
          </a:prstGeom>
          <a:solidFill xmlns:a="http://schemas.openxmlformats.org/drawingml/2006/main">
            <a:srgbClr val="08080A"/>
          </a:solidFill>
          <a:ln xmlns:a="http://schemas.openxmlformats.org/drawingml/2006/main" w="14288">
            <a:solidFill>
              <a:srgbClr val="FF5470"/>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325" b="1">
                <a:solidFill>
                  <a:srgbClr val="FF5470"/>
                </a:solidFill>
                <a:latin typeface="Arial"/>
                <a:ea typeface="Arial"/>
                <a:cs typeface="Arial"/>
              </a:defRPr>
            </a:pPr>
            <a:r>
              <a:rPr sz="2325" b="1">
                <a:solidFill>
                  <a:srgbClr val="FF5470"/>
                </a:solidFill>
                <a:latin typeface="Arial"/>
                <a:ea typeface="Arial"/>
                <a:cs typeface="Arial"/>
              </a:rPr>
              <a:t>4</a:t>
            </a:r>
          </a:p>
        </p:txBody>
      </p:sp>
      <p:sp>
        <p:nvSpPr>
          <p:cNvPr id="17" name="5">
            <a:extLst xmlns:a="http://schemas.openxmlformats.org/drawingml/2006/main">
              <a:ext uri="{FF2B5EF4-FFF2-40B4-BE49-F238E27FC236}">
                <a16:creationId xmlns:a16="http://schemas.microsoft.com/office/drawing/2014/main" id="{5F3E927D-50D5-4711-8DFE-7728D074E8EA}"/>
              </a:ext>
            </a:extLst>
          </p:cNvPr>
          <p:cNvSpPr>
            <a:spLocks xmlns:a="http://schemas.openxmlformats.org/drawingml/2006/main" noGrp="1"/>
          </p:cNvSpPr>
          <p:nvPr/>
        </p:nvSpPr>
        <p:spPr>
          <a:xfrm xmlns:a="http://schemas.openxmlformats.org/drawingml/2006/main">
            <a:off x="10306050" y="3743325"/>
            <a:ext cx="1009650" cy="628650"/>
          </a:xfrm>
          <a:prstGeom xmlns:a="http://schemas.openxmlformats.org/drawingml/2006/main" prst="rect">
            <a:avLst/>
          </a:prstGeom>
          <a:solidFill xmlns:a="http://schemas.openxmlformats.org/drawingml/2006/main">
            <a:srgbClr val="08080A"/>
          </a:solidFill>
          <a:ln xmlns:a="http://schemas.openxmlformats.org/drawingml/2006/main" w="14288">
            <a:solidFill>
              <a:srgbClr val="FF5470"/>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325" b="1">
                <a:solidFill>
                  <a:srgbClr val="FF5470"/>
                </a:solidFill>
                <a:latin typeface="Arial"/>
                <a:ea typeface="Arial"/>
                <a:cs typeface="Arial"/>
              </a:defRPr>
            </a:pPr>
            <a:r>
              <a:rPr sz="2325" b="1">
                <a:solidFill>
                  <a:srgbClr val="FF5470"/>
                </a:solidFill>
                <a:latin typeface="Arial"/>
                <a:ea typeface="Arial"/>
                <a:cs typeface="Arial"/>
              </a:rPr>
              <a:t>5</a:t>
            </a:r>
          </a:p>
        </p:txBody>
      </p:sp>
      <p:cxnSp>
        <p:nvCxnSpPr>
          <p:cNvPr id="43" name=""/>
          <p:cNvCxnSpPr>
            <a:stCxn xmlns:a="http://schemas.openxmlformats.org/drawingml/2006/main" id="12" idx="3"/>
            <a:endCxn xmlns:a="http://schemas.openxmlformats.org/drawingml/2006/main" id="13" idx="1"/>
          </p:cNvCxnSpPr>
          <p:nvPr/>
        </p:nvCxnSpPr>
        <p:spPr>
          <a:xfrm xmlns:a="http://schemas.openxmlformats.org/drawingml/2006/main">
            <a:off x="4552950" y="4057650"/>
            <a:ext cx="342900" cy="0"/>
          </a:xfrm>
          <a:prstGeom xmlns:a="http://schemas.openxmlformats.org/drawingml/2006/main" prst="straightConnector1">
            <a:avLst/>
          </a:prstGeom>
          <a:ln xmlns:a="http://schemas.openxmlformats.org/drawingml/2006/main" w="22860">
            <a:solidFill>
              <a:srgbClr val="FF5470"/>
            </a:solidFill>
            <a:prstDash val="solid"/>
            <a:tailEnd type="triangle" w="med" len="med"/>
          </a:ln>
        </p:spPr>
      </p:cxnSp>
      <p:cxnSp>
        <p:nvCxnSpPr>
          <p:cNvPr id="44" name=""/>
          <p:cNvCxnSpPr>
            <a:stCxn xmlns:a="http://schemas.openxmlformats.org/drawingml/2006/main" id="13" idx="3"/>
            <a:endCxn xmlns:a="http://schemas.openxmlformats.org/drawingml/2006/main" id="14" idx="1"/>
          </p:cNvCxnSpPr>
          <p:nvPr/>
        </p:nvCxnSpPr>
        <p:spPr>
          <a:xfrm xmlns:a="http://schemas.openxmlformats.org/drawingml/2006/main">
            <a:off x="5905500" y="4057650"/>
            <a:ext cx="342900" cy="0"/>
          </a:xfrm>
          <a:prstGeom xmlns:a="http://schemas.openxmlformats.org/drawingml/2006/main" prst="straightConnector1">
            <a:avLst/>
          </a:prstGeom>
          <a:ln xmlns:a="http://schemas.openxmlformats.org/drawingml/2006/main" w="22860">
            <a:solidFill>
              <a:srgbClr val="FF5470"/>
            </a:solidFill>
            <a:prstDash val="solid"/>
            <a:tailEnd type="triangle" w="med" len="med"/>
          </a:ln>
        </p:spPr>
      </p:cxnSp>
      <p:cxnSp>
        <p:nvCxnSpPr>
          <p:cNvPr id="45" name=""/>
          <p:cNvCxnSpPr>
            <a:stCxn xmlns:a="http://schemas.openxmlformats.org/drawingml/2006/main" id="14" idx="3"/>
            <a:endCxn xmlns:a="http://schemas.openxmlformats.org/drawingml/2006/main" id="15" idx="1"/>
          </p:cNvCxnSpPr>
          <p:nvPr/>
        </p:nvCxnSpPr>
        <p:spPr>
          <a:xfrm xmlns:a="http://schemas.openxmlformats.org/drawingml/2006/main">
            <a:off x="7258050" y="4057650"/>
            <a:ext cx="342900" cy="0"/>
          </a:xfrm>
          <a:prstGeom xmlns:a="http://schemas.openxmlformats.org/drawingml/2006/main" prst="straightConnector1">
            <a:avLst/>
          </a:prstGeom>
          <a:ln xmlns:a="http://schemas.openxmlformats.org/drawingml/2006/main" w="22860">
            <a:solidFill>
              <a:srgbClr val="FF5470"/>
            </a:solidFill>
            <a:prstDash val="solid"/>
            <a:tailEnd type="triangle" w="med" len="med"/>
          </a:ln>
        </p:spPr>
      </p:cxnSp>
      <p:cxnSp>
        <p:nvCxnSpPr>
          <p:cNvPr id="46" name=""/>
          <p:cNvCxnSpPr>
            <a:stCxn xmlns:a="http://schemas.openxmlformats.org/drawingml/2006/main" id="15" idx="3"/>
            <a:endCxn xmlns:a="http://schemas.openxmlformats.org/drawingml/2006/main" id="16" idx="1"/>
          </p:cNvCxnSpPr>
          <p:nvPr/>
        </p:nvCxnSpPr>
        <p:spPr>
          <a:xfrm xmlns:a="http://schemas.openxmlformats.org/drawingml/2006/main">
            <a:off x="8610600" y="4057650"/>
            <a:ext cx="342900" cy="0"/>
          </a:xfrm>
          <a:prstGeom xmlns:a="http://schemas.openxmlformats.org/drawingml/2006/main" prst="straightConnector1">
            <a:avLst/>
          </a:prstGeom>
          <a:ln xmlns:a="http://schemas.openxmlformats.org/drawingml/2006/main" w="22860">
            <a:solidFill>
              <a:srgbClr val="FF5470"/>
            </a:solidFill>
            <a:prstDash val="solid"/>
            <a:tailEnd type="triangle" w="med" len="med"/>
          </a:ln>
        </p:spPr>
      </p:cxnSp>
      <p:cxnSp>
        <p:nvCxnSpPr>
          <p:cNvPr id="47" name=""/>
          <p:cNvCxnSpPr>
            <a:stCxn xmlns:a="http://schemas.openxmlformats.org/drawingml/2006/main" id="16" idx="3"/>
            <a:endCxn xmlns:a="http://schemas.openxmlformats.org/drawingml/2006/main" id="17" idx="1"/>
          </p:cNvCxnSpPr>
          <p:nvPr/>
        </p:nvCxnSpPr>
        <p:spPr>
          <a:xfrm xmlns:a="http://schemas.openxmlformats.org/drawingml/2006/main">
            <a:off x="9963150" y="4057650"/>
            <a:ext cx="342900" cy="0"/>
          </a:xfrm>
          <a:prstGeom xmlns:a="http://schemas.openxmlformats.org/drawingml/2006/main" prst="straightConnector1">
            <a:avLst/>
          </a:prstGeom>
          <a:ln xmlns:a="http://schemas.openxmlformats.org/drawingml/2006/main" w="22860">
            <a:solidFill>
              <a:srgbClr val="FF5470"/>
            </a:solidFill>
            <a:prstDash val="solid"/>
            <a:tailEnd type="triangle" w="med" len="med"/>
          </a:ln>
        </p:spPr>
      </p:cxnSp>
      <p:sp>
        <p:nvSpPr>
          <p:cNvPr id="23" name="6 candidate windows rejected">
            <a:extLst xmlns:a="http://schemas.openxmlformats.org/drawingml/2006/main">
              <a:ext uri="{FF2B5EF4-FFF2-40B4-BE49-F238E27FC236}">
                <a16:creationId xmlns:a16="http://schemas.microsoft.com/office/drawing/2014/main" id="{6DDA44DC-E0A0-434D-BB73-4C3FB1151F95}"/>
              </a:ext>
            </a:extLst>
          </p:cNvPr>
          <p:cNvSpPr>
            <a:spLocks xmlns:a="http://schemas.openxmlformats.org/drawingml/2006/main" noGrp="1"/>
          </p:cNvSpPr>
          <p:nvPr/>
        </p:nvSpPr>
        <p:spPr>
          <a:xfrm xmlns:a="http://schemas.openxmlformats.org/drawingml/2006/main">
            <a:off x="3552825" y="4543425"/>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FF5470"/>
                </a:solidFill>
                <a:latin typeface="Arial"/>
                <a:ea typeface="Arial"/>
                <a:cs typeface="Arial"/>
              </a:defRPr>
            </a:pPr>
            <a:r>
              <a:rPr sz="2100" b="0">
                <a:solidFill>
                  <a:srgbClr val="FF5470"/>
                </a:solidFill>
                <a:latin typeface="Arial"/>
                <a:ea typeface="Arial"/>
                <a:cs typeface="Arial"/>
              </a:rPr>
              <a:t>6 candidate windows rejected</a:t>
            </a:r>
          </a:p>
        </p:txBody>
      </p:sp>
      <p:sp>
        <p:nvSpPr>
          <p:cNvPr id="24" name="After 1h grace: collateral return + pooled refunds">
            <a:extLst xmlns:a="http://schemas.openxmlformats.org/drawingml/2006/main">
              <a:ext uri="{FF2B5EF4-FFF2-40B4-BE49-F238E27FC236}">
                <a16:creationId xmlns:a16="http://schemas.microsoft.com/office/drawing/2014/main" id="{CC86C320-7848-475C-BF2D-9D4ACA135BCE}"/>
              </a:ext>
            </a:extLst>
          </p:cNvPr>
          <p:cNvSpPr>
            <a:spLocks xmlns:a="http://schemas.openxmlformats.org/drawingml/2006/main" noGrp="1"/>
          </p:cNvSpPr>
          <p:nvPr/>
        </p:nvSpPr>
        <p:spPr>
          <a:xfrm xmlns:a="http://schemas.openxmlformats.org/drawingml/2006/main">
            <a:off x="638175" y="52959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37D67A"/>
                </a:solidFill>
                <a:latin typeface="Arial"/>
                <a:ea typeface="Arial"/>
                <a:cs typeface="Arial"/>
              </a:defRPr>
            </a:pPr>
            <a:r>
              <a:rPr sz="2175" b="0">
                <a:solidFill>
                  <a:srgbClr val="37D67A"/>
                </a:solidFill>
                <a:latin typeface="Arial"/>
                <a:ea typeface="Arial"/>
                <a:cs typeface="Arial"/>
              </a:rPr>
              <a:t>After 1h grace: collateral return + pooled refunds</a:t>
            </a:r>
          </a:p>
        </p:txBody>
      </p:sp>
      <p:sp>
        <p:nvSpPr>
          <p:cNvPr id="25" name="Later price or unwind changes the economics. Neither establi">
            <a:extLst xmlns:a="http://schemas.openxmlformats.org/drawingml/2006/main">
              <a:ext uri="{FF2B5EF4-FFF2-40B4-BE49-F238E27FC236}">
                <a16:creationId xmlns:a16="http://schemas.microsoft.com/office/drawing/2014/main" id="{080328DD-5F80-4AC5-9E88-D6612ECAF1F7}"/>
              </a:ext>
            </a:extLst>
          </p:cNvPr>
          <p:cNvSpPr>
            <a:spLocks xmlns:a="http://schemas.openxmlformats.org/drawingml/2006/main" noGrp="1"/>
          </p:cNvSpPr>
          <p:nvPr/>
        </p:nvSpPr>
        <p:spPr>
          <a:xfrm xmlns:a="http://schemas.openxmlformats.org/drawingml/2006/main">
            <a:off x="647700" y="58197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8A8B2"/>
                </a:solidFill>
                <a:latin typeface="Arial"/>
                <a:ea typeface="Arial"/>
                <a:cs typeface="Arial"/>
              </a:defRPr>
            </a:pPr>
            <a:r>
              <a:rPr sz="1575" b="0">
                <a:solidFill>
                  <a:srgbClr val="A8A8B2"/>
                </a:solidFill>
                <a:latin typeface="Arial"/>
                <a:ea typeface="Arial"/>
                <a:cs typeface="Arial"/>
              </a:rPr>
              <a:t>Later price or unwind changes the economics. Neither establishes fair expiry value.</a:t>
            </a:r>
          </a:p>
        </p:txBody>
      </p:sp>
    </p:spTree>
    <p:extLst>
      <p:ext uri="{BB962C8B-B14F-4D97-AF65-F5344CB8AC3E}">
        <p14:creationId xmlns:p14="http://schemas.microsoft.com/office/powerpoint/2010/main" val="986164066"/>
      </p:ext>
    </p:extLst>
  </p:cSld>
</p:sld>
</file>

<file path=ppt/slides/slide16.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7" name="The v4 integration in detail">
            <a:extLst xmlns:a="http://schemas.openxmlformats.org/drawingml/2006/main">
              <a:ext uri="{FF2B5EF4-FFF2-40B4-BE49-F238E27FC236}">
                <a16:creationId xmlns:a16="http://schemas.microsoft.com/office/drawing/2014/main" id="{EA4F18F3-811A-4B6E-A13C-AEB74BF2BF83}"/>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The v4 integration in detail</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ccaf24ff00040bc"/>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CBD8F1EF-0DD8-496C-A568-00F2569D2AF9}"/>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2">
            <a:extLst xmlns:a="http://schemas.openxmlformats.org/drawingml/2006/main">
              <a:ext uri="{FF2B5EF4-FFF2-40B4-BE49-F238E27FC236}">
                <a16:creationId xmlns:a16="http://schemas.microsoft.com/office/drawing/2014/main" id="{8C87607D-E4A1-4BAA-A726-6C62E7F706FE}"/>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A2</a:t>
            </a:r>
          </a:p>
        </p:txBody>
      </p:sp>
      <p:sp>
        <p:nvSpPr>
          <p:cNvPr id="5" name="Pool key">
            <a:extLst xmlns:a="http://schemas.openxmlformats.org/drawingml/2006/main">
              <a:ext uri="{FF2B5EF4-FFF2-40B4-BE49-F238E27FC236}">
                <a16:creationId xmlns:a16="http://schemas.microsoft.com/office/drawing/2014/main" id="{C32E8231-974B-494C-A00F-8F632D091D23}"/>
              </a:ext>
            </a:extLst>
          </p:cNvPr>
          <p:cNvSpPr>
            <a:spLocks xmlns:a="http://schemas.openxmlformats.org/drawingml/2006/main" noGrp="1"/>
          </p:cNvSpPr>
          <p:nvPr/>
        </p:nvSpPr>
        <p:spPr>
          <a:xfrm xmlns:a="http://schemas.openxmlformats.org/drawingml/2006/main">
            <a:off x="676275" y="1571625"/>
            <a:ext cx="3152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F007A"/>
                </a:solidFill>
                <a:latin typeface="Arial"/>
                <a:ea typeface="Arial"/>
                <a:cs typeface="Arial"/>
              </a:defRPr>
            </a:pPr>
            <a:r>
              <a:rPr sz="2175" b="1">
                <a:solidFill>
                  <a:srgbClr val="FF007A"/>
                </a:solidFill>
                <a:latin typeface="Arial"/>
                <a:ea typeface="Arial"/>
                <a:cs typeface="Arial"/>
              </a:rPr>
              <a:t>Pool key</a:t>
            </a:r>
          </a:p>
        </p:txBody>
      </p:sp>
      <p:sp>
        <p:nvSpPr>
          <p:cNvPr id="6" name="Hook belongs to the pool">
            <a:extLst xmlns:a="http://schemas.openxmlformats.org/drawingml/2006/main">
              <a:ext uri="{FF2B5EF4-FFF2-40B4-BE49-F238E27FC236}">
                <a16:creationId xmlns:a16="http://schemas.microsoft.com/office/drawing/2014/main" id="{9CE9A1AF-E283-4C0C-B917-FB0DFCB81AFD}"/>
              </a:ext>
            </a:extLst>
          </p:cNvPr>
          <p:cNvSpPr>
            <a:spLocks xmlns:a="http://schemas.openxmlformats.org/drawingml/2006/main" noGrp="1"/>
          </p:cNvSpPr>
          <p:nvPr/>
        </p:nvSpPr>
        <p:spPr>
          <a:xfrm xmlns:a="http://schemas.openxmlformats.org/drawingml/2006/main">
            <a:off x="4143375" y="1571625"/>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Hook belongs to the pool</a:t>
            </a:r>
          </a:p>
        </p:txBody>
      </p:sp>
      <p:sp>
        <p:nvSpPr>
          <p:cNvPr id="7" name="A dedicated hooked pool needs its own liquidity">
            <a:extLst xmlns:a="http://schemas.openxmlformats.org/drawingml/2006/main">
              <a:ext uri="{FF2B5EF4-FFF2-40B4-BE49-F238E27FC236}">
                <a16:creationId xmlns:a16="http://schemas.microsoft.com/office/drawing/2014/main" id="{FAE3F60E-B4E8-434B-99F0-C137049AC2AE}"/>
              </a:ext>
            </a:extLst>
          </p:cNvPr>
          <p:cNvSpPr>
            <a:spLocks xmlns:a="http://schemas.openxmlformats.org/drawingml/2006/main" noGrp="1"/>
          </p:cNvSpPr>
          <p:nvPr/>
        </p:nvSpPr>
        <p:spPr>
          <a:xfrm xmlns:a="http://schemas.openxmlformats.org/drawingml/2006/main">
            <a:off x="4143375" y="2095500"/>
            <a:ext cx="7477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8A8B2"/>
                </a:solidFill>
                <a:latin typeface="Arial"/>
                <a:ea typeface="Arial"/>
                <a:cs typeface="Arial"/>
              </a:defRPr>
            </a:pPr>
            <a:r>
              <a:rPr sz="1800" b="0">
                <a:solidFill>
                  <a:srgbClr val="A8A8B2"/>
                </a:solidFill>
                <a:latin typeface="Arial"/>
                <a:ea typeface="Arial"/>
                <a:cs typeface="Arial"/>
              </a:rPr>
              <a:t>A dedicated hooked pool needs its own liquidity</a:t>
            </a:r>
          </a:p>
        </p:txBody>
      </p:sp>
      <p:sp>
        <p:nvSpPr>
          <p:cNvPr id="8" name="">
            <a:extLst xmlns:a="http://schemas.openxmlformats.org/drawingml/2006/main">
              <a:ext uri="{FF2B5EF4-FFF2-40B4-BE49-F238E27FC236}">
                <a16:creationId xmlns:a16="http://schemas.microsoft.com/office/drawing/2014/main" id="{F218672D-F7D9-4496-84AA-B8A618C11B2B}"/>
              </a:ext>
            </a:extLst>
          </p:cNvPr>
          <p:cNvSpPr>
            <a:spLocks xmlns:a="http://schemas.openxmlformats.org/drawingml/2006/main" noGrp="1"/>
          </p:cNvSpPr>
          <p:nvPr/>
        </p:nvSpPr>
        <p:spPr>
          <a:xfrm xmlns:a="http://schemas.openxmlformats.org/drawingml/2006/main">
            <a:off x="676275" y="2705100"/>
            <a:ext cx="10858500" cy="0"/>
          </a:xfrm>
          <a:prstGeom xmlns:a="http://schemas.openxmlformats.org/drawingml/2006/main" prst="line">
            <a:avLst/>
          </a:prstGeom>
          <a:noFill xmlns:a="http://schemas.openxmlformats.org/drawingml/2006/main"/>
          <a:ln xmlns:a="http://schemas.openxmlformats.org/drawingml/2006/main" w="9525">
            <a:solidFill>
              <a:srgbClr val="33333D"/>
            </a:solidFill>
          </a:ln>
        </p:spPr>
      </p:sp>
      <p:sp>
        <p:nvSpPr>
          <p:cNvPr id="9" name="Address bits">
            <a:extLst xmlns:a="http://schemas.openxmlformats.org/drawingml/2006/main">
              <a:ext uri="{FF2B5EF4-FFF2-40B4-BE49-F238E27FC236}">
                <a16:creationId xmlns:a16="http://schemas.microsoft.com/office/drawing/2014/main" id="{8432C050-CE9C-41DD-BA65-798BF21CD8F6}"/>
              </a:ext>
            </a:extLst>
          </p:cNvPr>
          <p:cNvSpPr>
            <a:spLocks xmlns:a="http://schemas.openxmlformats.org/drawingml/2006/main" noGrp="1"/>
          </p:cNvSpPr>
          <p:nvPr/>
        </p:nvSpPr>
        <p:spPr>
          <a:xfrm xmlns:a="http://schemas.openxmlformats.org/drawingml/2006/main">
            <a:off x="676275" y="2952750"/>
            <a:ext cx="3152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F007A"/>
                </a:solidFill>
                <a:latin typeface="Arial"/>
                <a:ea typeface="Arial"/>
                <a:cs typeface="Arial"/>
              </a:defRPr>
            </a:pPr>
            <a:r>
              <a:rPr sz="2175" b="1">
                <a:solidFill>
                  <a:srgbClr val="FF007A"/>
                </a:solidFill>
                <a:latin typeface="Arial"/>
                <a:ea typeface="Arial"/>
                <a:cs typeface="Arial"/>
              </a:rPr>
              <a:t>Address bits</a:t>
            </a:r>
          </a:p>
        </p:txBody>
      </p:sp>
      <p:sp>
        <p:nvSpPr>
          <p:cNvPr id="10" name="CREATE2 salt mining">
            <a:extLst xmlns:a="http://schemas.openxmlformats.org/drawingml/2006/main">
              <a:ext uri="{FF2B5EF4-FFF2-40B4-BE49-F238E27FC236}">
                <a16:creationId xmlns:a16="http://schemas.microsoft.com/office/drawing/2014/main" id="{DD76D8C4-ED36-4D51-A425-6D342DF3C66C}"/>
              </a:ext>
            </a:extLst>
          </p:cNvPr>
          <p:cNvSpPr>
            <a:spLocks xmlns:a="http://schemas.openxmlformats.org/drawingml/2006/main" noGrp="1"/>
          </p:cNvSpPr>
          <p:nvPr/>
        </p:nvSpPr>
        <p:spPr>
          <a:xfrm xmlns:a="http://schemas.openxmlformats.org/drawingml/2006/main">
            <a:off x="4143375" y="2952750"/>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CREATE2 salt mining</a:t>
            </a:r>
          </a:p>
        </p:txBody>
      </p:sp>
      <p:sp>
        <p:nvSpPr>
          <p:cNvPr id="11" name="Address bits encode hook permissions">
            <a:extLst xmlns:a="http://schemas.openxmlformats.org/drawingml/2006/main">
              <a:ext uri="{FF2B5EF4-FFF2-40B4-BE49-F238E27FC236}">
                <a16:creationId xmlns:a16="http://schemas.microsoft.com/office/drawing/2014/main" id="{1F7641F8-FC85-4E54-BAA2-3C0769C931B4}"/>
              </a:ext>
            </a:extLst>
          </p:cNvPr>
          <p:cNvSpPr>
            <a:spLocks xmlns:a="http://schemas.openxmlformats.org/drawingml/2006/main" noGrp="1"/>
          </p:cNvSpPr>
          <p:nvPr/>
        </p:nvSpPr>
        <p:spPr>
          <a:xfrm xmlns:a="http://schemas.openxmlformats.org/drawingml/2006/main">
            <a:off x="4143375" y="3476625"/>
            <a:ext cx="7477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8A8B2"/>
                </a:solidFill>
                <a:latin typeface="Arial"/>
                <a:ea typeface="Arial"/>
                <a:cs typeface="Arial"/>
              </a:defRPr>
            </a:pPr>
            <a:r>
              <a:rPr sz="1800" b="0">
                <a:solidFill>
                  <a:srgbClr val="A8A8B2"/>
                </a:solidFill>
                <a:latin typeface="Arial"/>
                <a:ea typeface="Arial"/>
                <a:cs typeface="Arial"/>
              </a:rPr>
              <a:t>Address bits encode hook permissions</a:t>
            </a:r>
          </a:p>
        </p:txBody>
      </p:sp>
      <p:sp>
        <p:nvSpPr>
          <p:cNvPr id="12" name="">
            <a:extLst xmlns:a="http://schemas.openxmlformats.org/drawingml/2006/main">
              <a:ext uri="{FF2B5EF4-FFF2-40B4-BE49-F238E27FC236}">
                <a16:creationId xmlns:a16="http://schemas.microsoft.com/office/drawing/2014/main" id="{49A5240A-B5F8-40C2-80D3-1F20EE4A3210}"/>
              </a:ext>
            </a:extLst>
          </p:cNvPr>
          <p:cNvSpPr>
            <a:spLocks xmlns:a="http://schemas.openxmlformats.org/drawingml/2006/main" noGrp="1"/>
          </p:cNvSpPr>
          <p:nvPr/>
        </p:nvSpPr>
        <p:spPr>
          <a:xfrm xmlns:a="http://schemas.openxmlformats.org/drawingml/2006/main">
            <a:off x="676275" y="4086225"/>
            <a:ext cx="10858500" cy="0"/>
          </a:xfrm>
          <a:prstGeom xmlns:a="http://schemas.openxmlformats.org/drawingml/2006/main" prst="line">
            <a:avLst/>
          </a:prstGeom>
          <a:noFill xmlns:a="http://schemas.openxmlformats.org/drawingml/2006/main"/>
          <a:ln xmlns:a="http://schemas.openxmlformats.org/drawingml/2006/main" w="9525">
            <a:solidFill>
              <a:srgbClr val="33333D"/>
            </a:solidFill>
          </a:ln>
        </p:spPr>
      </p:sp>
      <p:sp>
        <p:nvSpPr>
          <p:cNvPr id="13" name="State + observe">
            <a:extLst xmlns:a="http://schemas.openxmlformats.org/drawingml/2006/main">
              <a:ext uri="{FF2B5EF4-FFF2-40B4-BE49-F238E27FC236}">
                <a16:creationId xmlns:a16="http://schemas.microsoft.com/office/drawing/2014/main" id="{F01BF225-2ACE-4F0B-AF0C-6560B8076779}"/>
              </a:ext>
            </a:extLst>
          </p:cNvPr>
          <p:cNvSpPr>
            <a:spLocks xmlns:a="http://schemas.openxmlformats.org/drawingml/2006/main" noGrp="1"/>
          </p:cNvSpPr>
          <p:nvPr/>
        </p:nvSpPr>
        <p:spPr>
          <a:xfrm xmlns:a="http://schemas.openxmlformats.org/drawingml/2006/main">
            <a:off x="676275" y="4333875"/>
            <a:ext cx="3152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F007A"/>
                </a:solidFill>
                <a:latin typeface="Arial"/>
                <a:ea typeface="Arial"/>
                <a:cs typeface="Arial"/>
              </a:defRPr>
            </a:pPr>
            <a:r>
              <a:rPr sz="2175" b="1">
                <a:solidFill>
                  <a:srgbClr val="FF007A"/>
                </a:solidFill>
                <a:latin typeface="Arial"/>
                <a:ea typeface="Arial"/>
                <a:cs typeface="Arial"/>
              </a:rPr>
              <a:t>State + observe</a:t>
            </a:r>
          </a:p>
        </p:txBody>
      </p:sp>
      <p:sp>
        <p:nvSpPr>
          <p:cNvPr id="14" name="Live price and two TWAPs">
            <a:extLst xmlns:a="http://schemas.openxmlformats.org/drawingml/2006/main">
              <a:ext uri="{FF2B5EF4-FFF2-40B4-BE49-F238E27FC236}">
                <a16:creationId xmlns:a16="http://schemas.microsoft.com/office/drawing/2014/main" id="{E70EE110-4E82-4879-905F-0DB0C318A8C3}"/>
              </a:ext>
            </a:extLst>
          </p:cNvPr>
          <p:cNvSpPr>
            <a:spLocks xmlns:a="http://schemas.openxmlformats.org/drawingml/2006/main" noGrp="1"/>
          </p:cNvSpPr>
          <p:nvPr/>
        </p:nvSpPr>
        <p:spPr>
          <a:xfrm xmlns:a="http://schemas.openxmlformats.org/drawingml/2006/main">
            <a:off x="4143375" y="4333875"/>
            <a:ext cx="7477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Live price and two TWAPs</a:t>
            </a:r>
          </a:p>
        </p:txBody>
      </p:sp>
      <p:sp>
        <p:nvSpPr>
          <p:cNvPr id="15" name="StateLibrary reads PoolManager state">
            <a:extLst xmlns:a="http://schemas.openxmlformats.org/drawingml/2006/main">
              <a:ext uri="{FF2B5EF4-FFF2-40B4-BE49-F238E27FC236}">
                <a16:creationId xmlns:a16="http://schemas.microsoft.com/office/drawing/2014/main" id="{44FB767C-311D-412B-8E78-0E9687AFA3BB}"/>
              </a:ext>
            </a:extLst>
          </p:cNvPr>
          <p:cNvSpPr>
            <a:spLocks xmlns:a="http://schemas.openxmlformats.org/drawingml/2006/main" noGrp="1"/>
          </p:cNvSpPr>
          <p:nvPr/>
        </p:nvSpPr>
        <p:spPr>
          <a:xfrm xmlns:a="http://schemas.openxmlformats.org/drawingml/2006/main">
            <a:off x="4143375" y="4857750"/>
            <a:ext cx="7477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8A8B2"/>
                </a:solidFill>
                <a:latin typeface="Arial"/>
                <a:ea typeface="Arial"/>
                <a:cs typeface="Arial"/>
              </a:defRPr>
            </a:pPr>
            <a:r>
              <a:rPr sz="1800" b="0">
                <a:solidFill>
                  <a:srgbClr val="A8A8B2"/>
                </a:solidFill>
                <a:latin typeface="Arial"/>
                <a:ea typeface="Arial"/>
                <a:cs typeface="Arial"/>
              </a:rPr>
              <a:t>StateLibrary reads PoolManager state</a:t>
            </a:r>
          </a:p>
        </p:txBody>
      </p:sp>
      <p:sp>
        <p:nvSpPr>
          <p:cNvPr id="16" name="New pool on the real PoolManager. Canonical Aqua and SwapVM ">
            <a:extLst xmlns:a="http://schemas.openxmlformats.org/drawingml/2006/main">
              <a:ext uri="{FF2B5EF4-FFF2-40B4-BE49-F238E27FC236}">
                <a16:creationId xmlns:a16="http://schemas.microsoft.com/office/drawing/2014/main" id="{74880581-DB5E-4F22-9C21-9CC89F296C3C}"/>
              </a:ext>
            </a:extLst>
          </p:cNvPr>
          <p:cNvSpPr>
            <a:spLocks xmlns:a="http://schemas.openxmlformats.org/drawingml/2006/main" noGrp="1"/>
          </p:cNvSpPr>
          <p:nvPr/>
        </p:nvSpPr>
        <p:spPr>
          <a:xfrm xmlns:a="http://schemas.openxmlformats.org/drawingml/2006/main">
            <a:off x="676275" y="5800725"/>
            <a:ext cx="10868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37D67A"/>
                </a:solidFill>
                <a:latin typeface="Arial"/>
                <a:ea typeface="Arial"/>
                <a:cs typeface="Arial"/>
              </a:defRPr>
            </a:pPr>
            <a:r>
              <a:rPr sz="1575" b="0">
                <a:solidFill>
                  <a:srgbClr val="37D67A"/>
                </a:solidFill>
                <a:latin typeface="Arial"/>
                <a:ea typeface="Arial"/>
                <a:cs typeface="Arial"/>
              </a:rPr>
              <a:t>New pool on the real PoolManager. Canonical Aqua and SwapVM stay unmodified.</a:t>
            </a:r>
          </a:p>
        </p:txBody>
      </p:sp>
    </p:spTree>
    <p:extLst>
      <p:ext uri="{BB962C8B-B14F-4D97-AF65-F5344CB8AC3E}">
        <p14:creationId xmlns:p14="http://schemas.microsoft.com/office/powerpoint/2010/main" val="459423462"/>
      </p:ext>
    </p:extLst>
  </p:cSld>
</p:sld>
</file>

<file path=ppt/slides/slide17.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6" name="Questions and operating limits">
            <a:extLst xmlns:a="http://schemas.openxmlformats.org/drawingml/2006/main">
              <a:ext uri="{FF2B5EF4-FFF2-40B4-BE49-F238E27FC236}">
                <a16:creationId xmlns:a16="http://schemas.microsoft.com/office/drawing/2014/main" id="{3D70B13E-5E2B-4379-90DF-60D4DA9ADA59}"/>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Questions and operating limits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ea11788217f42f2"/>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996F1D27-5C29-409D-84B3-0AB65FFC53E1}"/>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3">
            <a:extLst xmlns:a="http://schemas.openxmlformats.org/drawingml/2006/main">
              <a:ext uri="{FF2B5EF4-FFF2-40B4-BE49-F238E27FC236}">
                <a16:creationId xmlns:a16="http://schemas.microsoft.com/office/drawing/2014/main" id="{F586E3F7-69E6-409B-8D69-EB0FABDD0AE5}"/>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A3</a:t>
            </a:r>
          </a:p>
        </p:txBody>
      </p:sp>
      <p:graphicFrame>
        <p:nvGraphicFramePr>
          <p:cNvPr id="10" name=""/>
          <p:cNvGraphicFramePr/>
          <p:nvPr/>
        </p:nvGraphicFramePr>
        <p:xfrm>
          <a:off xmlns:a="http://schemas.openxmlformats.org/drawingml/2006/main" x="657225" y="1552575"/>
          <a:ext xmlns:a="http://schemas.openxmlformats.org/drawingml/2006/main" cx="10887075" cy="4191000"/>
        </p:xfrm>
        <a:graphic xmlns:a="http://schemas.openxmlformats.org/drawingml/2006/main">
          <a:graphicData uri="http://schemas.openxmlformats.org/drawingml/2006/table">
            <a:tbl>
              <a:tblPr/>
              <a:tblGrid>
                <a:gridCol w="3543300"/>
                <a:gridCol w="7343775"/>
              </a:tblGrid>
              <a:tr h="698500">
                <a:tc>
                  <a:txBody>
                    <a:bodyPr lIns="152400" tIns="85725" rIns="114300" bIns="85725">
                      <a:noAutofit/>
                    </a:bodyPr>
                    <a:lstStyle/>
                    <a:p>
                      <a:r>
                        <a:rPr sz="2025" b="1">
                          <a:solidFill>
                            <a:srgbClr val="A8A8B2"/>
                          </a:solidFill>
                          <a:latin typeface="Arial"/>
                          <a:ea typeface="Arial"/>
                          <a:cs typeface="Arial"/>
                        </a:rPr>
                        <a:t>Question</a:t>
                      </a:r>
                    </a:p>
                  </a:txBody>
                  <a:tcPr marL="91440" marR="91440" marT="45720" marB="45720" anchor="ctr">
                    <a:solidFill>
                      <a:srgbClr val="141418"/>
                    </a:solidFill>
                  </a:tcPr>
                </a:tc>
                <a:tc>
                  <a:txBody>
                    <a:bodyPr lIns="152400" tIns="85725" rIns="114300" bIns="85725">
                      <a:noAutofit/>
                    </a:bodyPr>
                    <a:lstStyle/>
                    <a:p>
                      <a:r>
                        <a:rPr sz="2025" b="1">
                          <a:solidFill>
                            <a:srgbClr val="A8A8B2"/>
                          </a:solidFill>
                          <a:latin typeface="Arial"/>
                          <a:ea typeface="Arial"/>
                          <a:cs typeface="Arial"/>
                        </a:rPr>
                        <a:t>Public behavior</a:t>
                      </a:r>
                    </a:p>
                  </a:txBody>
                  <a:tcPr marL="91440" marR="91440" marT="45720" marB="45720" anchor="ctr">
                    <a:solidFill>
                      <a:srgbClr val="141418"/>
                    </a:solidFill>
                  </a:tcPr>
                </a:tc>
              </a:tr>
              <a:tr h="698500">
                <a:tc>
                  <a:txBody>
                    <a:bodyPr lIns="152400" tIns="85725" rIns="114300" bIns="85725">
                      <a:noAutofit/>
                    </a:bodyPr>
                    <a:lstStyle/>
                    <a:p>
                      <a:r>
                        <a:rPr sz="1875" b="0">
                          <a:solidFill>
                            <a:srgbClr val="FAFAFA"/>
                          </a:solidFill>
                          <a:latin typeface="Arial"/>
                          <a:ea typeface="Arial"/>
                          <a:cs typeface="Arial"/>
                        </a:rPr>
                        <a:t>Withdraw or revoke?</a:t>
                      </a:r>
                    </a:p>
                  </a:txBody>
                  <a:tcPr marL="91440" marR="91440" marT="45720" marB="45720" anchor="ctr">
                    <a:solidFill>
                      <a:srgbClr val="08080A"/>
                    </a:solidFill>
                  </a:tcPr>
                </a:tc>
                <a:tc>
                  <a:txBody>
                    <a:bodyPr lIns="152400" tIns="85725" rIns="114300" bIns="85725">
                      <a:noAutofit/>
                    </a:bodyPr>
                    <a:lstStyle/>
                    <a:p>
                      <a:r>
                        <a:rPr sz="1875" b="0">
                          <a:solidFill>
                            <a:srgbClr val="37D67A"/>
                          </a:solidFill>
                          <a:latin typeface="Arial"/>
                          <a:ea typeface="Arial"/>
                          <a:cs typeface="Arial"/>
                        </a:rPr>
                        <a:t>Live availability checks can refuse a fill</a:t>
                      </a:r>
                    </a:p>
                  </a:txBody>
                  <a:tcPr marL="91440" marR="91440" marT="45720" marB="45720" anchor="ctr">
                    <a:solidFill>
                      <a:srgbClr val="08080A"/>
                    </a:solidFill>
                  </a:tcPr>
                </a:tc>
              </a:tr>
              <a:tr h="698500">
                <a:tc>
                  <a:txBody>
                    <a:bodyPr lIns="152400" tIns="85725" rIns="114300" bIns="85725">
                      <a:noAutofit/>
                    </a:bodyPr>
                    <a:lstStyle/>
                    <a:p>
                      <a:r>
                        <a:rPr sz="1875" b="0">
                          <a:solidFill>
                            <a:srgbClr val="FAFAFA"/>
                          </a:solidFill>
                          <a:latin typeface="Arial"/>
                          <a:ea typeface="Arial"/>
                          <a:cs typeface="Arial"/>
                        </a:rPr>
                        <a:t>Sustained price move?</a:t>
                      </a:r>
                    </a:p>
                  </a:txBody>
                  <a:tcPr marL="91440" marR="91440" marT="45720" marB="45720" anchor="ctr">
                    <a:solidFill>
                      <a:srgbClr val="08080A"/>
                    </a:solidFill>
                  </a:tcPr>
                </a:tc>
                <a:tc>
                  <a:txBody>
                    <a:bodyPr lIns="152400" tIns="85725" rIns="114300" bIns="85725">
                      <a:noAutofit/>
                    </a:bodyPr>
                    <a:lstStyle/>
                    <a:p>
                      <a:r>
                        <a:rPr sz="1875" b="0">
                          <a:solidFill>
                            <a:srgbClr val="37D67A"/>
                          </a:solidFill>
                          <a:latin typeface="Arial"/>
                          <a:ea typeface="Arial"/>
                          <a:cs typeface="Arial"/>
                        </a:rPr>
                        <a:t>Center follows; deadlines and anchors still apply</a:t>
                      </a:r>
                    </a:p>
                  </a:txBody>
                  <a:tcPr marL="91440" marR="91440" marT="45720" marB="45720" anchor="ctr">
                    <a:solidFill>
                      <a:srgbClr val="08080A"/>
                    </a:solidFill>
                  </a:tcPr>
                </a:tc>
              </a:tr>
              <a:tr h="698500">
                <a:tc>
                  <a:txBody>
                    <a:bodyPr lIns="152400" tIns="85725" rIns="114300" bIns="85725">
                      <a:noAutofit/>
                    </a:bodyPr>
                    <a:lstStyle/>
                    <a:p>
                      <a:r>
                        <a:rPr sz="1875" b="0">
                          <a:solidFill>
                            <a:srgbClr val="FAFAFA"/>
                          </a:solidFill>
                          <a:latin typeface="Arial"/>
                          <a:ea typeface="Arial"/>
                          <a:cs typeface="Arial"/>
                        </a:rPr>
                        <a:t>Repeat smaller buys?</a:t>
                      </a:r>
                    </a:p>
                  </a:txBody>
                  <a:tcPr marL="91440" marR="91440" marT="45720" marB="45720" anchor="ctr">
                    <a:solidFill>
                      <a:srgbClr val="08080A"/>
                    </a:solidFill>
                  </a:tcPr>
                </a:tc>
                <a:tc>
                  <a:txBody>
                    <a:bodyPr lIns="152400" tIns="85725" rIns="114300" bIns="85725">
                      <a:noAutofit/>
                    </a:bodyPr>
                    <a:lstStyle/>
                    <a:p>
                      <a:r>
                        <a:rPr sz="1875" b="0">
                          <a:solidFill>
                            <a:srgbClr val="37D67A"/>
                          </a:solidFill>
                          <a:latin typeface="Arial"/>
                          <a:ea typeface="Arial"/>
                          <a:cs typeface="Arial"/>
                        </a:rPr>
                        <a:t>Per-call cap, no cumulative trade budget</a:t>
                      </a:r>
                    </a:p>
                  </a:txBody>
                  <a:tcPr marL="91440" marR="91440" marT="45720" marB="45720" anchor="ctr">
                    <a:solidFill>
                      <a:srgbClr val="08080A"/>
                    </a:solidFill>
                  </a:tcPr>
                </a:tc>
              </a:tr>
              <a:tr h="698500">
                <a:tc>
                  <a:txBody>
                    <a:bodyPr lIns="152400" tIns="85725" rIns="114300" bIns="85725">
                      <a:noAutofit/>
                    </a:bodyPr>
                    <a:lstStyle/>
                    <a:p>
                      <a:r>
                        <a:rPr sz="1875" b="0">
                          <a:solidFill>
                            <a:srgbClr val="FAFAFA"/>
                          </a:solidFill>
                          <a:latin typeface="Arial"/>
                          <a:ea typeface="Arial"/>
                          <a:cs typeface="Arial"/>
                        </a:rPr>
                        <a:t>Observation ring too small?</a:t>
                      </a:r>
                    </a:p>
                  </a:txBody>
                  <a:tcPr marL="91440" marR="91440" marT="45720" marB="45720" anchor="ctr">
                    <a:solidFill>
                      <a:srgbClr val="08080A"/>
                    </a:solidFill>
                  </a:tcPr>
                </a:tc>
                <a:tc>
                  <a:txBody>
                    <a:bodyPr lIns="152400" tIns="85725" rIns="114300" bIns="85725">
                      <a:noAutofit/>
                    </a:bodyPr>
                    <a:lstStyle/>
                    <a:p>
                      <a:r>
                        <a:rPr sz="1875" b="0">
                          <a:solidFill>
                            <a:srgbClr val="37D67A"/>
                          </a:solidFill>
                          <a:latin typeface="Arial"/>
                          <a:ea typeface="Arial"/>
                          <a:cs typeface="Arial"/>
                        </a:rPr>
                        <a:t>Missing history pauses quotes</a:t>
                      </a:r>
                    </a:p>
                  </a:txBody>
                  <a:tcPr marL="91440" marR="91440" marT="45720" marB="45720" anchor="ctr">
                    <a:solidFill>
                      <a:srgbClr val="08080A"/>
                    </a:solidFill>
                  </a:tcPr>
                </a:tc>
              </a:tr>
              <a:tr h="698500">
                <a:tc>
                  <a:txBody>
                    <a:bodyPr lIns="152400" tIns="85725" rIns="114300" bIns="85725">
                      <a:noAutofit/>
                    </a:bodyPr>
                    <a:lstStyle/>
                    <a:p>
                      <a:r>
                        <a:rPr sz="1875" b="0">
                          <a:solidFill>
                            <a:srgbClr val="FAFAFA"/>
                          </a:solidFill>
                          <a:latin typeface="Arial"/>
                          <a:ea typeface="Arial"/>
                          <a:cs typeface="Arial"/>
                        </a:rPr>
                        <a:t>Fair stock-price guarantee?</a:t>
                      </a:r>
                    </a:p>
                  </a:txBody>
                  <a:tcPr marL="91440" marR="91440" marT="45720" marB="45720" anchor="ctr">
                    <a:solidFill>
                      <a:srgbClr val="08080A"/>
                    </a:solidFill>
                  </a:tcPr>
                </a:tc>
                <a:tc>
                  <a:txBody>
                    <a:bodyPr lIns="152400" tIns="85725" rIns="114300" bIns="85725">
                      <a:noAutofit/>
                    </a:bodyPr>
                    <a:lstStyle/>
                    <a:p>
                      <a:r>
                        <a:rPr sz="1875" b="0">
                          <a:solidFill>
                            <a:srgbClr val="37D67A"/>
                          </a:solidFill>
                          <a:latin typeface="Arial"/>
                          <a:ea typeface="Arial"/>
                          <a:cs typeface="Arial"/>
                        </a:rPr>
                        <a:t>None; fixed 5% is a configurable policy</a:t>
                      </a:r>
                    </a:p>
                  </a:txBody>
                  <a:tcPr marL="91440" marR="91440" marT="45720" marB="45720" anchor="ctr">
                    <a:solidFill>
                      <a:srgbClr val="08080A"/>
                    </a:solidFill>
                  </a:tcPr>
                </a:tc>
              </a:tr>
            </a:tbl>
          </a:graphicData>
        </a:graphic>
      </p:graphicFrame>
    </p:spTree>
    <p:extLst>
      <p:ext uri="{BB962C8B-B14F-4D97-AF65-F5344CB8AC3E}">
        <p14:creationId xmlns:p14="http://schemas.microsoft.com/office/powerpoint/2010/main" val="355476039"/>
      </p:ext>
    </p:extLst>
  </p:cSld>
</p:sld>
</file>

<file path=ppt/slides/slide18.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8" name="Vexi and the hackathon contribution">
            <a:extLst xmlns:a="http://schemas.openxmlformats.org/drawingml/2006/main">
              <a:ext uri="{FF2B5EF4-FFF2-40B4-BE49-F238E27FC236}">
                <a16:creationId xmlns:a16="http://schemas.microsoft.com/office/drawing/2014/main" id="{4CDBDF97-CE2C-4264-BEA3-D706664CC823}"/>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Vexi and the hackathon contribution</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e181bcad54a4fa7"/>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F3D0302A-35DC-40B7-BAEE-0197F8C6D5B5}"/>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4">
            <a:extLst xmlns:a="http://schemas.openxmlformats.org/drawingml/2006/main">
              <a:ext uri="{FF2B5EF4-FFF2-40B4-BE49-F238E27FC236}">
                <a16:creationId xmlns:a16="http://schemas.microsoft.com/office/drawing/2014/main" id="{115D97EA-E66D-4957-A587-BDDD24290EDF}"/>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A4</a:t>
            </a:r>
          </a:p>
        </p:txBody>
      </p:sp>
      <p:sp>
        <p:nvSpPr>
          <p:cNvPr id="5" name="Before the event">
            <a:extLst xmlns:a="http://schemas.openxmlformats.org/drawingml/2006/main">
              <a:ext uri="{FF2B5EF4-FFF2-40B4-BE49-F238E27FC236}">
                <a16:creationId xmlns:a16="http://schemas.microsoft.com/office/drawing/2014/main" id="{BB049913-1755-4036-8429-92A17AC2A4C6}"/>
              </a:ext>
            </a:extLst>
          </p:cNvPr>
          <p:cNvSpPr>
            <a:spLocks xmlns:a="http://schemas.openxmlformats.org/drawingml/2006/main" noGrp="1"/>
          </p:cNvSpPr>
          <p:nvPr/>
        </p:nvSpPr>
        <p:spPr>
          <a:xfrm xmlns:a="http://schemas.openxmlformats.org/drawingml/2006/main">
            <a:off x="666750" y="153352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A8A8B2"/>
                </a:solidFill>
                <a:latin typeface="Arial"/>
                <a:ea typeface="Arial"/>
                <a:cs typeface="Arial"/>
              </a:defRPr>
            </a:pPr>
            <a:r>
              <a:rPr sz="2175" b="0">
                <a:solidFill>
                  <a:srgbClr val="A8A8B2"/>
                </a:solidFill>
                <a:latin typeface="Arial"/>
                <a:ea typeface="Arial"/>
                <a:cs typeface="Arial"/>
              </a:rPr>
              <a:t>Before the event</a:t>
            </a:r>
          </a:p>
        </p:txBody>
      </p:sp>
      <p:sp>
        <p:nvSpPr>
          <p:cNvPr id="6" name="Vexi options venue / private product code">
            <a:extLst xmlns:a="http://schemas.openxmlformats.org/drawingml/2006/main">
              <a:ext uri="{FF2B5EF4-FFF2-40B4-BE49-F238E27FC236}">
                <a16:creationId xmlns:a16="http://schemas.microsoft.com/office/drawing/2014/main" id="{0CE3CC17-B3BB-4DE4-941B-13CE9B4D2E5A}"/>
              </a:ext>
            </a:extLst>
          </p:cNvPr>
          <p:cNvSpPr>
            <a:spLocks xmlns:a="http://schemas.openxmlformats.org/drawingml/2006/main" noGrp="1"/>
          </p:cNvSpPr>
          <p:nvPr/>
        </p:nvSpPr>
        <p:spPr>
          <a:xfrm xmlns:a="http://schemas.openxmlformats.org/drawingml/2006/main">
            <a:off x="4010025" y="1533525"/>
            <a:ext cx="752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AFAFA"/>
                </a:solidFill>
                <a:latin typeface="Arial"/>
                <a:ea typeface="Arial"/>
                <a:cs typeface="Arial"/>
              </a:defRPr>
            </a:pPr>
            <a:r>
              <a:rPr sz="2325" b="1">
                <a:solidFill>
                  <a:srgbClr val="FAFAFA"/>
                </a:solidFill>
                <a:latin typeface="Arial"/>
                <a:ea typeface="Arial"/>
                <a:cs typeface="Arial"/>
              </a:rPr>
              <a:t>Vexi options venue / private product code</a:t>
            </a:r>
          </a:p>
        </p:txBody>
      </p:sp>
      <p:sp>
        <p:nvSpPr>
          <p:cNvPr id="7" name="">
            <a:extLst xmlns:a="http://schemas.openxmlformats.org/drawingml/2006/main">
              <a:ext uri="{FF2B5EF4-FFF2-40B4-BE49-F238E27FC236}">
                <a16:creationId xmlns:a16="http://schemas.microsoft.com/office/drawing/2014/main" id="{89A9B78F-8F24-4A02-AB41-C6306DF1DD19}"/>
              </a:ext>
            </a:extLst>
          </p:cNvPr>
          <p:cNvSpPr>
            <a:spLocks xmlns:a="http://schemas.openxmlformats.org/drawingml/2006/main" noGrp="1"/>
          </p:cNvSpPr>
          <p:nvPr/>
        </p:nvSpPr>
        <p:spPr>
          <a:xfrm xmlns:a="http://schemas.openxmlformats.org/drawingml/2006/main">
            <a:off x="666750" y="2266950"/>
            <a:ext cx="10858500" cy="0"/>
          </a:xfrm>
          <a:prstGeom xmlns:a="http://schemas.openxmlformats.org/drawingml/2006/main" prst="line">
            <a:avLst/>
          </a:prstGeom>
          <a:noFill xmlns:a="http://schemas.openxmlformats.org/drawingml/2006/main"/>
          <a:ln xmlns:a="http://schemas.openxmlformats.org/drawingml/2006/main" w="9525">
            <a:solidFill>
              <a:srgbClr val="33333D"/>
            </a:solidFill>
          </a:ln>
        </p:spPr>
      </p:sp>
      <p:sp>
        <p:nvSpPr>
          <p:cNvPr id="8" name="09/25 22:26">
            <a:extLst xmlns:a="http://schemas.openxmlformats.org/drawingml/2006/main">
              <a:ext uri="{FF2B5EF4-FFF2-40B4-BE49-F238E27FC236}">
                <a16:creationId xmlns:a16="http://schemas.microsoft.com/office/drawing/2014/main" id="{A7759623-1572-422F-8460-2328EEDB1CC9}"/>
              </a:ext>
            </a:extLst>
          </p:cNvPr>
          <p:cNvSpPr>
            <a:spLocks xmlns:a="http://schemas.openxmlformats.org/drawingml/2006/main" noGrp="1"/>
          </p:cNvSpPr>
          <p:nvPr/>
        </p:nvSpPr>
        <p:spPr>
          <a:xfrm xmlns:a="http://schemas.openxmlformats.org/drawingml/2006/main">
            <a:off x="666750" y="2933700"/>
            <a:ext cx="2724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37D67A"/>
                </a:solidFill>
                <a:latin typeface="Arial"/>
                <a:ea typeface="Arial"/>
                <a:cs typeface="Arial"/>
              </a:defRPr>
            </a:pPr>
            <a:r>
              <a:rPr sz="2175" b="1">
                <a:solidFill>
                  <a:srgbClr val="37D67A"/>
                </a:solidFill>
                <a:latin typeface="Arial"/>
                <a:ea typeface="Arial"/>
                <a:cs typeface="Arial"/>
              </a:rPr>
              <a:t>09/25 22:26</a:t>
            </a:r>
          </a:p>
        </p:txBody>
      </p:sp>
      <p:sp>
        <p:nvSpPr>
          <p:cNvPr id="9" name="AquaWriter + book">
            <a:extLst xmlns:a="http://schemas.openxmlformats.org/drawingml/2006/main">
              <a:ext uri="{FF2B5EF4-FFF2-40B4-BE49-F238E27FC236}">
                <a16:creationId xmlns:a16="http://schemas.microsoft.com/office/drawing/2014/main" id="{6937E907-00F9-434A-BF3C-7CAF466E046F}"/>
              </a:ext>
            </a:extLst>
          </p:cNvPr>
          <p:cNvSpPr>
            <a:spLocks xmlns:a="http://schemas.openxmlformats.org/drawingml/2006/main" noGrp="1"/>
          </p:cNvSpPr>
          <p:nvPr/>
        </p:nvSpPr>
        <p:spPr>
          <a:xfrm xmlns:a="http://schemas.openxmlformats.org/drawingml/2006/main">
            <a:off x="666750" y="3648075"/>
            <a:ext cx="2676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FAFAFA"/>
                </a:solidFill>
                <a:latin typeface="Arial"/>
                <a:ea typeface="Arial"/>
                <a:cs typeface="Arial"/>
              </a:defRPr>
            </a:pPr>
            <a:r>
              <a:rPr sz="1950" b="0">
                <a:solidFill>
                  <a:srgbClr val="FAFAFA"/>
                </a:solidFill>
                <a:latin typeface="Arial"/>
                <a:ea typeface="Arial"/>
                <a:cs typeface="Arial"/>
              </a:rPr>
              <a:t>AquaWriter + book</a:t>
            </a:r>
          </a:p>
        </p:txBody>
      </p:sp>
      <p:sp>
        <p:nvSpPr>
          <p:cNvPr id="10" name="09/25 23:39">
            <a:extLst xmlns:a="http://schemas.openxmlformats.org/drawingml/2006/main">
              <a:ext uri="{FF2B5EF4-FFF2-40B4-BE49-F238E27FC236}">
                <a16:creationId xmlns:a16="http://schemas.microsoft.com/office/drawing/2014/main" id="{AA8D064B-A847-4BA7-980A-61AD4B1EE401}"/>
              </a:ext>
            </a:extLst>
          </p:cNvPr>
          <p:cNvSpPr>
            <a:spLocks xmlns:a="http://schemas.openxmlformats.org/drawingml/2006/main" noGrp="1"/>
          </p:cNvSpPr>
          <p:nvPr/>
        </p:nvSpPr>
        <p:spPr>
          <a:xfrm xmlns:a="http://schemas.openxmlformats.org/drawingml/2006/main">
            <a:off x="3514725" y="2933700"/>
            <a:ext cx="2724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37D67A"/>
                </a:solidFill>
                <a:latin typeface="Arial"/>
                <a:ea typeface="Arial"/>
                <a:cs typeface="Arial"/>
              </a:defRPr>
            </a:pPr>
            <a:r>
              <a:rPr sz="2175" b="1">
                <a:solidFill>
                  <a:srgbClr val="37D67A"/>
                </a:solidFill>
                <a:latin typeface="Arial"/>
                <a:ea typeface="Arial"/>
                <a:cs typeface="Arial"/>
              </a:rPr>
              <a:t>09/25 23:39</a:t>
            </a:r>
          </a:p>
        </p:txBody>
      </p:sp>
      <p:sp>
        <p:nvSpPr>
          <p:cNvPr id="11" name="Hook deployed">
            <a:extLst xmlns:a="http://schemas.openxmlformats.org/drawingml/2006/main">
              <a:ext uri="{FF2B5EF4-FFF2-40B4-BE49-F238E27FC236}">
                <a16:creationId xmlns:a16="http://schemas.microsoft.com/office/drawing/2014/main" id="{9062BFD3-F867-4FD5-B1F4-05A0365FB544}"/>
              </a:ext>
            </a:extLst>
          </p:cNvPr>
          <p:cNvSpPr>
            <a:spLocks xmlns:a="http://schemas.openxmlformats.org/drawingml/2006/main" noGrp="1"/>
          </p:cNvSpPr>
          <p:nvPr/>
        </p:nvSpPr>
        <p:spPr>
          <a:xfrm xmlns:a="http://schemas.openxmlformats.org/drawingml/2006/main">
            <a:off x="3514725" y="3648075"/>
            <a:ext cx="2676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FAFAFA"/>
                </a:solidFill>
                <a:latin typeface="Arial"/>
                <a:ea typeface="Arial"/>
                <a:cs typeface="Arial"/>
              </a:defRPr>
            </a:pPr>
            <a:r>
              <a:rPr sz="1950" b="0">
                <a:solidFill>
                  <a:srgbClr val="FAFAFA"/>
                </a:solidFill>
                <a:latin typeface="Arial"/>
                <a:ea typeface="Arial"/>
                <a:cs typeface="Arial"/>
              </a:rPr>
              <a:t>Hook deployed</a:t>
            </a:r>
          </a:p>
        </p:txBody>
      </p:sp>
      <p:sp>
        <p:nvSpPr>
          <p:cNvPr id="12" name="09/27 01:53">
            <a:extLst xmlns:a="http://schemas.openxmlformats.org/drawingml/2006/main">
              <a:ext uri="{FF2B5EF4-FFF2-40B4-BE49-F238E27FC236}">
                <a16:creationId xmlns:a16="http://schemas.microsoft.com/office/drawing/2014/main" id="{68599CED-43DB-4E46-B98D-93ECC95FBE2A}"/>
              </a:ext>
            </a:extLst>
          </p:cNvPr>
          <p:cNvSpPr>
            <a:spLocks xmlns:a="http://schemas.openxmlformats.org/drawingml/2006/main" noGrp="1"/>
          </p:cNvSpPr>
          <p:nvPr/>
        </p:nvSpPr>
        <p:spPr>
          <a:xfrm xmlns:a="http://schemas.openxmlformats.org/drawingml/2006/main">
            <a:off x="6362700" y="2933700"/>
            <a:ext cx="2724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F007A"/>
                </a:solidFill>
                <a:latin typeface="Arial"/>
                <a:ea typeface="Arial"/>
                <a:cs typeface="Arial"/>
              </a:defRPr>
            </a:pPr>
            <a:r>
              <a:rPr sz="2175" b="1">
                <a:solidFill>
                  <a:srgbClr val="FF007A"/>
                </a:solidFill>
                <a:latin typeface="Arial"/>
                <a:ea typeface="Arial"/>
                <a:cs typeface="Arial"/>
              </a:rPr>
              <a:t>09/27 01:53</a:t>
            </a:r>
          </a:p>
        </p:txBody>
      </p:sp>
      <p:sp>
        <p:nvSpPr>
          <p:cNvPr id="13" name="Hooked pool">
            <a:extLst xmlns:a="http://schemas.openxmlformats.org/drawingml/2006/main">
              <a:ext uri="{FF2B5EF4-FFF2-40B4-BE49-F238E27FC236}">
                <a16:creationId xmlns:a16="http://schemas.microsoft.com/office/drawing/2014/main" id="{ACB18268-7421-4CCD-A9FE-38B135809DBC}"/>
              </a:ext>
            </a:extLst>
          </p:cNvPr>
          <p:cNvSpPr>
            <a:spLocks xmlns:a="http://schemas.openxmlformats.org/drawingml/2006/main" noGrp="1"/>
          </p:cNvSpPr>
          <p:nvPr/>
        </p:nvSpPr>
        <p:spPr>
          <a:xfrm xmlns:a="http://schemas.openxmlformats.org/drawingml/2006/main">
            <a:off x="6362700" y="3648075"/>
            <a:ext cx="2676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FAFAFA"/>
                </a:solidFill>
                <a:latin typeface="Arial"/>
                <a:ea typeface="Arial"/>
                <a:cs typeface="Arial"/>
              </a:defRPr>
            </a:pPr>
            <a:r>
              <a:rPr sz="1950" b="0">
                <a:solidFill>
                  <a:srgbClr val="FAFAFA"/>
                </a:solidFill>
                <a:latin typeface="Arial"/>
                <a:ea typeface="Arial"/>
                <a:cs typeface="Arial"/>
              </a:rPr>
              <a:t>Hooked pool</a:t>
            </a:r>
          </a:p>
        </p:txBody>
      </p:sp>
      <p:sp>
        <p:nvSpPr>
          <p:cNvPr id="14" name="09/27 02:32">
            <a:extLst xmlns:a="http://schemas.openxmlformats.org/drawingml/2006/main">
              <a:ext uri="{FF2B5EF4-FFF2-40B4-BE49-F238E27FC236}">
                <a16:creationId xmlns:a16="http://schemas.microsoft.com/office/drawing/2014/main" id="{647E9C27-CE13-4F7A-A9E0-7ADBA4EA5AB6}"/>
              </a:ext>
            </a:extLst>
          </p:cNvPr>
          <p:cNvSpPr>
            <a:spLocks xmlns:a="http://schemas.openxmlformats.org/drawingml/2006/main" noGrp="1"/>
          </p:cNvSpPr>
          <p:nvPr/>
        </p:nvSpPr>
        <p:spPr>
          <a:xfrm xmlns:a="http://schemas.openxmlformats.org/drawingml/2006/main">
            <a:off x="9210675" y="2933700"/>
            <a:ext cx="2724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F007A"/>
                </a:solidFill>
                <a:latin typeface="Arial"/>
                <a:ea typeface="Arial"/>
                <a:cs typeface="Arial"/>
              </a:defRPr>
            </a:pPr>
            <a:r>
              <a:rPr sz="2175" b="1">
                <a:solidFill>
                  <a:srgbClr val="FF007A"/>
                </a:solidFill>
                <a:latin typeface="Arial"/>
                <a:ea typeface="Arial"/>
                <a:cs typeface="Arial"/>
              </a:rPr>
              <a:t>09/27 02:32</a:t>
            </a:r>
          </a:p>
        </p:txBody>
      </p:sp>
      <p:sp>
        <p:nvSpPr>
          <p:cNvPr id="15" name="Band + settlement">
            <a:extLst xmlns:a="http://schemas.openxmlformats.org/drawingml/2006/main">
              <a:ext uri="{FF2B5EF4-FFF2-40B4-BE49-F238E27FC236}">
                <a16:creationId xmlns:a16="http://schemas.microsoft.com/office/drawing/2014/main" id="{37D96D56-FB9B-45F1-AD19-F9ADDC83DF73}"/>
              </a:ext>
            </a:extLst>
          </p:cNvPr>
          <p:cNvSpPr>
            <a:spLocks xmlns:a="http://schemas.openxmlformats.org/drawingml/2006/main" noGrp="1"/>
          </p:cNvSpPr>
          <p:nvPr/>
        </p:nvSpPr>
        <p:spPr>
          <a:xfrm xmlns:a="http://schemas.openxmlformats.org/drawingml/2006/main">
            <a:off x="9210675" y="3648075"/>
            <a:ext cx="26765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FAFAFA"/>
                </a:solidFill>
                <a:latin typeface="Arial"/>
                <a:ea typeface="Arial"/>
                <a:cs typeface="Arial"/>
              </a:defRPr>
            </a:pPr>
            <a:r>
              <a:rPr sz="1950" b="0">
                <a:solidFill>
                  <a:srgbClr val="FAFAFA"/>
                </a:solidFill>
                <a:latin typeface="Arial"/>
                <a:ea typeface="Arial"/>
                <a:cs typeface="Arial"/>
              </a:rPr>
              <a:t>Band + settlement</a:t>
            </a:r>
          </a:p>
        </p:txBody>
      </p:sp>
      <p:sp>
        <p:nvSpPr>
          <p:cNvPr id="16" name="Public extraction: a small book + FixedPremium">
            <a:extLst xmlns:a="http://schemas.openxmlformats.org/drawingml/2006/main">
              <a:ext uri="{FF2B5EF4-FFF2-40B4-BE49-F238E27FC236}">
                <a16:creationId xmlns:a16="http://schemas.microsoft.com/office/drawing/2014/main" id="{26CD31C0-9F8D-4232-BC96-78585E8BC18B}"/>
              </a:ext>
            </a:extLst>
          </p:cNvPr>
          <p:cNvSpPr>
            <a:spLocks xmlns:a="http://schemas.openxmlformats.org/drawingml/2006/main" noGrp="1"/>
          </p:cNvSpPr>
          <p:nvPr/>
        </p:nvSpPr>
        <p:spPr>
          <a:xfrm xmlns:a="http://schemas.openxmlformats.org/drawingml/2006/main">
            <a:off x="666750" y="490537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1">
                <a:solidFill>
                  <a:srgbClr val="37D67A"/>
                </a:solidFill>
                <a:latin typeface="Arial"/>
                <a:ea typeface="Arial"/>
                <a:cs typeface="Arial"/>
              </a:defRPr>
            </a:pPr>
            <a:r>
              <a:rPr sz="2625" b="1">
                <a:solidFill>
                  <a:srgbClr val="37D67A"/>
                </a:solidFill>
                <a:latin typeface="Arial"/>
                <a:ea typeface="Arial"/>
                <a:cs typeface="Arial"/>
              </a:rPr>
              <a:t>Public extraction: a small book + FixedPremium</a:t>
            </a:r>
          </a:p>
        </p:txBody>
      </p:sp>
      <p:sp>
        <p:nvSpPr>
          <p:cNvPr id="17" name="Event-time additions. JST timestamps. Private product pricin">
            <a:extLst xmlns:a="http://schemas.openxmlformats.org/drawingml/2006/main">
              <a:ext uri="{FF2B5EF4-FFF2-40B4-BE49-F238E27FC236}">
                <a16:creationId xmlns:a16="http://schemas.microsoft.com/office/drawing/2014/main" id="{2663E9A6-8669-4501-AC9E-AF8E4BD54D6C}"/>
              </a:ext>
            </a:extLst>
          </p:cNvPr>
          <p:cNvSpPr>
            <a:spLocks xmlns:a="http://schemas.openxmlformats.org/drawingml/2006/main" noGrp="1"/>
          </p:cNvSpPr>
          <p:nvPr/>
        </p:nvSpPr>
        <p:spPr>
          <a:xfrm xmlns:a="http://schemas.openxmlformats.org/drawingml/2006/main">
            <a:off x="676275" y="574357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8A8B2"/>
                </a:solidFill>
                <a:latin typeface="Arial"/>
                <a:ea typeface="Arial"/>
                <a:cs typeface="Arial"/>
              </a:defRPr>
            </a:pPr>
            <a:r>
              <a:rPr sz="1725" b="0">
                <a:solidFill>
                  <a:srgbClr val="A8A8B2"/>
                </a:solidFill>
                <a:latin typeface="Arial"/>
                <a:ea typeface="Arial"/>
                <a:cs typeface="Arial"/>
              </a:rPr>
              <a:t>Event-time additions. JST timestamps. Private product pricing stays outside.</a:t>
            </a:r>
          </a:p>
        </p:txBody>
      </p:sp>
    </p:spTree>
    <p:extLst>
      <p:ext uri="{BB962C8B-B14F-4D97-AF65-F5344CB8AC3E}">
        <p14:creationId xmlns:p14="http://schemas.microsoft.com/office/powerpoint/2010/main" val="238728192"/>
      </p:ext>
    </p:extLst>
  </p:cSld>
</p:sld>
</file>

<file path=ppt/slides/slide19.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1" name="Historical motivation: HIMS">
            <a:extLst xmlns:a="http://schemas.openxmlformats.org/drawingml/2006/main">
              <a:ext uri="{FF2B5EF4-FFF2-40B4-BE49-F238E27FC236}">
                <a16:creationId xmlns:a16="http://schemas.microsoft.com/office/drawing/2014/main" id="{A5A8DFC5-36F3-4ECC-AC45-F3F4F4FA8335}"/>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Historical motivation: HIMS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dce1f94e1d84077"/>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C240CD58-B047-44E6-8D87-6F753D21FB44}"/>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5">
            <a:extLst xmlns:a="http://schemas.openxmlformats.org/drawingml/2006/main">
              <a:ext uri="{FF2B5EF4-FFF2-40B4-BE49-F238E27FC236}">
                <a16:creationId xmlns:a16="http://schemas.microsoft.com/office/drawing/2014/main" id="{BFCEA2EF-3F26-4B78-8F80-F6713C9F3041}"/>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A5</a:t>
            </a:r>
          </a:p>
        </p:txBody>
      </p:sp>
      <p:sp>
        <p:nvSpPr>
          <p:cNvPr id="5" name="2026-08-30 weekend study">
            <a:extLst xmlns:a="http://schemas.openxmlformats.org/drawingml/2006/main">
              <a:ext uri="{FF2B5EF4-FFF2-40B4-BE49-F238E27FC236}">
                <a16:creationId xmlns:a16="http://schemas.microsoft.com/office/drawing/2014/main" id="{3EB51B65-996D-4310-9B27-7CEC86459CF7}"/>
              </a:ext>
            </a:extLst>
          </p:cNvPr>
          <p:cNvSpPr>
            <a:spLocks xmlns:a="http://schemas.openxmlformats.org/drawingml/2006/main" noGrp="1"/>
          </p:cNvSpPr>
          <p:nvPr/>
        </p:nvSpPr>
        <p:spPr>
          <a:xfrm xmlns:a="http://schemas.openxmlformats.org/drawingml/2006/main">
            <a:off x="666750" y="141922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A8A8B2"/>
                </a:solidFill>
                <a:latin typeface="Arial"/>
                <a:ea typeface="Arial"/>
                <a:cs typeface="Arial"/>
              </a:defRPr>
            </a:pPr>
            <a:r>
              <a:rPr sz="2250" b="0">
                <a:solidFill>
                  <a:srgbClr val="A8A8B2"/>
                </a:solidFill>
                <a:latin typeface="Arial"/>
                <a:ea typeface="Arial"/>
                <a:cs typeface="Arial"/>
              </a:rPr>
              <a:t>2026-08-30 weekend study</a:t>
            </a:r>
          </a:p>
        </p:txBody>
      </p:sp>
      <p:graphicFrame>
        <p:nvGraphicFramePr>
          <p:cNvPr id="16" name="Chart"/>
          <p:cNvGraphicFramePr/>
          <p:nvPr/>
        </p:nvGraphicFramePr>
        <p:xfrm>
          <a:off xmlns:a="http://schemas.openxmlformats.org/drawingml/2006/main" x="619125" y="2209800"/>
          <a:ext xmlns:a="http://schemas.openxmlformats.org/drawingml/2006/main" cx="6962775" cy="3048000"/>
        </p:xfrm>
        <a:graphic xmlns:a="http://schemas.openxmlformats.org/drawingml/2006/main">
          <a:graphicData uri="http://schemas.openxmlformats.org/drawingml/2006/chart">
            <c:chart xmlns:r="http://schemas.openxmlformats.org/officeDocument/2006/relationships" xmlns:c="http://schemas.openxmlformats.org/drawingml/2006/chart" r:id="R6c71a00f8a954519"/>
          </a:graphicData>
        </a:graphic>
      </p:graphicFrame>
      <p:sp>
        <p:nvSpPr>
          <p:cNvPr id="7" name="12 USDG">
            <a:extLst xmlns:a="http://schemas.openxmlformats.org/drawingml/2006/main">
              <a:ext uri="{FF2B5EF4-FFF2-40B4-BE49-F238E27FC236}">
                <a16:creationId xmlns:a16="http://schemas.microsoft.com/office/drawing/2014/main" id="{42BA926E-D747-4960-92F2-1C86B5174AAC}"/>
              </a:ext>
            </a:extLst>
          </p:cNvPr>
          <p:cNvSpPr>
            <a:spLocks xmlns:a="http://schemas.openxmlformats.org/drawingml/2006/main" noGrp="1"/>
          </p:cNvSpPr>
          <p:nvPr/>
        </p:nvSpPr>
        <p:spPr>
          <a:xfrm xmlns:a="http://schemas.openxmlformats.org/drawingml/2006/main">
            <a:off x="8324850" y="2514600"/>
            <a:ext cx="3257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900" b="1">
                <a:solidFill>
                  <a:srgbClr val="37D67A"/>
                </a:solidFill>
                <a:latin typeface="Arial"/>
                <a:ea typeface="Arial"/>
                <a:cs typeface="Arial"/>
              </a:defRPr>
            </a:pPr>
            <a:r>
              <a:rPr sz="3900" b="1">
                <a:solidFill>
                  <a:srgbClr val="37D67A"/>
                </a:solidFill>
                <a:latin typeface="Arial"/>
                <a:ea typeface="Arial"/>
                <a:cs typeface="Arial"/>
              </a:rPr>
              <a:t>12 USDG</a:t>
            </a:r>
          </a:p>
        </p:txBody>
      </p:sp>
      <p:sp>
        <p:nvSpPr>
          <p:cNvPr id="8" name="Estimated round-trip fees">
            <a:extLst xmlns:a="http://schemas.openxmlformats.org/drawingml/2006/main">
              <a:ext uri="{FF2B5EF4-FFF2-40B4-BE49-F238E27FC236}">
                <a16:creationId xmlns:a16="http://schemas.microsoft.com/office/drawing/2014/main" id="{72A59B6D-1741-4C4B-AAEF-1A6DDF3D043D}"/>
              </a:ext>
            </a:extLst>
          </p:cNvPr>
          <p:cNvSpPr>
            <a:spLocks xmlns:a="http://schemas.openxmlformats.org/drawingml/2006/main" noGrp="1"/>
          </p:cNvSpPr>
          <p:nvPr/>
        </p:nvSpPr>
        <p:spPr>
          <a:xfrm xmlns:a="http://schemas.openxmlformats.org/drawingml/2006/main">
            <a:off x="8324850" y="3505200"/>
            <a:ext cx="328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FAFAFA"/>
                </a:solidFill>
                <a:latin typeface="Arial"/>
                <a:ea typeface="Arial"/>
                <a:cs typeface="Arial"/>
              </a:defRPr>
            </a:pPr>
            <a:r>
              <a:rPr sz="1950" b="0">
                <a:solidFill>
                  <a:srgbClr val="FAFAFA"/>
                </a:solidFill>
                <a:latin typeface="Arial"/>
                <a:ea typeface="Arial"/>
                <a:cs typeface="Arial"/>
              </a:rPr>
              <a:t>Estimated round-trip fees</a:t>
            </a:r>
          </a:p>
        </p:txBody>
      </p:sp>
      <p:sp>
        <p:nvSpPr>
          <p:cNvPr id="9" name="10% push, separate snapshot">
            <a:extLst xmlns:a="http://schemas.openxmlformats.org/drawingml/2006/main">
              <a:ext uri="{FF2B5EF4-FFF2-40B4-BE49-F238E27FC236}">
                <a16:creationId xmlns:a16="http://schemas.microsoft.com/office/drawing/2014/main" id="{26C4D853-9F46-4326-894E-559975705946}"/>
              </a:ext>
            </a:extLst>
          </p:cNvPr>
          <p:cNvSpPr>
            <a:spLocks xmlns:a="http://schemas.openxmlformats.org/drawingml/2006/main" noGrp="1"/>
          </p:cNvSpPr>
          <p:nvPr/>
        </p:nvSpPr>
        <p:spPr>
          <a:xfrm xmlns:a="http://schemas.openxmlformats.org/drawingml/2006/main">
            <a:off x="8324850" y="40671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8A8B2"/>
                </a:solidFill>
                <a:latin typeface="Arial"/>
                <a:ea typeface="Arial"/>
                <a:cs typeface="Arial"/>
              </a:defRPr>
            </a:pPr>
            <a:r>
              <a:rPr sz="1800" b="0">
                <a:solidFill>
                  <a:srgbClr val="A8A8B2"/>
                </a:solidFill>
                <a:latin typeface="Arial"/>
                <a:ea typeface="Arial"/>
                <a:cs typeface="Arial"/>
              </a:rPr>
              <a:t>10% push, separate snapshot</a:t>
            </a:r>
          </a:p>
        </p:txBody>
      </p:sp>
      <p:sp>
        <p:nvSpPr>
          <p:cNvPr id="10" name="Different timestamps. Historical motivation, not evidence th">
            <a:extLst xmlns:a="http://schemas.openxmlformats.org/drawingml/2006/main">
              <a:ext uri="{FF2B5EF4-FFF2-40B4-BE49-F238E27FC236}">
                <a16:creationId xmlns:a16="http://schemas.microsoft.com/office/drawing/2014/main" id="{DA3AFC69-8409-4A65-BCC3-6F6D0F0EC5DA}"/>
              </a:ext>
            </a:extLst>
          </p:cNvPr>
          <p:cNvSpPr>
            <a:spLocks xmlns:a="http://schemas.openxmlformats.org/drawingml/2006/main" noGrp="1"/>
          </p:cNvSpPr>
          <p:nvPr/>
        </p:nvSpPr>
        <p:spPr>
          <a:xfrm xmlns:a="http://schemas.openxmlformats.org/drawingml/2006/main">
            <a:off x="676275" y="57531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A8A8B2"/>
                </a:solidFill>
                <a:latin typeface="Arial"/>
                <a:ea typeface="Arial"/>
                <a:cs typeface="Arial"/>
              </a:defRPr>
            </a:pPr>
            <a:r>
              <a:rPr sz="1650" b="0">
                <a:solidFill>
                  <a:srgbClr val="A8A8B2"/>
                </a:solidFill>
                <a:latin typeface="Arial"/>
                <a:ea typeface="Arial"/>
                <a:cs typeface="Arial"/>
              </a:rPr>
              <a:t>Different timestamps. Historical motivation, not evidence that this band prevented the event.</a:t>
            </a:r>
          </a:p>
        </p:txBody>
      </p:sp>
    </p:spTree>
    <p:extLst>
      <p:ext uri="{BB962C8B-B14F-4D97-AF65-F5344CB8AC3E}">
        <p14:creationId xmlns:p14="http://schemas.microsoft.com/office/powerpoint/2010/main" val="1166855100"/>
      </p:ext>
    </p:extLst>
  </p:cSld>
</p:sld>
</file>

<file path=ppt/slides/slide20.xml><?xml version="1.0" encoding="utf-8"?>
<p:sld xmlns:p="http://schemas.openxmlformats.org/presentationml/2006/main">
  <p:cSld>
    <p:bg>
      <p:bgPr>
        <a:solidFill xmlns:a="http://schemas.openxmlformats.org/drawingml/2006/main">
          <a:srgbClr val="08080A"/>
        </a:solidFill>
      </p:bgPr>
    </p:bg>
    <p:spTree>
      <p:nvGrpSpPr>
        <p:cNvPr id="1" name=""/>
        <p:cNvGrpSpPr/>
        <p:nvPr/>
      </p:nvGrpSpPr>
      <p:grpSpPr>
        <a:xfrm xmlns:a="http://schemas.openxmlformats.org/drawingml/2006/main"/>
      </p:grpSpPr>
      <p:sp>
        <p:nvSpPr>
          <p:cNvPr id="17" name="Evidence you can reproduce">
            <a:extLst xmlns:a="http://schemas.openxmlformats.org/drawingml/2006/main">
              <a:ext uri="{FF2B5EF4-FFF2-40B4-BE49-F238E27FC236}">
                <a16:creationId xmlns:a16="http://schemas.microsoft.com/office/drawing/2014/main" id="{4689237F-FBEC-40E3-A11F-A2567888D28F}"/>
              </a:ext>
            </a:extLst>
          </p:cNvPr>
          <p:cNvSpPr>
            <a:spLocks xmlns:a="http://schemas.openxmlformats.org/drawingml/2006/main" noGrp="1"/>
          </p:cNvSpPr>
          <p:nvPr/>
        </p:nvSpPr>
        <p:spPr>
          <a:xfrm xmlns:a="http://schemas.openxmlformats.org/drawingml/2006/main">
            <a:off x="590550" y="419100"/>
            <a:ext cx="1100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FAFAFA"/>
                </a:solidFill>
                <a:latin typeface="Arial"/>
                <a:ea typeface="Arial"/>
                <a:cs typeface="Arial"/>
              </a:defRPr>
            </a:pPr>
            <a:r>
              <a:rPr sz="3225" b="1">
                <a:solidFill>
                  <a:srgbClr val="FAFAFA"/>
                </a:solidFill>
                <a:latin typeface="Arial"/>
                <a:ea typeface="Arial"/>
                <a:cs typeface="Arial"/>
              </a:rPr>
              <a:t>Evidence you can reproduce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a66dc1d11584177"/>
          <a:stretch xmlns:a="http://schemas.openxmlformats.org/drawingml/2006/main"/>
        </p:blipFill>
        <p:spPr>
          <a:xfrm xmlns:a="http://schemas.openxmlformats.org/drawingml/2006/main">
            <a:off x="609600" y="6238875"/>
            <a:ext cx="228600" cy="228600"/>
          </a:xfrm>
          <a:prstGeom xmlns:a="http://schemas.openxmlformats.org/drawingml/2006/main" prst="rect">
            <a:avLst/>
          </a:prstGeom>
        </p:spPr>
      </p:pic>
      <p:sp>
        <p:nvSpPr>
          <p:cNvPr id="3" name="Vexi Hakari">
            <a:extLst xmlns:a="http://schemas.openxmlformats.org/drawingml/2006/main">
              <a:ext uri="{FF2B5EF4-FFF2-40B4-BE49-F238E27FC236}">
                <a16:creationId xmlns:a16="http://schemas.microsoft.com/office/drawing/2014/main" id="{0D1EA15E-0601-4749-A40C-F5714C3AD68A}"/>
              </a:ext>
            </a:extLst>
          </p:cNvPr>
          <p:cNvSpPr>
            <a:spLocks xmlns:a="http://schemas.openxmlformats.org/drawingml/2006/main" noGrp="1"/>
          </p:cNvSpPr>
          <p:nvPr/>
        </p:nvSpPr>
        <p:spPr>
          <a:xfrm xmlns:a="http://schemas.openxmlformats.org/drawingml/2006/main">
            <a:off x="952500" y="6153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8A8B2"/>
                </a:solidFill>
                <a:latin typeface="Arial"/>
                <a:ea typeface="Arial"/>
                <a:cs typeface="Arial"/>
              </a:defRPr>
            </a:pPr>
            <a:r>
              <a:rPr sz="1275" b="0">
                <a:solidFill>
                  <a:srgbClr val="A8A8B2"/>
                </a:solidFill>
                <a:latin typeface="Arial"/>
                <a:ea typeface="Arial"/>
                <a:cs typeface="Arial"/>
              </a:rPr>
              <a:t>Vexi Hakari</a:t>
            </a:r>
          </a:p>
        </p:txBody>
      </p:sp>
      <p:sp>
        <p:nvSpPr>
          <p:cNvPr id="4" name="A6">
            <a:extLst xmlns:a="http://schemas.openxmlformats.org/drawingml/2006/main">
              <a:ext uri="{FF2B5EF4-FFF2-40B4-BE49-F238E27FC236}">
                <a16:creationId xmlns:a16="http://schemas.microsoft.com/office/drawing/2014/main" id="{83FD02D4-8101-4188-A902-4B38AEE5C1DA}"/>
              </a:ext>
            </a:extLst>
          </p:cNvPr>
          <p:cNvSpPr>
            <a:spLocks xmlns:a="http://schemas.openxmlformats.org/drawingml/2006/main" noGrp="1"/>
          </p:cNvSpPr>
          <p:nvPr/>
        </p:nvSpPr>
        <p:spPr>
          <a:xfrm xmlns:a="http://schemas.openxmlformats.org/drawingml/2006/main">
            <a:off x="11001375" y="6153150"/>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A8A8B2"/>
                </a:solidFill>
                <a:latin typeface="Arial"/>
                <a:ea typeface="Arial"/>
                <a:cs typeface="Arial"/>
              </a:defRPr>
            </a:pPr>
            <a:r>
              <a:rPr sz="1275" b="0">
                <a:solidFill>
                  <a:srgbClr val="A8A8B2"/>
                </a:solidFill>
                <a:latin typeface="Arial"/>
                <a:ea typeface="Arial"/>
                <a:cs typeface="Arial"/>
              </a:rPr>
              <a:t>A6</a:t>
            </a:r>
          </a:p>
        </p:txBody>
      </p:sp>
      <p:sp>
        <p:nvSpPr>
          <p:cNvPr id="5" name="1 + 4 = 5">
            <a:extLst xmlns:a="http://schemas.openxmlformats.org/drawingml/2006/main">
              <a:ext uri="{FF2B5EF4-FFF2-40B4-BE49-F238E27FC236}">
                <a16:creationId xmlns:a16="http://schemas.microsoft.com/office/drawing/2014/main" id="{E9BD3858-3BB6-42CE-AB0B-B254A506EBDB}"/>
              </a:ext>
            </a:extLst>
          </p:cNvPr>
          <p:cNvSpPr>
            <a:spLocks xmlns:a="http://schemas.openxmlformats.org/drawingml/2006/main" noGrp="1"/>
          </p:cNvSpPr>
          <p:nvPr/>
        </p:nvSpPr>
        <p:spPr>
          <a:xfrm xmlns:a="http://schemas.openxmlformats.org/drawingml/2006/main">
            <a:off x="638175" y="14382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5100" b="1">
                <a:solidFill>
                  <a:srgbClr val="37D67A"/>
                </a:solidFill>
                <a:latin typeface="Arial"/>
                <a:ea typeface="Arial"/>
                <a:cs typeface="Arial"/>
              </a:defRPr>
            </a:pPr>
            <a:r>
              <a:rPr sz="5100" b="1">
                <a:solidFill>
                  <a:srgbClr val="37D67A"/>
                </a:solidFill>
                <a:latin typeface="Arial"/>
                <a:ea typeface="Arial"/>
                <a:cs typeface="Arial"/>
              </a:rPr>
              <a:t>1 + 4 = 5</a:t>
            </a:r>
          </a:p>
        </p:txBody>
      </p:sp>
      <p:sp>
        <p:nvSpPr>
          <p:cNvPr id="6" name="One 15-step lifecycle + four independent cases = five tests">
            <a:extLst xmlns:a="http://schemas.openxmlformats.org/drawingml/2006/main">
              <a:ext uri="{FF2B5EF4-FFF2-40B4-BE49-F238E27FC236}">
                <a16:creationId xmlns:a16="http://schemas.microsoft.com/office/drawing/2014/main" id="{F0973B8D-2C2B-46D8-8984-DC61BFB79FC1}"/>
              </a:ext>
            </a:extLst>
          </p:cNvPr>
          <p:cNvSpPr>
            <a:spLocks xmlns:a="http://schemas.openxmlformats.org/drawingml/2006/main" noGrp="1"/>
          </p:cNvSpPr>
          <p:nvPr/>
        </p:nvSpPr>
        <p:spPr>
          <a:xfrm xmlns:a="http://schemas.openxmlformats.org/drawingml/2006/main">
            <a:off x="647700" y="25431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A8A8B2"/>
                </a:solidFill>
                <a:latin typeface="Arial"/>
                <a:ea typeface="Arial"/>
                <a:cs typeface="Arial"/>
              </a:defRPr>
            </a:pPr>
            <a:r>
              <a:rPr sz="2175" b="0">
                <a:solidFill>
                  <a:srgbClr val="A8A8B2"/>
                </a:solidFill>
                <a:latin typeface="Arial"/>
                <a:ea typeface="Arial"/>
                <a:cs typeface="Arial"/>
              </a:rPr>
              <a:t>One 15-step lifecycle + four independent cases = five tests</a:t>
            </a:r>
          </a:p>
        </p:txBody>
      </p:sp>
      <p:sp>
        <p:nvSpPr>
          <p:cNvPr id="7" name="Source">
            <a:extLst xmlns:a="http://schemas.openxmlformats.org/drawingml/2006/main">
              <a:ext uri="{FF2B5EF4-FFF2-40B4-BE49-F238E27FC236}">
                <a16:creationId xmlns:a16="http://schemas.microsoft.com/office/drawing/2014/main" id="{F17EC842-6F95-43C6-9A67-955E0F01F4F8}"/>
              </a:ext>
            </a:extLst>
          </p:cNvPr>
          <p:cNvSpPr>
            <a:spLocks xmlns:a="http://schemas.openxmlformats.org/drawingml/2006/main" noGrp="1"/>
          </p:cNvSpPr>
          <p:nvPr/>
        </p:nvSpPr>
        <p:spPr>
          <a:xfrm xmlns:a="http://schemas.openxmlformats.org/drawingml/2006/main">
            <a:off x="666750" y="3514725"/>
            <a:ext cx="2114550" cy="723900"/>
          </a:xfrm>
          <a:prstGeom xmlns:a="http://schemas.openxmlformats.org/drawingml/2006/main" prst="rect">
            <a:avLst/>
          </a:prstGeom>
          <a:solidFill xmlns:a="http://schemas.openxmlformats.org/drawingml/2006/main">
            <a:srgbClr val="08080A"/>
          </a:solidFill>
          <a:ln xmlns:a="http://schemas.openxmlformats.org/drawingml/2006/main" w="14288">
            <a:solidFill>
              <a:srgbClr val="FAFAF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025" b="1">
                <a:solidFill>
                  <a:srgbClr val="FAFAFA"/>
                </a:solidFill>
                <a:latin typeface="Arial"/>
                <a:ea typeface="Arial"/>
                <a:cs typeface="Arial"/>
              </a:defRPr>
            </a:pPr>
            <a:r>
              <a:rPr sz="2025" b="1">
                <a:solidFill>
                  <a:srgbClr val="FAFAFA"/>
                </a:solidFill>
                <a:latin typeface="Arial"/>
                <a:ea typeface="Arial"/>
                <a:cs typeface="Arial"/>
              </a:rPr>
              <a:t>Source</a:t>
            </a:r>
          </a:p>
        </p:txBody>
      </p:sp>
      <p:sp>
        <p:nvSpPr>
          <p:cNvPr id="8" name="Foundry">
            <a:extLst xmlns:a="http://schemas.openxmlformats.org/drawingml/2006/main">
              <a:ext uri="{FF2B5EF4-FFF2-40B4-BE49-F238E27FC236}">
                <a16:creationId xmlns:a16="http://schemas.microsoft.com/office/drawing/2014/main" id="{48FC2F39-D957-4D17-9CBD-5E2DF98231A8}"/>
              </a:ext>
            </a:extLst>
          </p:cNvPr>
          <p:cNvSpPr>
            <a:spLocks xmlns:a="http://schemas.openxmlformats.org/drawingml/2006/main" noGrp="1"/>
          </p:cNvSpPr>
          <p:nvPr/>
        </p:nvSpPr>
        <p:spPr>
          <a:xfrm xmlns:a="http://schemas.openxmlformats.org/drawingml/2006/main">
            <a:off x="3571875" y="3514725"/>
            <a:ext cx="2114550" cy="723900"/>
          </a:xfrm>
          <a:prstGeom xmlns:a="http://schemas.openxmlformats.org/drawingml/2006/main" prst="rect">
            <a:avLst/>
          </a:prstGeom>
          <a:solidFill xmlns:a="http://schemas.openxmlformats.org/drawingml/2006/main">
            <a:srgbClr val="08080A"/>
          </a:solidFill>
          <a:ln xmlns:a="http://schemas.openxmlformats.org/drawingml/2006/main" w="14288">
            <a:solidFill>
              <a:srgbClr val="37D67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025" b="1">
                <a:solidFill>
                  <a:srgbClr val="37D67A"/>
                </a:solidFill>
                <a:latin typeface="Arial"/>
                <a:ea typeface="Arial"/>
                <a:cs typeface="Arial"/>
              </a:defRPr>
            </a:pPr>
            <a:r>
              <a:rPr sz="2025" b="1">
                <a:solidFill>
                  <a:srgbClr val="37D67A"/>
                </a:solidFill>
                <a:latin typeface="Arial"/>
                <a:ea typeface="Arial"/>
                <a:cs typeface="Arial"/>
              </a:rPr>
              <a:t>Foundry</a:t>
            </a:r>
          </a:p>
        </p:txBody>
      </p:sp>
      <p:sp>
        <p:nvSpPr>
          <p:cNvPr id="9" name="JSON + trace">
            <a:extLst xmlns:a="http://schemas.openxmlformats.org/drawingml/2006/main">
              <a:ext uri="{FF2B5EF4-FFF2-40B4-BE49-F238E27FC236}">
                <a16:creationId xmlns:a16="http://schemas.microsoft.com/office/drawing/2014/main" id="{F78ABABA-1D5F-4FA5-969A-04A9FA2E32F9}"/>
              </a:ext>
            </a:extLst>
          </p:cNvPr>
          <p:cNvSpPr>
            <a:spLocks xmlns:a="http://schemas.openxmlformats.org/drawingml/2006/main" noGrp="1"/>
          </p:cNvSpPr>
          <p:nvPr/>
        </p:nvSpPr>
        <p:spPr>
          <a:xfrm xmlns:a="http://schemas.openxmlformats.org/drawingml/2006/main">
            <a:off x="6477000" y="3514725"/>
            <a:ext cx="2114550" cy="723900"/>
          </a:xfrm>
          <a:prstGeom xmlns:a="http://schemas.openxmlformats.org/drawingml/2006/main" prst="rect">
            <a:avLst/>
          </a:prstGeom>
          <a:solidFill xmlns:a="http://schemas.openxmlformats.org/drawingml/2006/main">
            <a:srgbClr val="08080A"/>
          </a:solidFill>
          <a:ln xmlns:a="http://schemas.openxmlformats.org/drawingml/2006/main" w="14288">
            <a:solidFill>
              <a:srgbClr val="FAFAF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025" b="1">
                <a:solidFill>
                  <a:srgbClr val="FAFAFA"/>
                </a:solidFill>
                <a:latin typeface="Arial"/>
                <a:ea typeface="Arial"/>
                <a:cs typeface="Arial"/>
              </a:defRPr>
            </a:pPr>
            <a:r>
              <a:rPr sz="2025" b="1">
                <a:solidFill>
                  <a:srgbClr val="FAFAFA"/>
                </a:solidFill>
                <a:latin typeface="Arial"/>
                <a:ea typeface="Arial"/>
                <a:cs typeface="Arial"/>
              </a:rPr>
              <a:t>JSON + trace</a:t>
            </a:r>
          </a:p>
        </p:txBody>
      </p:sp>
      <p:sp>
        <p:nvSpPr>
          <p:cNvPr id="10" name="Website">
            <a:extLst xmlns:a="http://schemas.openxmlformats.org/drawingml/2006/main">
              <a:ext uri="{FF2B5EF4-FFF2-40B4-BE49-F238E27FC236}">
                <a16:creationId xmlns:a16="http://schemas.microsoft.com/office/drawing/2014/main" id="{D481EFE0-FA63-4BC5-A590-115F4000F189}"/>
              </a:ext>
            </a:extLst>
          </p:cNvPr>
          <p:cNvSpPr>
            <a:spLocks xmlns:a="http://schemas.openxmlformats.org/drawingml/2006/main" noGrp="1"/>
          </p:cNvSpPr>
          <p:nvPr/>
        </p:nvSpPr>
        <p:spPr>
          <a:xfrm xmlns:a="http://schemas.openxmlformats.org/drawingml/2006/main">
            <a:off x="9382125" y="3514725"/>
            <a:ext cx="2114550" cy="723900"/>
          </a:xfrm>
          <a:prstGeom xmlns:a="http://schemas.openxmlformats.org/drawingml/2006/main" prst="rect">
            <a:avLst/>
          </a:prstGeom>
          <a:solidFill xmlns:a="http://schemas.openxmlformats.org/drawingml/2006/main">
            <a:srgbClr val="08080A"/>
          </a:solidFill>
          <a:ln xmlns:a="http://schemas.openxmlformats.org/drawingml/2006/main" w="14288">
            <a:solidFill>
              <a:srgbClr val="FAFAFA"/>
            </a:solidFill>
          </a:ln>
        </p:spPr>
        <p:txBody>
          <a:bodyPr xmlns:a="http://schemas.openxmlformats.org/drawingml/2006/main" lIns="95250" tIns="85725" rIns="95250" bIns="85725" anchor="ctr">
            <a:noAutofit/>
          </a:bodyPr>
          <a:lstStyle xmlns:a="http://schemas.openxmlformats.org/drawingml/2006/main"/>
          <a:p xmlns:a="http://schemas.openxmlformats.org/drawingml/2006/main">
            <a:pPr algn="ctr">
              <a:defRPr sz="2025" b="1">
                <a:solidFill>
                  <a:srgbClr val="FAFAFA"/>
                </a:solidFill>
                <a:latin typeface="Arial"/>
                <a:ea typeface="Arial"/>
                <a:cs typeface="Arial"/>
              </a:defRPr>
            </a:pPr>
            <a:r>
              <a:rPr sz="2025" b="1">
                <a:solidFill>
                  <a:srgbClr val="FAFAFA"/>
                </a:solidFill>
                <a:latin typeface="Arial"/>
                <a:ea typeface="Arial"/>
                <a:cs typeface="Arial"/>
              </a:rPr>
              <a:t>Website</a:t>
            </a:r>
          </a:p>
        </p:txBody>
      </p: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2781300" y="3876675"/>
            <a:ext cx="790575" cy="0"/>
          </a:xfrm>
          <a:prstGeom xmlns:a="http://schemas.openxmlformats.org/drawingml/2006/main" prst="straightConnector1">
            <a:avLst/>
          </a:prstGeom>
          <a:ln xmlns:a="http://schemas.openxmlformats.org/drawingml/2006/main" w="22860">
            <a:solidFill>
              <a:srgbClr val="A8A8B2"/>
            </a:solidFill>
            <a:prstDash val="solid"/>
            <a:tailEnd type="triangle" w="med" len="med"/>
          </a:ln>
        </p:spPr>
      </p:cxn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5686425" y="3876675"/>
            <a:ext cx="790575" cy="0"/>
          </a:xfrm>
          <a:prstGeom xmlns:a="http://schemas.openxmlformats.org/drawingml/2006/main" prst="straightConnector1">
            <a:avLst/>
          </a:prstGeom>
          <a:ln xmlns:a="http://schemas.openxmlformats.org/drawingml/2006/main" w="22860">
            <a:solidFill>
              <a:srgbClr val="A8A8B2"/>
            </a:solidFill>
            <a:prstDash val="solid"/>
            <a:tailEnd type="triangle" w="med" len="med"/>
          </a:ln>
        </p:spPr>
      </p:cxnSp>
      <p:cxnSp>
        <p:nvCxnSpPr>
          <p:cNvPr id="29" name=""/>
          <p:cNvCxnSpPr>
            <a:stCxn xmlns:a="http://schemas.openxmlformats.org/drawingml/2006/main" id="9" idx="3"/>
            <a:endCxn xmlns:a="http://schemas.openxmlformats.org/drawingml/2006/main" id="10" idx="1"/>
          </p:cNvCxnSpPr>
          <p:nvPr/>
        </p:nvCxnSpPr>
        <p:spPr>
          <a:xfrm xmlns:a="http://schemas.openxmlformats.org/drawingml/2006/main">
            <a:off x="8591550" y="3876675"/>
            <a:ext cx="790575" cy="0"/>
          </a:xfrm>
          <a:prstGeom xmlns:a="http://schemas.openxmlformats.org/drawingml/2006/main" prst="straightConnector1">
            <a:avLst/>
          </a:prstGeom>
          <a:ln xmlns:a="http://schemas.openxmlformats.org/drawingml/2006/main" w="22860">
            <a:solidFill>
              <a:srgbClr val="A8A8B2"/>
            </a:solidFill>
            <a:prstDash val="solid"/>
            <a:tailEnd type="triangle" w="med" len="med"/>
          </a:ln>
        </p:spPr>
      </p:cxnSp>
      <p:sp>
        <p:nvSpPr>
          <p:cNvPr id="14" name="4663 fork @ 72,248,228">
            <a:extLst xmlns:a="http://schemas.openxmlformats.org/drawingml/2006/main">
              <a:ext uri="{FF2B5EF4-FFF2-40B4-BE49-F238E27FC236}">
                <a16:creationId xmlns:a16="http://schemas.microsoft.com/office/drawing/2014/main" id="{D7723231-E10A-41EB-9510-8085436DF489}"/>
              </a:ext>
            </a:extLst>
          </p:cNvPr>
          <p:cNvSpPr>
            <a:spLocks xmlns:a="http://schemas.openxmlformats.org/drawingml/2006/main" noGrp="1"/>
          </p:cNvSpPr>
          <p:nvPr/>
        </p:nvSpPr>
        <p:spPr>
          <a:xfrm xmlns:a="http://schemas.openxmlformats.org/drawingml/2006/main">
            <a:off x="685800" y="4667250"/>
            <a:ext cx="790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FAFAFA"/>
                </a:solidFill>
                <a:latin typeface="Arial"/>
                <a:ea typeface="Arial"/>
                <a:cs typeface="Arial"/>
              </a:defRPr>
            </a:pPr>
            <a:r>
              <a:rPr sz="2175" b="0">
                <a:solidFill>
                  <a:srgbClr val="FAFAFA"/>
                </a:solidFill>
                <a:latin typeface="Arial"/>
                <a:ea typeface="Arial"/>
                <a:cs typeface="Arial"/>
              </a:rPr>
              <a:t>4663 fork @ 72,248,228</a:t>
            </a:r>
          </a:p>
        </p:txBody>
      </p:sp>
      <p:sp>
        <p:nvSpPr>
          <p:cNvPr id="15" name="0 mainnet broadcasts">
            <a:extLst xmlns:a="http://schemas.openxmlformats.org/drawingml/2006/main">
              <a:ext uri="{FF2B5EF4-FFF2-40B4-BE49-F238E27FC236}">
                <a16:creationId xmlns:a16="http://schemas.microsoft.com/office/drawing/2014/main" id="{B48CAC87-3545-4963-BCB5-E290DFCF877A}"/>
              </a:ext>
            </a:extLst>
          </p:cNvPr>
          <p:cNvSpPr>
            <a:spLocks xmlns:a="http://schemas.openxmlformats.org/drawingml/2006/main" noGrp="1"/>
          </p:cNvSpPr>
          <p:nvPr/>
        </p:nvSpPr>
        <p:spPr>
          <a:xfrm xmlns:a="http://schemas.openxmlformats.org/drawingml/2006/main">
            <a:off x="8601075" y="4648200"/>
            <a:ext cx="3076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37D67A"/>
                </a:solidFill>
                <a:latin typeface="Arial"/>
                <a:ea typeface="Arial"/>
                <a:cs typeface="Arial"/>
              </a:defRPr>
            </a:pPr>
            <a:r>
              <a:rPr sz="2100" b="1">
                <a:solidFill>
                  <a:srgbClr val="37D67A"/>
                </a:solidFill>
                <a:latin typeface="Arial"/>
                <a:ea typeface="Arial"/>
                <a:cs typeface="Arial"/>
              </a:rPr>
              <a:t>0 mainnet broadcasts</a:t>
            </a:r>
          </a:p>
        </p:txBody>
      </p:sp>
      <p:sp>
        <p:nvSpPr>
          <p:cNvPr id="16" name="github.com/vexi-v1/vexi-hakari">
            <a:extLst xmlns:a="http://schemas.openxmlformats.org/drawingml/2006/main">
              <a:ext uri="{FF2B5EF4-FFF2-40B4-BE49-F238E27FC236}">
                <a16:creationId xmlns:a16="http://schemas.microsoft.com/office/drawing/2014/main" id="{809A88CF-EF18-469C-A7CD-71BD81F0D4F4}"/>
              </a:ext>
            </a:extLst>
          </p:cNvPr>
          <p:cNvSpPr>
            <a:spLocks xmlns:a="http://schemas.openxmlformats.org/drawingml/2006/main" noGrp="1"/>
          </p:cNvSpPr>
          <p:nvPr/>
        </p:nvSpPr>
        <p:spPr>
          <a:xfrm xmlns:a="http://schemas.openxmlformats.org/drawingml/2006/main">
            <a:off x="685800" y="54673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37D67A"/>
                </a:solidFill>
                <a:latin typeface="Arial"/>
                <a:ea typeface="Arial"/>
                <a:cs typeface="Arial"/>
              </a:defRPr>
            </a:pPr>
            <a:r>
              <a:rPr sz="2400" b="0" u="sng">
                <a:solidFill>
                  <a:srgbClr val="37D67A"/>
                </a:solidFill>
                <a:latin typeface="Arial"/>
                <a:ea typeface="Arial"/>
                <a:cs typeface="Arial"/>
                <a:hlinkClick xmlns:r="http://schemas.openxmlformats.org/officeDocument/2006/relationships" r:id="R991bd7c57b5f4b34"/>
              </a:rPr>
              <a:t>github.com/vexi-v1/vexi-hakari</a:t>
            </a:r>
          </a:p>
        </p:txBody>
      </p:sp>
    </p:spTree>
    <p:extLst>
      <p:ext uri="{BB962C8B-B14F-4D97-AF65-F5344CB8AC3E}">
        <p14:creationId xmlns:p14="http://schemas.microsoft.com/office/powerpoint/2010/main" val="10961636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2026-09-26T21:14:52.5360000Z</dcterms:created>
  <dcterms:modified xsi:type="dcterms:W3CDTF">2026-09-26T21:14:52.5360000Z</dcterms:modified>
</coreProperties>
</file>